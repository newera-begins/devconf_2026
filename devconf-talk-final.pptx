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 id="214748370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
      <p:font typeface="Montserrat Light"/>
      <p:regular r:id="rId49"/>
      <p:bold r:id="rId50"/>
      <p:italic r:id="rId51"/>
      <p:boldItalic r:id="rId52"/>
    </p:embeddedFont>
    <p:embeddedFont>
      <p:font typeface="Open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SemiBold-boldItalic.fntdata"/><Relationship Id="rId42" Type="http://schemas.openxmlformats.org/officeDocument/2006/relationships/font" Target="fonts/Montserrat-bold.fntdata"/><Relationship Id="rId41" Type="http://schemas.openxmlformats.org/officeDocument/2006/relationships/font" Target="fonts/Montserrat-regular.fntdata"/><Relationship Id="rId44" Type="http://schemas.openxmlformats.org/officeDocument/2006/relationships/font" Target="fonts/Montserrat-boldItalic.fntdata"/><Relationship Id="rId43" Type="http://schemas.openxmlformats.org/officeDocument/2006/relationships/font" Target="fonts/Montserrat-italic.fntdata"/><Relationship Id="rId46" Type="http://schemas.openxmlformats.org/officeDocument/2006/relationships/font" Target="fonts/MontserratMedium-bold.fntdata"/><Relationship Id="rId45" Type="http://schemas.openxmlformats.org/officeDocument/2006/relationships/font" Target="fonts/Montserrat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MontserratMedium-boldItalic.fntdata"/><Relationship Id="rId47" Type="http://schemas.openxmlformats.org/officeDocument/2006/relationships/font" Target="fonts/MontserratMedium-italic.fntdata"/><Relationship Id="rId49" Type="http://schemas.openxmlformats.org/officeDocument/2006/relationships/font" Target="fonts/Montserrat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MontserratSemiBold-regular.fntdata"/><Relationship Id="rId36" Type="http://schemas.openxmlformats.org/officeDocument/2006/relationships/slide" Target="slides/slide30.xml"/><Relationship Id="rId39" Type="http://schemas.openxmlformats.org/officeDocument/2006/relationships/font" Target="fonts/MontserratSemiBold-italic.fntdata"/><Relationship Id="rId38" Type="http://schemas.openxmlformats.org/officeDocument/2006/relationships/font" Target="fonts/MontserratSemiBold-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Light-italic.fntdata"/><Relationship Id="rId50" Type="http://schemas.openxmlformats.org/officeDocument/2006/relationships/font" Target="fonts/MontserratLight-bold.fntdata"/><Relationship Id="rId53" Type="http://schemas.openxmlformats.org/officeDocument/2006/relationships/font" Target="fonts/OpenSans-regular.fntdata"/><Relationship Id="rId52" Type="http://schemas.openxmlformats.org/officeDocument/2006/relationships/font" Target="fonts/MontserratLight-boldItalic.fntdata"/><Relationship Id="rId11" Type="http://schemas.openxmlformats.org/officeDocument/2006/relationships/slide" Target="slides/slide5.xml"/><Relationship Id="rId55" Type="http://schemas.openxmlformats.org/officeDocument/2006/relationships/font" Target="fonts/OpenSans-italic.fntdata"/><Relationship Id="rId10" Type="http://schemas.openxmlformats.org/officeDocument/2006/relationships/slide" Target="slides/slide4.xml"/><Relationship Id="rId54" Type="http://schemas.openxmlformats.org/officeDocument/2006/relationships/font" Target="fonts/OpenSans-bold.fntdata"/><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font" Target="fonts/Open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e8ff69ed93_0_18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3e8ff69ed93_0_187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Welcome. Today: stop guessing, start seeing — using eBPF + NOO.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e8ff69ed93_0_19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3e8ff69ed93_0_190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10+ years. Now in OVN core dev. Built on real support experience.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e8ff69ed93_2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3e8ff69ed93_2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is NOT about tcpdump. This is about the COMPLEXITY of the path. 10+ hops, 5+ subsystems.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e8ff69ed93_2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g3e8ff69ed93_2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is the frustration every K8s admin knows. All resources look healthy. But traffic doesn't flow.</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e8ff69ed93_2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g3e8ff69ed93_2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ONE slide for all traditional tools. Each is good at its job but blind to kernel-internal drops.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e8ff69ed93_2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g3e8ff69ed93_2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Focus on WHAT eBPF ADDS, not what tcpdump lacks. Two hooks: TC for visibility, kfree_skb for drop reasons.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e8ff69ed93_0_2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g3e8ff69ed93_0_2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Four layers. One YAML to configure. Operator does everything else.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e8ff69ed93_2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g3e8ff69ed93_2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Four layers. Key insight: FLP enrichment turns raw IPs into pod names.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e8ff69ed93_2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g3e8ff69ed93_2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is the 'how it translates raw kernel data into actionable insights' from the talk abstract. Show the before/after.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8ff69ed93_2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g3e8ff69ed93_2_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Walk through each view. When you demo, you'll show views 1 and 2 primarily.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8ff69ed93_0_3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6" name="Google Shape;546;g3e8ff69ed93_0_3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Walk through each field. sampling:1 = every packet. privileged:true for kfree_skb.</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e8ff69ed93_2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5" name="Google Shape;575;g3e8ff69ed93_2_1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Real scenario. Drop was in kernel conntrack layer — AFTER OVN pipeline. Only eBPF could see it.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e8ff69ed93_2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9" name="Google Shape;589;g3e8ff69ed93_2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logical pipeline is correct. The drop is in kernel conntrack on the return path. Only kfree_skb sees it.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e8ff69ed93_2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 name="Google Shape;606;g3e8ff69ed93_2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SWITCH TO TERMINAL. Show healthy dashboard first.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e8ff69ed93_2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3" name="Google Shape;623;g3e8ff69ed93_2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RUN traditional-debug.sh LIVE. Show the audience these tools giving zero answers. Then switch to NOO.</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e8ff69ed93_2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2" name="Google Shape;642;g3e8ff69ed93_2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1. Break it. 2. Show traditional tools failing. 3. Switch to NOO — answer in 5 seconds. 4. Fix it.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e8ff69ed93_2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0" name="Google Shape;650;g3e8ff69ed93_2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Show the dramatic difference. Same-node fails, cross-node works. OVN trace says both should work. NOO: CT_INVALID.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e8ff69ed93_2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8" name="Google Shape;658;g3e8ff69ed93_2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TERMINAL: Break it → wait 35s → show intermittent failures. Run traditional-debug.sh: tcpdump shows RST (blames database), conntrack -L shows nothing (entry expired), ovn-trace says ALLOW, app logs say 'server closed connection unexpectedly.' ALL tools blame PostgreSQL. Then NOO: CT_INVALID on backend→database flows, only after idle periods. Fix: bash demo-scripts/scenario3-idle-conntrack-fix.sh</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8ff69ed93_2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g3e8ff69ed93_2_2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Sampling is about throughput management, not accuracy. At 1-in-50, you still see every TYPE of drop — you just see fewer instances. For demos, use 1 to catch everything. In production, 50-100 is the sweet spot. The eBPF agent always sees every packet internally — sampling only controls what gets exported to the pipeline.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e8ff69ed93_2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3" name="Google Shape;683;g3e8ff69ed93_2_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Walk through each layer. eBPF agent is the data source — it runs IN the kernel. FLP is the brain — it turns raw IPs into pod names by querying the K8s API. Loki is the memory — indexed flow storage. Console is the eyes — what you see in the browser. Key insight: cacheActiveTimeout controls how 'real-time' the data is. Default 5s means flows appear within 5 seconds. For demo, set to 1s.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e8ff69ed93_2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0" name="Google Shape;700;g3e8ff69ed93_2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PacketDrop is the star feature — it uses kfree_skb which is a kernel tracepoint that fires every time a packet buffer is freed (dropped). The reason code comes from the skb itself — the kernel writes the reason before freeing. DNSTracking works by inspecting packet payloads at port 53 — the eBPF program parses the DNS wire format directly in kernel space. FlowRTT uses TCP sequence/ack numbers to measure handshake latency. NetworkEvents requires OVN-K integration because it needs to see the OVN ACL evaluation results.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e8ff69ed93_27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4" name="Google Shape;734;g3e8ff69ed93_276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PacketTranslation is valuable for debugging Service DNAT — you can see which backend pod a ClusterIP request was sent to. IPSec tracking helps verify encryption is working between nodes. TLSTracking is useful for compliance — verify that sensitive traffic is encrypted. Common question: 'Is EbpfManager for writing custom eBPF scripts?' NO. EbpfManager only changes WHO loads the NOO's pre-built eBPF programs. Without it, the NOO agent loads programs directly. With it, an external operator called bpfman loads them. bpfman is useful when you have multiple eBPF tools on the same cluster (NOO + Cilium + Falco) — bpfman prevents conflicts by centrally managing all eBPF program lifecycles. You still never write eBPF code yourself.</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e8ff69ed93_274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1" name="Google Shape;761;g3e8ff69ed93_274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Practical steps the audience can do Monday morning.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e8ff69ed93_2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1" name="Google Shape;781;g3e8ff69ed93_2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Post-demo explanation. Walk through HOW the data got from kernel to dashboard. This is the 'magic' made concrete.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8ff69ed93_2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1" name="Google Shape;801;g3e8ff69ed93_2_2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Customer success stories from the talk abstract. Real impact numbers.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e8ff69ed93_2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1" name="Google Shape;821;g3e8ff69ed93_2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Four clean takeaways. No repetition of earlier slides.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e8ff69ed93_2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0" name="Google Shape;840;g3e8ff69ed93_2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Practical steps the audience can do Monday morning.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e8ff69ed93_0_18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9" name="Google Shape;869;g3e8ff69ed93_0_185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Install NOW. Like a security camera — recording must run before the incident.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e8ff69ed93_2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7" name="Google Shape;897;g3e8ff69ed93_2_2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All demo scripts and documentation available on GitHub.</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e8ff69ed93_2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7" name="Google Shape;917;g3e8ff69ed93_2_3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Thank you!</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CUSTOM_1">
    <p:spTree>
      <p:nvGrpSpPr>
        <p:cNvPr id="9" name="Shape 9"/>
        <p:cNvGrpSpPr/>
        <p:nvPr/>
      </p:nvGrpSpPr>
      <p:grpSpPr>
        <a:xfrm>
          <a:off x="0" y="0"/>
          <a:ext cx="0" cy="0"/>
          <a:chOff x="0" y="0"/>
          <a:chExt cx="0" cy="0"/>
        </a:xfrm>
      </p:grpSpPr>
      <p:sp>
        <p:nvSpPr>
          <p:cNvPr id="10" name="Google Shape;10;p2"/>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sp>
        <p:nvSpPr>
          <p:cNvPr id="11" name="Google Shape;11;p2"/>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12" name="Google Shape;12;p2"/>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3" name="Google Shape;13;p2"/>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pic>
        <p:nvPicPr>
          <p:cNvPr id="14" name="Google Shape;14;p2"/>
          <p:cNvPicPr preferRelativeResize="0"/>
          <p:nvPr/>
        </p:nvPicPr>
        <p:blipFill rotWithShape="1">
          <a:blip r:embed="rId2">
            <a:alphaModFix/>
          </a:blip>
          <a:srcRect b="0" l="0" r="0" t="0"/>
          <a:stretch/>
        </p:blipFill>
        <p:spPr>
          <a:xfrm>
            <a:off x="7991468" y="4501355"/>
            <a:ext cx="553002" cy="572625"/>
          </a:xfrm>
          <a:prstGeom prst="rect">
            <a:avLst/>
          </a:prstGeom>
          <a:noFill/>
          <a:ln>
            <a:noFill/>
          </a:ln>
        </p:spPr>
      </p:pic>
      <p:sp>
        <p:nvSpPr>
          <p:cNvPr id="15" name="Google Shape;15;p2"/>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16" name="Google Shape;16;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12049" r="0" t="0"/>
          <a:stretch/>
        </p:blipFill>
        <p:spPr>
          <a:xfrm>
            <a:off x="0" y="-63937"/>
            <a:ext cx="9229542" cy="5245914"/>
          </a:xfrm>
          <a:prstGeom prst="rect">
            <a:avLst/>
          </a:prstGeom>
          <a:noFill/>
          <a:ln>
            <a:noFill/>
          </a:ln>
        </p:spPr>
      </p:pic>
      <p:sp>
        <p:nvSpPr>
          <p:cNvPr id="19" name="Google Shape;19;p3"/>
          <p:cNvSpPr txBox="1"/>
          <p:nvPr>
            <p:ph type="title"/>
          </p:nvPr>
        </p:nvSpPr>
        <p:spPr>
          <a:xfrm>
            <a:off x="3210996" y="1805775"/>
            <a:ext cx="5334600" cy="1165200"/>
          </a:xfrm>
          <a:prstGeom prst="rect">
            <a:avLst/>
          </a:prstGeom>
          <a:noFill/>
          <a:ln>
            <a:noFill/>
          </a:ln>
        </p:spPr>
        <p:txBody>
          <a:bodyPr anchorCtr="0" anchor="b" bIns="0" lIns="0" spcFirstLastPara="1" rIns="0" wrap="square" tIns="0">
            <a:normAutofit/>
          </a:bodyPr>
          <a:lstStyle>
            <a:lvl1pPr lvl="0" algn="r">
              <a:lnSpc>
                <a:spcPct val="100000"/>
              </a:lnSpc>
              <a:spcBef>
                <a:spcPts val="0"/>
              </a:spcBef>
              <a:spcAft>
                <a:spcPts val="0"/>
              </a:spcAft>
              <a:buClr>
                <a:schemeClr val="lt1"/>
              </a:buClr>
              <a:buSzPts val="3800"/>
              <a:buFont typeface="Montserrat SemiBold"/>
              <a:buNone/>
              <a:defRPr sz="3800">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2pPr>
            <a:lvl3pPr lvl="2"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3pPr>
            <a:lvl4pPr lvl="3"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4pPr>
            <a:lvl5pPr lvl="4"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5pPr>
            <a:lvl6pPr lvl="5"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6pPr>
            <a:lvl7pPr lvl="6"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7pPr>
            <a:lvl8pPr lvl="7"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8pPr>
            <a:lvl9pPr lvl="8"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9pPr>
          </a:lstStyle>
          <a:p/>
        </p:txBody>
      </p:sp>
      <p:sp>
        <p:nvSpPr>
          <p:cNvPr id="20" name="Google Shape;20;p3"/>
          <p:cNvSpPr txBox="1"/>
          <p:nvPr>
            <p:ph idx="1" type="subTitle"/>
          </p:nvPr>
        </p:nvSpPr>
        <p:spPr>
          <a:xfrm>
            <a:off x="3210372" y="3091519"/>
            <a:ext cx="5335500" cy="322800"/>
          </a:xfrm>
          <a:prstGeom prst="rect">
            <a:avLst/>
          </a:prstGeom>
          <a:noFill/>
          <a:ln>
            <a:noFill/>
          </a:ln>
        </p:spPr>
        <p:txBody>
          <a:bodyPr anchorCtr="0" anchor="t" bIns="0" lIns="0" spcFirstLastPara="1" rIns="0" wrap="square" tIns="0">
            <a:normAutofit/>
          </a:bodyPr>
          <a:lstStyle>
            <a:lvl1pPr lvl="0" algn="r">
              <a:lnSpc>
                <a:spcPct val="125000"/>
              </a:lnSpc>
              <a:spcBef>
                <a:spcPts val="400"/>
              </a:spcBef>
              <a:spcAft>
                <a:spcPts val="0"/>
              </a:spcAft>
              <a:buClr>
                <a:schemeClr val="lt1"/>
              </a:buClr>
              <a:buSzPts val="2100"/>
              <a:buFont typeface="Montserrat"/>
              <a:buNone/>
              <a:defRPr sz="2100">
                <a:solidFill>
                  <a:schemeClr val="lt1"/>
                </a:solidFill>
                <a:latin typeface="Montserrat"/>
                <a:ea typeface="Montserrat"/>
                <a:cs typeface="Montserrat"/>
                <a:sym typeface="Montserrat"/>
              </a:defRPr>
            </a:lvl1pPr>
            <a:lvl2pPr lvl="1"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2pPr>
            <a:lvl3pPr lvl="2"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3pPr>
            <a:lvl4pPr lvl="3"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4pPr>
            <a:lvl5pPr lvl="4"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5pPr>
            <a:lvl6pPr lvl="5"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6pPr>
            <a:lvl7pPr lvl="6"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7pPr>
            <a:lvl8pPr lvl="7"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8pPr>
            <a:lvl9pPr lvl="8" algn="r">
              <a:lnSpc>
                <a:spcPct val="125000"/>
              </a:lnSpc>
              <a:spcBef>
                <a:spcPts val="400"/>
              </a:spcBef>
              <a:spcAft>
                <a:spcPts val="400"/>
              </a:spcAft>
              <a:buClr>
                <a:schemeClr val="lt1"/>
              </a:buClr>
              <a:buSzPts val="1400"/>
              <a:buFont typeface="Montserrat"/>
              <a:buNone/>
              <a:defRPr sz="1400">
                <a:solidFill>
                  <a:schemeClr val="lt1"/>
                </a:solidFill>
                <a:latin typeface="Montserrat"/>
                <a:ea typeface="Montserrat"/>
                <a:cs typeface="Montserrat"/>
                <a:sym typeface="Montserrat"/>
              </a:defRPr>
            </a:lvl9pPr>
          </a:lstStyle>
          <a:p/>
        </p:txBody>
      </p:sp>
      <p:pic>
        <p:nvPicPr>
          <p:cNvPr id="21" name="Google Shape;21;p3"/>
          <p:cNvPicPr preferRelativeResize="0"/>
          <p:nvPr/>
        </p:nvPicPr>
        <p:blipFill rotWithShape="1">
          <a:blip r:embed="rId3">
            <a:alphaModFix/>
          </a:blip>
          <a:srcRect b="0" l="0" r="0" t="0"/>
          <a:stretch/>
        </p:blipFill>
        <p:spPr>
          <a:xfrm>
            <a:off x="156339" y="329512"/>
            <a:ext cx="4109016" cy="1165276"/>
          </a:xfrm>
          <a:prstGeom prst="rect">
            <a:avLst/>
          </a:prstGeom>
          <a:noFill/>
          <a:ln>
            <a:noFill/>
          </a:ln>
        </p:spPr>
      </p:pic>
      <p:sp>
        <p:nvSpPr>
          <p:cNvPr id="22" name="Google Shape;22;p3"/>
          <p:cNvSpPr txBox="1"/>
          <p:nvPr>
            <p:ph idx="2" type="subTitle"/>
          </p:nvPr>
        </p:nvSpPr>
        <p:spPr>
          <a:xfrm>
            <a:off x="7013673" y="4006819"/>
            <a:ext cx="1520700" cy="461700"/>
          </a:xfrm>
          <a:prstGeom prst="rect">
            <a:avLst/>
          </a:prstGeom>
          <a:noFill/>
          <a:ln>
            <a:noFill/>
          </a:ln>
        </p:spPr>
        <p:txBody>
          <a:bodyPr anchorCtr="0" anchor="t" bIns="0" lIns="0" spcFirstLastPara="1" rIns="0" wrap="square" tIns="0">
            <a:normAutofit/>
          </a:bodyPr>
          <a:lstStyle>
            <a:lvl1pPr lvl="0" algn="l">
              <a:lnSpc>
                <a:spcPct val="100000"/>
              </a:lnSpc>
              <a:spcBef>
                <a:spcPts val="400"/>
              </a:spcBef>
              <a:spcAft>
                <a:spcPts val="0"/>
              </a:spcAft>
              <a:buClr>
                <a:schemeClr val="lt1"/>
              </a:buClr>
              <a:buSzPts val="1200"/>
              <a:buNone/>
              <a:defRPr>
                <a:solidFill>
                  <a:schemeClr val="lt1"/>
                </a:solidFill>
              </a:defRPr>
            </a:lvl1pPr>
            <a:lvl2pPr lvl="1" algn="l">
              <a:lnSpc>
                <a:spcPct val="100000"/>
              </a:lnSpc>
              <a:spcBef>
                <a:spcPts val="400"/>
              </a:spcBef>
              <a:spcAft>
                <a:spcPts val="0"/>
              </a:spcAft>
              <a:buSzPts val="1200"/>
              <a:buNone/>
              <a:defRPr/>
            </a:lvl2pPr>
            <a:lvl3pPr lvl="2" algn="l">
              <a:lnSpc>
                <a:spcPct val="100000"/>
              </a:lnSpc>
              <a:spcBef>
                <a:spcPts val="400"/>
              </a:spcBef>
              <a:spcAft>
                <a:spcPts val="0"/>
              </a:spcAft>
              <a:buSzPts val="1200"/>
              <a:buNone/>
              <a:defRPr/>
            </a:lvl3pPr>
            <a:lvl4pPr lvl="3" algn="l">
              <a:lnSpc>
                <a:spcPct val="100000"/>
              </a:lnSpc>
              <a:spcBef>
                <a:spcPts val="400"/>
              </a:spcBef>
              <a:spcAft>
                <a:spcPts val="0"/>
              </a:spcAft>
              <a:buSzPts val="1200"/>
              <a:buNone/>
              <a:defRPr/>
            </a:lvl4pPr>
            <a:lvl5pPr lvl="4" algn="l">
              <a:lnSpc>
                <a:spcPct val="100000"/>
              </a:lnSpc>
              <a:spcBef>
                <a:spcPts val="400"/>
              </a:spcBef>
              <a:spcAft>
                <a:spcPts val="0"/>
              </a:spcAft>
              <a:buSzPts val="1200"/>
              <a:buNone/>
              <a:defRPr/>
            </a:lvl5pPr>
            <a:lvl6pPr lvl="5" algn="l">
              <a:lnSpc>
                <a:spcPct val="100000"/>
              </a:lnSpc>
              <a:spcBef>
                <a:spcPts val="400"/>
              </a:spcBef>
              <a:spcAft>
                <a:spcPts val="0"/>
              </a:spcAft>
              <a:buSzPts val="1200"/>
              <a:buNone/>
              <a:defRPr/>
            </a:lvl6pPr>
            <a:lvl7pPr lvl="6" algn="l">
              <a:lnSpc>
                <a:spcPct val="100000"/>
              </a:lnSpc>
              <a:spcBef>
                <a:spcPts val="400"/>
              </a:spcBef>
              <a:spcAft>
                <a:spcPts val="0"/>
              </a:spcAft>
              <a:buSzPts val="1200"/>
              <a:buNone/>
              <a:defRPr/>
            </a:lvl7pPr>
            <a:lvl8pPr lvl="7" algn="l">
              <a:lnSpc>
                <a:spcPct val="100000"/>
              </a:lnSpc>
              <a:spcBef>
                <a:spcPts val="400"/>
              </a:spcBef>
              <a:spcAft>
                <a:spcPts val="0"/>
              </a:spcAft>
              <a:buSzPts val="1200"/>
              <a:buNone/>
              <a:defRPr/>
            </a:lvl8pPr>
            <a:lvl9pPr lvl="8" algn="l">
              <a:lnSpc>
                <a:spcPct val="100000"/>
              </a:lnSpc>
              <a:spcBef>
                <a:spcPts val="400"/>
              </a:spcBef>
              <a:spcAft>
                <a:spcPts val="400"/>
              </a:spcAft>
              <a:buSzPts val="1200"/>
              <a:buNone/>
              <a:defRPr/>
            </a:lvl9pPr>
          </a:lstStyle>
          <a:p/>
        </p:txBody>
      </p:sp>
      <p:sp>
        <p:nvSpPr>
          <p:cNvPr id="23" name="Google Shape;23;p3"/>
          <p:cNvSpPr txBox="1"/>
          <p:nvPr>
            <p:ph idx="3" type="subTitle"/>
          </p:nvPr>
        </p:nvSpPr>
        <p:spPr>
          <a:xfrm>
            <a:off x="4690605" y="4006819"/>
            <a:ext cx="1520700" cy="461700"/>
          </a:xfrm>
          <a:prstGeom prst="rect">
            <a:avLst/>
          </a:prstGeom>
          <a:noFill/>
          <a:ln>
            <a:noFill/>
          </a:ln>
        </p:spPr>
        <p:txBody>
          <a:bodyPr anchorCtr="0" anchor="t" bIns="0" lIns="0" spcFirstLastPara="1" rIns="0" wrap="square" tIns="0">
            <a:normAutofit/>
          </a:bodyPr>
          <a:lstStyle>
            <a:lvl1pPr lvl="0" algn="l">
              <a:lnSpc>
                <a:spcPct val="100000"/>
              </a:lnSpc>
              <a:spcBef>
                <a:spcPts val="400"/>
              </a:spcBef>
              <a:spcAft>
                <a:spcPts val="0"/>
              </a:spcAft>
              <a:buClr>
                <a:schemeClr val="lt1"/>
              </a:buClr>
              <a:buSzPts val="1200"/>
              <a:buNone/>
              <a:defRPr>
                <a:solidFill>
                  <a:schemeClr val="lt1"/>
                </a:solidFill>
              </a:defRPr>
            </a:lvl1pPr>
            <a:lvl2pPr lvl="1" algn="l">
              <a:lnSpc>
                <a:spcPct val="100000"/>
              </a:lnSpc>
              <a:spcBef>
                <a:spcPts val="400"/>
              </a:spcBef>
              <a:spcAft>
                <a:spcPts val="0"/>
              </a:spcAft>
              <a:buSzPts val="1200"/>
              <a:buNone/>
              <a:defRPr/>
            </a:lvl2pPr>
            <a:lvl3pPr lvl="2" algn="l">
              <a:lnSpc>
                <a:spcPct val="100000"/>
              </a:lnSpc>
              <a:spcBef>
                <a:spcPts val="400"/>
              </a:spcBef>
              <a:spcAft>
                <a:spcPts val="0"/>
              </a:spcAft>
              <a:buSzPts val="1200"/>
              <a:buNone/>
              <a:defRPr/>
            </a:lvl3pPr>
            <a:lvl4pPr lvl="3" algn="l">
              <a:lnSpc>
                <a:spcPct val="100000"/>
              </a:lnSpc>
              <a:spcBef>
                <a:spcPts val="400"/>
              </a:spcBef>
              <a:spcAft>
                <a:spcPts val="0"/>
              </a:spcAft>
              <a:buSzPts val="1200"/>
              <a:buNone/>
              <a:defRPr/>
            </a:lvl4pPr>
            <a:lvl5pPr lvl="4" algn="l">
              <a:lnSpc>
                <a:spcPct val="100000"/>
              </a:lnSpc>
              <a:spcBef>
                <a:spcPts val="400"/>
              </a:spcBef>
              <a:spcAft>
                <a:spcPts val="0"/>
              </a:spcAft>
              <a:buSzPts val="1200"/>
              <a:buNone/>
              <a:defRPr/>
            </a:lvl5pPr>
            <a:lvl6pPr lvl="5" algn="l">
              <a:lnSpc>
                <a:spcPct val="100000"/>
              </a:lnSpc>
              <a:spcBef>
                <a:spcPts val="400"/>
              </a:spcBef>
              <a:spcAft>
                <a:spcPts val="0"/>
              </a:spcAft>
              <a:buSzPts val="1200"/>
              <a:buNone/>
              <a:defRPr/>
            </a:lvl6pPr>
            <a:lvl7pPr lvl="6" algn="l">
              <a:lnSpc>
                <a:spcPct val="100000"/>
              </a:lnSpc>
              <a:spcBef>
                <a:spcPts val="400"/>
              </a:spcBef>
              <a:spcAft>
                <a:spcPts val="0"/>
              </a:spcAft>
              <a:buSzPts val="1200"/>
              <a:buNone/>
              <a:defRPr/>
            </a:lvl7pPr>
            <a:lvl8pPr lvl="7" algn="l">
              <a:lnSpc>
                <a:spcPct val="100000"/>
              </a:lnSpc>
              <a:spcBef>
                <a:spcPts val="400"/>
              </a:spcBef>
              <a:spcAft>
                <a:spcPts val="0"/>
              </a:spcAft>
              <a:buSzPts val="1200"/>
              <a:buNone/>
              <a:defRPr/>
            </a:lvl8pPr>
            <a:lvl9pPr lvl="8" algn="l">
              <a:lnSpc>
                <a:spcPct val="100000"/>
              </a:lnSpc>
              <a:spcBef>
                <a:spcPts val="400"/>
              </a:spcBef>
              <a:spcAft>
                <a:spcPts val="400"/>
              </a:spcAft>
              <a:buSzPts val="1200"/>
              <a:buNone/>
              <a:defRPr/>
            </a:lvl9pPr>
          </a:lstStyle>
          <a:p/>
        </p:txBody>
      </p:sp>
      <p:sp>
        <p:nvSpPr>
          <p:cNvPr id="24" name="Google Shape;24;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two columns)">
  <p:cSld name="CUSTOM_1_1">
    <p:spTree>
      <p:nvGrpSpPr>
        <p:cNvPr id="25" name="Shape 25"/>
        <p:cNvGrpSpPr/>
        <p:nvPr/>
      </p:nvGrpSpPr>
      <p:grpSpPr>
        <a:xfrm>
          <a:off x="0" y="0"/>
          <a:ext cx="0" cy="0"/>
          <a:chOff x="0" y="0"/>
          <a:chExt cx="0" cy="0"/>
        </a:xfrm>
      </p:grpSpPr>
      <p:sp>
        <p:nvSpPr>
          <p:cNvPr id="26" name="Google Shape;26;p4"/>
          <p:cNvSpPr txBox="1"/>
          <p:nvPr>
            <p:ph type="title"/>
          </p:nvPr>
        </p:nvSpPr>
        <p:spPr>
          <a:xfrm>
            <a:off x="643492" y="426919"/>
            <a:ext cx="7543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7" name="Google Shape;27;p4"/>
          <p:cNvSpPr txBox="1"/>
          <p:nvPr>
            <p:ph idx="1" type="body"/>
          </p:nvPr>
        </p:nvSpPr>
        <p:spPr>
          <a:xfrm>
            <a:off x="643492" y="1640996"/>
            <a:ext cx="35166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8" name="Google Shape;28;p4"/>
          <p:cNvSpPr txBox="1"/>
          <p:nvPr>
            <p:ph idx="2" type="subTitle"/>
          </p:nvPr>
        </p:nvSpPr>
        <p:spPr>
          <a:xfrm>
            <a:off x="643492" y="1197666"/>
            <a:ext cx="35166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l">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sp>
        <p:nvSpPr>
          <p:cNvPr id="29" name="Google Shape;29;p4"/>
          <p:cNvSpPr txBox="1"/>
          <p:nvPr>
            <p:ph idx="3" type="body"/>
          </p:nvPr>
        </p:nvSpPr>
        <p:spPr>
          <a:xfrm>
            <a:off x="4670200" y="1640987"/>
            <a:ext cx="35166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0" name="Google Shape;30;p4"/>
          <p:cNvSpPr txBox="1"/>
          <p:nvPr>
            <p:ph idx="4" type="subTitle"/>
          </p:nvPr>
        </p:nvSpPr>
        <p:spPr>
          <a:xfrm>
            <a:off x="4670200" y="1197656"/>
            <a:ext cx="35166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2pPr>
            <a:lvl3pPr lvl="2"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3pPr>
            <a:lvl4pPr lvl="3"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4pPr>
            <a:lvl5pPr lvl="4"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5pPr>
            <a:lvl6pPr lvl="5"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6pPr>
            <a:lvl7pPr lvl="6"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7pPr>
            <a:lvl8pPr lvl="7"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8pPr>
            <a:lvl9pPr lvl="8" algn="l">
              <a:lnSpc>
                <a:spcPct val="125000"/>
              </a:lnSpc>
              <a:spcBef>
                <a:spcPts val="400"/>
              </a:spcBef>
              <a:spcAft>
                <a:spcPts val="400"/>
              </a:spcAft>
              <a:buSzPts val="1200"/>
              <a:buFont typeface="Montserrat SemiBold"/>
              <a:buNone/>
              <a:defRPr>
                <a:latin typeface="Montserrat SemiBold"/>
                <a:ea typeface="Montserrat SemiBold"/>
                <a:cs typeface="Montserrat SemiBold"/>
                <a:sym typeface="Montserrat SemiBold"/>
              </a:defRPr>
            </a:lvl9pPr>
          </a:lstStyle>
          <a:p/>
        </p:txBody>
      </p:sp>
      <p:sp>
        <p:nvSpPr>
          <p:cNvPr id="31" name="Google Shape;31;p4"/>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32" name="Google Shape;32;p4"/>
          <p:cNvPicPr preferRelativeResize="0"/>
          <p:nvPr/>
        </p:nvPicPr>
        <p:blipFill rotWithShape="1">
          <a:blip r:embed="rId2">
            <a:alphaModFix/>
          </a:blip>
          <a:srcRect b="0" l="0" r="0" t="0"/>
          <a:stretch/>
        </p:blipFill>
        <p:spPr>
          <a:xfrm>
            <a:off x="7991468" y="4501355"/>
            <a:ext cx="553002" cy="572625"/>
          </a:xfrm>
          <a:prstGeom prst="rect">
            <a:avLst/>
          </a:prstGeom>
          <a:noFill/>
          <a:ln>
            <a:noFill/>
          </a:ln>
        </p:spPr>
      </p:pic>
      <p:sp>
        <p:nvSpPr>
          <p:cNvPr id="33" name="Google Shape;33;p4"/>
          <p:cNvSpPr txBox="1"/>
          <p:nvPr>
            <p:ph idx="5"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4" name="Google Shape;34;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three columns)">
  <p:cSld name="CUSTOM_1_1_1">
    <p:spTree>
      <p:nvGrpSpPr>
        <p:cNvPr id="35" name="Shape 35"/>
        <p:cNvGrpSpPr/>
        <p:nvPr/>
      </p:nvGrpSpPr>
      <p:grpSpPr>
        <a:xfrm>
          <a:off x="0" y="0"/>
          <a:ext cx="0" cy="0"/>
          <a:chOff x="0" y="0"/>
          <a:chExt cx="0" cy="0"/>
        </a:xfrm>
      </p:grpSpPr>
      <p:sp>
        <p:nvSpPr>
          <p:cNvPr id="36" name="Google Shape;36;p5"/>
          <p:cNvSpPr txBox="1"/>
          <p:nvPr>
            <p:ph type="title"/>
          </p:nvPr>
        </p:nvSpPr>
        <p:spPr>
          <a:xfrm>
            <a:off x="643492" y="426919"/>
            <a:ext cx="81123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7" name="Google Shape;37;p5"/>
          <p:cNvSpPr txBox="1"/>
          <p:nvPr>
            <p:ph idx="1" type="body"/>
          </p:nvPr>
        </p:nvSpPr>
        <p:spPr>
          <a:xfrm>
            <a:off x="643492" y="1640997"/>
            <a:ext cx="24657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8" name="Google Shape;38;p5"/>
          <p:cNvSpPr txBox="1"/>
          <p:nvPr>
            <p:ph idx="2" type="subTitle"/>
          </p:nvPr>
        </p:nvSpPr>
        <p:spPr>
          <a:xfrm>
            <a:off x="643492" y="1197666"/>
            <a:ext cx="24657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l">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sp>
        <p:nvSpPr>
          <p:cNvPr id="39" name="Google Shape;39;p5"/>
          <p:cNvSpPr txBox="1"/>
          <p:nvPr>
            <p:ph idx="3" type="body"/>
          </p:nvPr>
        </p:nvSpPr>
        <p:spPr>
          <a:xfrm>
            <a:off x="3466861" y="1640988"/>
            <a:ext cx="24657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40" name="Google Shape;40;p5"/>
          <p:cNvSpPr txBox="1"/>
          <p:nvPr>
            <p:ph idx="4" type="subTitle"/>
          </p:nvPr>
        </p:nvSpPr>
        <p:spPr>
          <a:xfrm>
            <a:off x="3466861" y="1197656"/>
            <a:ext cx="24657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l">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sp>
        <p:nvSpPr>
          <p:cNvPr id="41" name="Google Shape;41;p5"/>
          <p:cNvSpPr txBox="1"/>
          <p:nvPr>
            <p:ph idx="5" type="subTitle"/>
          </p:nvPr>
        </p:nvSpPr>
        <p:spPr>
          <a:xfrm>
            <a:off x="6290229" y="1197666"/>
            <a:ext cx="24657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l">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sp>
        <p:nvSpPr>
          <p:cNvPr id="42" name="Google Shape;42;p5"/>
          <p:cNvSpPr txBox="1"/>
          <p:nvPr>
            <p:ph idx="6" type="body"/>
          </p:nvPr>
        </p:nvSpPr>
        <p:spPr>
          <a:xfrm>
            <a:off x="6290229" y="1640997"/>
            <a:ext cx="24657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43" name="Google Shape;43;p5"/>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44" name="Google Shape;44;p5"/>
          <p:cNvPicPr preferRelativeResize="0"/>
          <p:nvPr/>
        </p:nvPicPr>
        <p:blipFill rotWithShape="1">
          <a:blip r:embed="rId2">
            <a:alphaModFix/>
          </a:blip>
          <a:srcRect b="0" l="0" r="0" t="0"/>
          <a:stretch/>
        </p:blipFill>
        <p:spPr>
          <a:xfrm>
            <a:off x="7991468" y="4501355"/>
            <a:ext cx="553002" cy="572625"/>
          </a:xfrm>
          <a:prstGeom prst="rect">
            <a:avLst/>
          </a:prstGeom>
          <a:noFill/>
          <a:ln>
            <a:noFill/>
          </a:ln>
        </p:spPr>
      </p:pic>
      <p:sp>
        <p:nvSpPr>
          <p:cNvPr id="45" name="Google Shape;45;p5"/>
          <p:cNvSpPr txBox="1"/>
          <p:nvPr>
            <p:ph idx="7"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46" name="Google Shape;46;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slide">
  <p:cSld name="ONE_COLUMN_TEXT">
    <p:spTree>
      <p:nvGrpSpPr>
        <p:cNvPr id="47" name="Shape 47"/>
        <p:cNvGrpSpPr/>
        <p:nvPr/>
      </p:nvGrpSpPr>
      <p:grpSpPr>
        <a:xfrm>
          <a:off x="0" y="0"/>
          <a:ext cx="0" cy="0"/>
          <a:chOff x="0" y="0"/>
          <a:chExt cx="0" cy="0"/>
        </a:xfrm>
      </p:grpSpPr>
      <p:sp>
        <p:nvSpPr>
          <p:cNvPr id="48" name="Google Shape;48;p6"/>
          <p:cNvSpPr txBox="1"/>
          <p:nvPr>
            <p:ph idx="1" type="body"/>
          </p:nvPr>
        </p:nvSpPr>
        <p:spPr>
          <a:xfrm>
            <a:off x="628732" y="1370550"/>
            <a:ext cx="6060900" cy="3139500"/>
          </a:xfrm>
          <a:prstGeom prst="rect">
            <a:avLst/>
          </a:prstGeom>
          <a:noFill/>
          <a:ln>
            <a:noFill/>
          </a:ln>
        </p:spPr>
        <p:txBody>
          <a:bodyPr anchorCtr="0" anchor="t" bIns="0" lIns="0" spcFirstLastPara="1" rIns="0" wrap="square" tIns="0">
            <a:noAutofit/>
          </a:bodyPr>
          <a:lstStyle>
            <a:lvl1pPr indent="-317500" lvl="0" marL="4572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1pPr>
            <a:lvl2pPr indent="-317500" lvl="1" marL="914400" algn="l">
              <a:lnSpc>
                <a:spcPct val="125000"/>
              </a:lnSpc>
              <a:spcBef>
                <a:spcPts val="1500"/>
              </a:spcBef>
              <a:spcAft>
                <a:spcPts val="0"/>
              </a:spcAft>
              <a:buClr>
                <a:schemeClr val="accent1"/>
              </a:buClr>
              <a:buSzPts val="1400"/>
              <a:buFont typeface="Montserrat Light"/>
              <a:buChar char="⚬"/>
              <a:defRPr sz="1400">
                <a:latin typeface="Montserrat Light"/>
                <a:ea typeface="Montserrat Light"/>
                <a:cs typeface="Montserrat Light"/>
                <a:sym typeface="Montserrat Light"/>
              </a:defRPr>
            </a:lvl2pPr>
            <a:lvl3pPr indent="-317500" lvl="2" marL="13716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3pPr>
            <a:lvl4pPr indent="-317500" lvl="3" marL="18288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4pPr>
            <a:lvl5pPr indent="-317500" lvl="4" marL="22860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5pPr>
            <a:lvl6pPr indent="-317500" lvl="5" marL="27432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6pPr>
            <a:lvl7pPr indent="-317500" lvl="6" marL="32004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7pPr>
            <a:lvl8pPr indent="-317500" lvl="7" marL="36576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8pPr>
            <a:lvl9pPr indent="-317500" lvl="8" marL="4114800" algn="l">
              <a:lnSpc>
                <a:spcPct val="125000"/>
              </a:lnSpc>
              <a:spcBef>
                <a:spcPts val="1500"/>
              </a:spcBef>
              <a:spcAft>
                <a:spcPts val="1500"/>
              </a:spcAft>
              <a:buSzPts val="1400"/>
              <a:buFont typeface="Montserrat Light"/>
              <a:buChar char="■"/>
              <a:defRPr sz="1400">
                <a:latin typeface="Montserrat Light"/>
                <a:ea typeface="Montserrat Light"/>
                <a:cs typeface="Montserrat Light"/>
                <a:sym typeface="Montserrat Light"/>
              </a:defRPr>
            </a:lvl9pPr>
          </a:lstStyle>
          <a:p/>
        </p:txBody>
      </p:sp>
      <p:sp>
        <p:nvSpPr>
          <p:cNvPr id="49" name="Google Shape;49;p6"/>
          <p:cNvSpPr txBox="1"/>
          <p:nvPr>
            <p:ph type="title"/>
          </p:nvPr>
        </p:nvSpPr>
        <p:spPr>
          <a:xfrm>
            <a:off x="643492" y="426919"/>
            <a:ext cx="60609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50" name="Google Shape;50;p6"/>
          <p:cNvSpPr txBox="1"/>
          <p:nvPr>
            <p:ph idx="2" type="subTitle"/>
          </p:nvPr>
        </p:nvSpPr>
        <p:spPr>
          <a:xfrm>
            <a:off x="643492" y="999544"/>
            <a:ext cx="60609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51" name="Google Shape;51;p6"/>
          <p:cNvSpPr/>
          <p:nvPr/>
        </p:nvSpPr>
        <p:spPr>
          <a:xfrm flipH="1">
            <a:off x="8037030" y="-35512"/>
            <a:ext cx="1151100" cy="52359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52" name="Google Shape;52;p6"/>
          <p:cNvPicPr preferRelativeResize="0"/>
          <p:nvPr/>
        </p:nvPicPr>
        <p:blipFill rotWithShape="1">
          <a:blip r:embed="rId2">
            <a:alphaModFix/>
          </a:blip>
          <a:srcRect b="0" l="0" r="0" t="0"/>
          <a:stretch/>
        </p:blipFill>
        <p:spPr>
          <a:xfrm>
            <a:off x="8335982" y="426924"/>
            <a:ext cx="553002" cy="572625"/>
          </a:xfrm>
          <a:prstGeom prst="rect">
            <a:avLst/>
          </a:prstGeom>
          <a:noFill/>
          <a:ln>
            <a:noFill/>
          </a:ln>
        </p:spPr>
      </p:pic>
      <p:sp>
        <p:nvSpPr>
          <p:cNvPr id="53" name="Google Shape;53;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lide">
  <p:cSld name="CUSTOM_1_1_2">
    <p:spTree>
      <p:nvGrpSpPr>
        <p:cNvPr id="54" name="Shape 54"/>
        <p:cNvGrpSpPr/>
        <p:nvPr/>
      </p:nvGrpSpPr>
      <p:grpSpPr>
        <a:xfrm>
          <a:off x="0" y="0"/>
          <a:ext cx="0" cy="0"/>
          <a:chOff x="0" y="0"/>
          <a:chExt cx="0" cy="0"/>
        </a:xfrm>
      </p:grpSpPr>
      <p:sp>
        <p:nvSpPr>
          <p:cNvPr id="55" name="Google Shape;55;p7"/>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56" name="Google Shape;56;p7"/>
          <p:cNvPicPr preferRelativeResize="0"/>
          <p:nvPr/>
        </p:nvPicPr>
        <p:blipFill rotWithShape="1">
          <a:blip r:embed="rId2">
            <a:alphaModFix/>
          </a:blip>
          <a:srcRect b="0" l="0" r="0" t="0"/>
          <a:stretch/>
        </p:blipFill>
        <p:spPr>
          <a:xfrm>
            <a:off x="7991468" y="4501355"/>
            <a:ext cx="553002" cy="572625"/>
          </a:xfrm>
          <a:prstGeom prst="rect">
            <a:avLst/>
          </a:prstGeom>
          <a:noFill/>
          <a:ln>
            <a:noFill/>
          </a:ln>
        </p:spPr>
      </p:pic>
      <p:sp>
        <p:nvSpPr>
          <p:cNvPr id="57" name="Google Shape;57;p7"/>
          <p:cNvSpPr txBox="1"/>
          <p:nvPr>
            <p:ph type="title"/>
          </p:nvPr>
        </p:nvSpPr>
        <p:spPr>
          <a:xfrm>
            <a:off x="643492" y="426919"/>
            <a:ext cx="7543500" cy="572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58" name="Google Shape;58;p7"/>
          <p:cNvSpPr txBox="1"/>
          <p:nvPr>
            <p:ph idx="1" type="body"/>
          </p:nvPr>
        </p:nvSpPr>
        <p:spPr>
          <a:xfrm>
            <a:off x="643492" y="1910491"/>
            <a:ext cx="3516600" cy="2370000"/>
          </a:xfrm>
          <a:prstGeom prst="rect">
            <a:avLst/>
          </a:prstGeom>
          <a:noFill/>
          <a:ln>
            <a:noFill/>
          </a:ln>
        </p:spPr>
        <p:txBody>
          <a:bodyPr anchorCtr="0" anchor="t" bIns="0" lIns="0" spcFirstLastPara="1" rIns="0" wrap="square" tIns="0">
            <a:noAutofit/>
          </a:bodyPr>
          <a:lstStyle>
            <a:lvl1pPr indent="-304800" lvl="0" marL="4572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59" name="Google Shape;59;p7"/>
          <p:cNvSpPr txBox="1"/>
          <p:nvPr>
            <p:ph idx="2" type="subTitle"/>
          </p:nvPr>
        </p:nvSpPr>
        <p:spPr>
          <a:xfrm>
            <a:off x="643492" y="1512421"/>
            <a:ext cx="3516600" cy="237600"/>
          </a:xfrm>
          <a:prstGeom prst="rect">
            <a:avLst/>
          </a:prstGeom>
          <a:noFill/>
          <a:ln>
            <a:noFill/>
          </a:ln>
        </p:spPr>
        <p:txBody>
          <a:bodyPr anchorCtr="0" anchor="t" bIns="0" lIns="0" spcFirstLastPara="1" rIns="0" wrap="square" tIns="0">
            <a:noAutofit/>
          </a:bodyPr>
          <a:lstStyle>
            <a:lvl1pPr lvl="0" algn="ctr">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ctr">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sp>
        <p:nvSpPr>
          <p:cNvPr id="60" name="Google Shape;60;p7"/>
          <p:cNvSpPr txBox="1"/>
          <p:nvPr>
            <p:ph idx="3" type="body"/>
          </p:nvPr>
        </p:nvSpPr>
        <p:spPr>
          <a:xfrm>
            <a:off x="4670200" y="1910483"/>
            <a:ext cx="3516600" cy="2370000"/>
          </a:xfrm>
          <a:prstGeom prst="rect">
            <a:avLst/>
          </a:prstGeom>
          <a:noFill/>
          <a:ln>
            <a:noFill/>
          </a:ln>
        </p:spPr>
        <p:txBody>
          <a:bodyPr anchorCtr="0" anchor="t" bIns="0" lIns="0" spcFirstLastPara="1" rIns="0" wrap="square" tIns="0">
            <a:noAutofit/>
          </a:bodyPr>
          <a:lstStyle>
            <a:lvl1pPr indent="-304800" lvl="0" marL="4572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61" name="Google Shape;61;p7"/>
          <p:cNvSpPr txBox="1"/>
          <p:nvPr>
            <p:ph idx="4" type="subTitle"/>
          </p:nvPr>
        </p:nvSpPr>
        <p:spPr>
          <a:xfrm>
            <a:off x="4670200" y="1512412"/>
            <a:ext cx="3516600" cy="237600"/>
          </a:xfrm>
          <a:prstGeom prst="rect">
            <a:avLst/>
          </a:prstGeom>
          <a:noFill/>
          <a:ln>
            <a:noFill/>
          </a:ln>
        </p:spPr>
        <p:txBody>
          <a:bodyPr anchorCtr="0" anchor="t" bIns="0" lIns="0" spcFirstLastPara="1" rIns="0" wrap="square" tIns="0">
            <a:noAutofit/>
          </a:bodyPr>
          <a:lstStyle>
            <a:lvl1pPr lvl="0" algn="ctr">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ctr">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cxnSp>
        <p:nvCxnSpPr>
          <p:cNvPr id="62" name="Google Shape;62;p7"/>
          <p:cNvCxnSpPr/>
          <p:nvPr/>
        </p:nvCxnSpPr>
        <p:spPr>
          <a:xfrm>
            <a:off x="4420987" y="1572600"/>
            <a:ext cx="0" cy="2481900"/>
          </a:xfrm>
          <a:prstGeom prst="straightConnector1">
            <a:avLst/>
          </a:prstGeom>
          <a:noFill/>
          <a:ln cap="flat" cmpd="sng" w="19050">
            <a:solidFill>
              <a:srgbClr val="B7B7B7"/>
            </a:solidFill>
            <a:prstDash val="dot"/>
            <a:round/>
            <a:headEnd len="sm" w="sm" type="none"/>
            <a:tailEnd len="sm" w="sm" type="none"/>
          </a:ln>
        </p:spPr>
      </p:cxnSp>
      <p:sp>
        <p:nvSpPr>
          <p:cNvPr id="63" name="Google Shape;63;p7"/>
          <p:cNvSpPr txBox="1"/>
          <p:nvPr>
            <p:ph idx="5"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64" name="Google Shape;64;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branded)">
  <p:cSld name="MAIN_POINT">
    <p:spTree>
      <p:nvGrpSpPr>
        <p:cNvPr id="65" name="Shape 65"/>
        <p:cNvGrpSpPr/>
        <p:nvPr/>
      </p:nvGrpSpPr>
      <p:grpSpPr>
        <a:xfrm>
          <a:off x="0" y="0"/>
          <a:ext cx="0" cy="0"/>
          <a:chOff x="0" y="0"/>
          <a:chExt cx="0" cy="0"/>
        </a:xfrm>
      </p:grpSpPr>
      <p:pic>
        <p:nvPicPr>
          <p:cNvPr id="66" name="Google Shape;66;p8"/>
          <p:cNvPicPr preferRelativeResize="0"/>
          <p:nvPr/>
        </p:nvPicPr>
        <p:blipFill rotWithShape="1">
          <a:blip r:embed="rId2">
            <a:alphaModFix/>
          </a:blip>
          <a:srcRect b="0" l="12049" r="0" t="0"/>
          <a:stretch/>
        </p:blipFill>
        <p:spPr>
          <a:xfrm>
            <a:off x="0" y="-63937"/>
            <a:ext cx="9229542" cy="5245914"/>
          </a:xfrm>
          <a:prstGeom prst="rect">
            <a:avLst/>
          </a:prstGeom>
          <a:noFill/>
          <a:ln>
            <a:noFill/>
          </a:ln>
        </p:spPr>
      </p:pic>
      <p:sp>
        <p:nvSpPr>
          <p:cNvPr id="67" name="Google Shape;67;p8"/>
          <p:cNvSpPr txBox="1"/>
          <p:nvPr>
            <p:ph type="title"/>
          </p:nvPr>
        </p:nvSpPr>
        <p:spPr>
          <a:xfrm>
            <a:off x="2875732" y="1623038"/>
            <a:ext cx="5436300" cy="1356000"/>
          </a:xfrm>
          <a:prstGeom prst="rect">
            <a:avLst/>
          </a:prstGeom>
          <a:noFill/>
          <a:ln>
            <a:noFill/>
          </a:ln>
        </p:spPr>
        <p:txBody>
          <a:bodyPr anchorCtr="0" anchor="ctr" bIns="0" lIns="0" spcFirstLastPara="1" rIns="0" wrap="square" tIns="0">
            <a:normAutofit/>
          </a:bodyPr>
          <a:lstStyle>
            <a:lvl1pPr lvl="0" algn="r">
              <a:lnSpc>
                <a:spcPct val="100000"/>
              </a:lnSpc>
              <a:spcBef>
                <a:spcPts val="0"/>
              </a:spcBef>
              <a:spcAft>
                <a:spcPts val="0"/>
              </a:spcAft>
              <a:buClr>
                <a:schemeClr val="lt1"/>
              </a:buClr>
              <a:buSzPts val="3300"/>
              <a:buFont typeface="Montserrat SemiBold"/>
              <a:buNone/>
              <a:defRPr sz="3300">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3300"/>
              <a:buNone/>
              <a:defRPr sz="3300"/>
            </a:lvl2pPr>
            <a:lvl3pPr lvl="2" algn="l">
              <a:lnSpc>
                <a:spcPct val="100000"/>
              </a:lnSpc>
              <a:spcBef>
                <a:spcPts val="0"/>
              </a:spcBef>
              <a:spcAft>
                <a:spcPts val="0"/>
              </a:spcAft>
              <a:buSzPts val="3300"/>
              <a:buNone/>
              <a:defRPr sz="3300"/>
            </a:lvl3pPr>
            <a:lvl4pPr lvl="3" algn="l">
              <a:lnSpc>
                <a:spcPct val="100000"/>
              </a:lnSpc>
              <a:spcBef>
                <a:spcPts val="0"/>
              </a:spcBef>
              <a:spcAft>
                <a:spcPts val="0"/>
              </a:spcAft>
              <a:buSzPts val="3300"/>
              <a:buNone/>
              <a:defRPr sz="3300"/>
            </a:lvl4pPr>
            <a:lvl5pPr lvl="4" algn="l">
              <a:lnSpc>
                <a:spcPct val="100000"/>
              </a:lnSpc>
              <a:spcBef>
                <a:spcPts val="0"/>
              </a:spcBef>
              <a:spcAft>
                <a:spcPts val="0"/>
              </a:spcAft>
              <a:buSzPts val="3300"/>
              <a:buNone/>
              <a:defRPr sz="3300"/>
            </a:lvl5pPr>
            <a:lvl6pPr lvl="5" algn="l">
              <a:lnSpc>
                <a:spcPct val="100000"/>
              </a:lnSpc>
              <a:spcBef>
                <a:spcPts val="0"/>
              </a:spcBef>
              <a:spcAft>
                <a:spcPts val="0"/>
              </a:spcAft>
              <a:buSzPts val="3300"/>
              <a:buNone/>
              <a:defRPr sz="3300"/>
            </a:lvl6pPr>
            <a:lvl7pPr lvl="6" algn="l">
              <a:lnSpc>
                <a:spcPct val="100000"/>
              </a:lnSpc>
              <a:spcBef>
                <a:spcPts val="0"/>
              </a:spcBef>
              <a:spcAft>
                <a:spcPts val="0"/>
              </a:spcAft>
              <a:buSzPts val="3300"/>
              <a:buNone/>
              <a:defRPr sz="3300"/>
            </a:lvl7pPr>
            <a:lvl8pPr lvl="7" algn="l">
              <a:lnSpc>
                <a:spcPct val="100000"/>
              </a:lnSpc>
              <a:spcBef>
                <a:spcPts val="0"/>
              </a:spcBef>
              <a:spcAft>
                <a:spcPts val="0"/>
              </a:spcAft>
              <a:buSzPts val="3300"/>
              <a:buNone/>
              <a:defRPr sz="3300"/>
            </a:lvl8pPr>
            <a:lvl9pPr lvl="8" algn="l">
              <a:lnSpc>
                <a:spcPct val="100000"/>
              </a:lnSpc>
              <a:spcBef>
                <a:spcPts val="0"/>
              </a:spcBef>
              <a:spcAft>
                <a:spcPts val="0"/>
              </a:spcAft>
              <a:buSzPts val="3300"/>
              <a:buNone/>
              <a:defRPr sz="3300"/>
            </a:lvl9pPr>
          </a:lstStyle>
          <a:p/>
        </p:txBody>
      </p:sp>
      <p:sp>
        <p:nvSpPr>
          <p:cNvPr id="68" name="Google Shape;68;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ation slide">
  <p:cSld name="MAIN_POINT_2">
    <p:spTree>
      <p:nvGrpSpPr>
        <p:cNvPr id="69" name="Shape 69"/>
        <p:cNvGrpSpPr/>
        <p:nvPr/>
      </p:nvGrpSpPr>
      <p:grpSpPr>
        <a:xfrm>
          <a:off x="0" y="0"/>
          <a:ext cx="0" cy="0"/>
          <a:chOff x="0" y="0"/>
          <a:chExt cx="0" cy="0"/>
        </a:xfrm>
      </p:grpSpPr>
      <p:pic>
        <p:nvPicPr>
          <p:cNvPr id="70" name="Google Shape;70;p9"/>
          <p:cNvPicPr preferRelativeResize="0"/>
          <p:nvPr/>
        </p:nvPicPr>
        <p:blipFill rotWithShape="1">
          <a:blip r:embed="rId2">
            <a:alphaModFix/>
          </a:blip>
          <a:srcRect b="0" l="12049" r="0" t="0"/>
          <a:stretch/>
        </p:blipFill>
        <p:spPr>
          <a:xfrm>
            <a:off x="0" y="-63937"/>
            <a:ext cx="9229542" cy="5245914"/>
          </a:xfrm>
          <a:prstGeom prst="rect">
            <a:avLst/>
          </a:prstGeom>
          <a:noFill/>
          <a:ln>
            <a:noFill/>
          </a:ln>
        </p:spPr>
      </p:pic>
      <p:sp>
        <p:nvSpPr>
          <p:cNvPr id="71" name="Google Shape;71;p9"/>
          <p:cNvSpPr txBox="1"/>
          <p:nvPr>
            <p:ph type="title"/>
          </p:nvPr>
        </p:nvSpPr>
        <p:spPr>
          <a:xfrm>
            <a:off x="1890998" y="1623038"/>
            <a:ext cx="4662300" cy="1356000"/>
          </a:xfrm>
          <a:prstGeom prst="rect">
            <a:avLst/>
          </a:prstGeom>
          <a:noFill/>
          <a:ln>
            <a:noFill/>
          </a:ln>
        </p:spPr>
        <p:txBody>
          <a:bodyPr anchorCtr="0" anchor="ctr" bIns="0" lIns="0" spcFirstLastPara="1" rIns="0" wrap="square" tIns="0">
            <a:normAutofit/>
          </a:bodyPr>
          <a:lstStyle>
            <a:lvl1pPr lvl="0" algn="r">
              <a:lnSpc>
                <a:spcPct val="100000"/>
              </a:lnSpc>
              <a:spcBef>
                <a:spcPts val="0"/>
              </a:spcBef>
              <a:spcAft>
                <a:spcPts val="0"/>
              </a:spcAft>
              <a:buClr>
                <a:schemeClr val="lt1"/>
              </a:buClr>
              <a:buSzPts val="2100"/>
              <a:buFont typeface="Montserrat SemiBold"/>
              <a:buNone/>
              <a:defRPr sz="2100">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cxnSp>
        <p:nvCxnSpPr>
          <p:cNvPr id="72" name="Google Shape;72;p9"/>
          <p:cNvCxnSpPr/>
          <p:nvPr/>
        </p:nvCxnSpPr>
        <p:spPr>
          <a:xfrm>
            <a:off x="6853189" y="1825331"/>
            <a:ext cx="0" cy="879900"/>
          </a:xfrm>
          <a:prstGeom prst="straightConnector1">
            <a:avLst/>
          </a:prstGeom>
          <a:noFill/>
          <a:ln cap="flat" cmpd="sng" w="9525">
            <a:solidFill>
              <a:schemeClr val="lt1"/>
            </a:solidFill>
            <a:prstDash val="solid"/>
            <a:round/>
            <a:headEnd len="sm" w="sm" type="none"/>
            <a:tailEnd len="sm" w="sm" type="none"/>
          </a:ln>
        </p:spPr>
      </p:cxnSp>
      <p:sp>
        <p:nvSpPr>
          <p:cNvPr id="73" name="Google Shape;73;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tended quotation slide">
  <p:cSld name="ONE_COLUMN_TEXT_1">
    <p:spTree>
      <p:nvGrpSpPr>
        <p:cNvPr id="74" name="Shape 74"/>
        <p:cNvGrpSpPr/>
        <p:nvPr/>
      </p:nvGrpSpPr>
      <p:grpSpPr>
        <a:xfrm>
          <a:off x="0" y="0"/>
          <a:ext cx="0" cy="0"/>
          <a:chOff x="0" y="0"/>
          <a:chExt cx="0" cy="0"/>
        </a:xfrm>
      </p:grpSpPr>
      <p:sp>
        <p:nvSpPr>
          <p:cNvPr id="75" name="Google Shape;75;p10"/>
          <p:cNvSpPr txBox="1"/>
          <p:nvPr>
            <p:ph type="title"/>
          </p:nvPr>
        </p:nvSpPr>
        <p:spPr>
          <a:xfrm>
            <a:off x="580345" y="1062600"/>
            <a:ext cx="6383400" cy="2451000"/>
          </a:xfrm>
          <a:prstGeom prst="rect">
            <a:avLst/>
          </a:prstGeom>
          <a:noFill/>
          <a:ln>
            <a:noFill/>
          </a:ln>
        </p:spPr>
        <p:txBody>
          <a:bodyPr anchorCtr="0" anchor="t" bIns="0" lIns="0" spcFirstLastPara="1" rIns="0" wrap="square" tIns="0">
            <a:normAutofit/>
          </a:bodyPr>
          <a:lstStyle>
            <a:lvl1pPr lvl="0" algn="l">
              <a:lnSpc>
                <a:spcPct val="130000"/>
              </a:lnSpc>
              <a:spcBef>
                <a:spcPts val="0"/>
              </a:spcBef>
              <a:spcAft>
                <a:spcPts val="0"/>
              </a:spcAft>
              <a:buClr>
                <a:schemeClr val="dk2"/>
              </a:buClr>
              <a:buSzPts val="1700"/>
              <a:buNone/>
              <a:defRPr sz="1700">
                <a:solidFill>
                  <a:schemeClr val="dk2"/>
                </a:solidFill>
              </a:defRPr>
            </a:lvl1pPr>
            <a:lvl2pPr lvl="1" algn="l">
              <a:lnSpc>
                <a:spcPct val="100000"/>
              </a:lnSpc>
              <a:spcBef>
                <a:spcPts val="1500"/>
              </a:spcBef>
              <a:spcAft>
                <a:spcPts val="0"/>
              </a:spcAft>
              <a:buClr>
                <a:schemeClr val="accent2"/>
              </a:buClr>
              <a:buSzPts val="1700"/>
              <a:buNone/>
              <a:defRPr sz="1700">
                <a:solidFill>
                  <a:schemeClr val="accent2"/>
                </a:solidFill>
              </a:defRPr>
            </a:lvl2pPr>
            <a:lvl3pPr lvl="2" algn="l">
              <a:lnSpc>
                <a:spcPct val="100000"/>
              </a:lnSpc>
              <a:spcBef>
                <a:spcPts val="0"/>
              </a:spcBef>
              <a:spcAft>
                <a:spcPts val="0"/>
              </a:spcAft>
              <a:buClr>
                <a:schemeClr val="accent2"/>
              </a:buClr>
              <a:buSzPts val="1700"/>
              <a:buNone/>
              <a:defRPr sz="1700">
                <a:solidFill>
                  <a:schemeClr val="accent2"/>
                </a:solidFill>
              </a:defRPr>
            </a:lvl3pPr>
            <a:lvl4pPr lvl="3" algn="l">
              <a:lnSpc>
                <a:spcPct val="100000"/>
              </a:lnSpc>
              <a:spcBef>
                <a:spcPts val="0"/>
              </a:spcBef>
              <a:spcAft>
                <a:spcPts val="0"/>
              </a:spcAft>
              <a:buClr>
                <a:schemeClr val="accent2"/>
              </a:buClr>
              <a:buSzPts val="1700"/>
              <a:buNone/>
              <a:defRPr sz="1700">
                <a:solidFill>
                  <a:schemeClr val="accent2"/>
                </a:solidFill>
              </a:defRPr>
            </a:lvl4pPr>
            <a:lvl5pPr lvl="4" algn="l">
              <a:lnSpc>
                <a:spcPct val="100000"/>
              </a:lnSpc>
              <a:spcBef>
                <a:spcPts val="0"/>
              </a:spcBef>
              <a:spcAft>
                <a:spcPts val="0"/>
              </a:spcAft>
              <a:buClr>
                <a:schemeClr val="accent2"/>
              </a:buClr>
              <a:buSzPts val="1700"/>
              <a:buNone/>
              <a:defRPr sz="1700">
                <a:solidFill>
                  <a:schemeClr val="accent2"/>
                </a:solidFill>
              </a:defRPr>
            </a:lvl5pPr>
            <a:lvl6pPr lvl="5" algn="l">
              <a:lnSpc>
                <a:spcPct val="100000"/>
              </a:lnSpc>
              <a:spcBef>
                <a:spcPts val="0"/>
              </a:spcBef>
              <a:spcAft>
                <a:spcPts val="0"/>
              </a:spcAft>
              <a:buClr>
                <a:schemeClr val="accent2"/>
              </a:buClr>
              <a:buSzPts val="1700"/>
              <a:buNone/>
              <a:defRPr sz="1700">
                <a:solidFill>
                  <a:schemeClr val="accent2"/>
                </a:solidFill>
              </a:defRPr>
            </a:lvl6pPr>
            <a:lvl7pPr lvl="6" algn="l">
              <a:lnSpc>
                <a:spcPct val="100000"/>
              </a:lnSpc>
              <a:spcBef>
                <a:spcPts val="0"/>
              </a:spcBef>
              <a:spcAft>
                <a:spcPts val="0"/>
              </a:spcAft>
              <a:buClr>
                <a:schemeClr val="accent2"/>
              </a:buClr>
              <a:buSzPts val="1700"/>
              <a:buNone/>
              <a:defRPr sz="1700">
                <a:solidFill>
                  <a:schemeClr val="accent2"/>
                </a:solidFill>
              </a:defRPr>
            </a:lvl7pPr>
            <a:lvl8pPr lvl="7" algn="l">
              <a:lnSpc>
                <a:spcPct val="100000"/>
              </a:lnSpc>
              <a:spcBef>
                <a:spcPts val="0"/>
              </a:spcBef>
              <a:spcAft>
                <a:spcPts val="0"/>
              </a:spcAft>
              <a:buClr>
                <a:schemeClr val="accent2"/>
              </a:buClr>
              <a:buSzPts val="1700"/>
              <a:buNone/>
              <a:defRPr sz="1700">
                <a:solidFill>
                  <a:schemeClr val="accent2"/>
                </a:solidFill>
              </a:defRPr>
            </a:lvl8pPr>
            <a:lvl9pPr lvl="8" algn="l">
              <a:lnSpc>
                <a:spcPct val="100000"/>
              </a:lnSpc>
              <a:spcBef>
                <a:spcPts val="0"/>
              </a:spcBef>
              <a:spcAft>
                <a:spcPts val="0"/>
              </a:spcAft>
              <a:buClr>
                <a:schemeClr val="accent2"/>
              </a:buClr>
              <a:buSzPts val="1700"/>
              <a:buNone/>
              <a:defRPr sz="1700">
                <a:solidFill>
                  <a:schemeClr val="accent2"/>
                </a:solidFill>
              </a:defRPr>
            </a:lvl9pPr>
          </a:lstStyle>
          <a:p/>
        </p:txBody>
      </p:sp>
      <p:sp>
        <p:nvSpPr>
          <p:cNvPr id="76" name="Google Shape;76;p10"/>
          <p:cNvSpPr txBox="1"/>
          <p:nvPr>
            <p:ph idx="1" type="subTitle"/>
          </p:nvPr>
        </p:nvSpPr>
        <p:spPr>
          <a:xfrm>
            <a:off x="3560278" y="3631088"/>
            <a:ext cx="3423300" cy="423600"/>
          </a:xfrm>
          <a:prstGeom prst="rect">
            <a:avLst/>
          </a:prstGeom>
          <a:noFill/>
          <a:ln>
            <a:noFill/>
          </a:ln>
        </p:spPr>
        <p:txBody>
          <a:bodyPr anchorCtr="0" anchor="t" bIns="0" lIns="0" spcFirstLastPara="1" rIns="0" wrap="square" tIns="0">
            <a:normAutofit/>
          </a:bodyPr>
          <a:lstStyle>
            <a:lvl1pPr lvl="0" algn="r">
              <a:lnSpc>
                <a:spcPct val="125000"/>
              </a:lnSpc>
              <a:spcBef>
                <a:spcPts val="400"/>
              </a:spcBef>
              <a:spcAft>
                <a:spcPts val="0"/>
              </a:spcAft>
              <a:buSzPts val="1100"/>
              <a:buNone/>
              <a:defRPr sz="1100"/>
            </a:lvl1pPr>
            <a:lvl2pPr lvl="1" algn="r">
              <a:lnSpc>
                <a:spcPct val="125000"/>
              </a:lnSpc>
              <a:spcBef>
                <a:spcPts val="400"/>
              </a:spcBef>
              <a:spcAft>
                <a:spcPts val="0"/>
              </a:spcAft>
              <a:buSzPts val="1100"/>
              <a:buNone/>
              <a:defRPr sz="1100"/>
            </a:lvl2pPr>
            <a:lvl3pPr lvl="2" algn="r">
              <a:lnSpc>
                <a:spcPct val="125000"/>
              </a:lnSpc>
              <a:spcBef>
                <a:spcPts val="400"/>
              </a:spcBef>
              <a:spcAft>
                <a:spcPts val="0"/>
              </a:spcAft>
              <a:buSzPts val="1100"/>
              <a:buNone/>
              <a:defRPr sz="1100"/>
            </a:lvl3pPr>
            <a:lvl4pPr lvl="3" algn="r">
              <a:lnSpc>
                <a:spcPct val="125000"/>
              </a:lnSpc>
              <a:spcBef>
                <a:spcPts val="400"/>
              </a:spcBef>
              <a:spcAft>
                <a:spcPts val="0"/>
              </a:spcAft>
              <a:buSzPts val="1100"/>
              <a:buNone/>
              <a:defRPr sz="1100"/>
            </a:lvl4pPr>
            <a:lvl5pPr lvl="4" algn="r">
              <a:lnSpc>
                <a:spcPct val="125000"/>
              </a:lnSpc>
              <a:spcBef>
                <a:spcPts val="400"/>
              </a:spcBef>
              <a:spcAft>
                <a:spcPts val="0"/>
              </a:spcAft>
              <a:buSzPts val="1100"/>
              <a:buNone/>
              <a:defRPr sz="1100"/>
            </a:lvl5pPr>
            <a:lvl6pPr lvl="5" algn="r">
              <a:lnSpc>
                <a:spcPct val="125000"/>
              </a:lnSpc>
              <a:spcBef>
                <a:spcPts val="400"/>
              </a:spcBef>
              <a:spcAft>
                <a:spcPts val="0"/>
              </a:spcAft>
              <a:buSzPts val="1100"/>
              <a:buNone/>
              <a:defRPr sz="1100"/>
            </a:lvl6pPr>
            <a:lvl7pPr lvl="6" algn="r">
              <a:lnSpc>
                <a:spcPct val="125000"/>
              </a:lnSpc>
              <a:spcBef>
                <a:spcPts val="400"/>
              </a:spcBef>
              <a:spcAft>
                <a:spcPts val="0"/>
              </a:spcAft>
              <a:buSzPts val="1100"/>
              <a:buNone/>
              <a:defRPr sz="1100"/>
            </a:lvl7pPr>
            <a:lvl8pPr lvl="7" algn="r">
              <a:lnSpc>
                <a:spcPct val="125000"/>
              </a:lnSpc>
              <a:spcBef>
                <a:spcPts val="400"/>
              </a:spcBef>
              <a:spcAft>
                <a:spcPts val="0"/>
              </a:spcAft>
              <a:buSzPts val="1100"/>
              <a:buNone/>
              <a:defRPr sz="1100"/>
            </a:lvl8pPr>
            <a:lvl9pPr lvl="8" algn="r">
              <a:lnSpc>
                <a:spcPct val="125000"/>
              </a:lnSpc>
              <a:spcBef>
                <a:spcPts val="400"/>
              </a:spcBef>
              <a:spcAft>
                <a:spcPts val="400"/>
              </a:spcAft>
              <a:buSzPts val="1100"/>
              <a:buNone/>
              <a:defRPr sz="1100"/>
            </a:lvl9pPr>
          </a:lstStyle>
          <a:p/>
        </p:txBody>
      </p:sp>
      <p:sp>
        <p:nvSpPr>
          <p:cNvPr id="77" name="Google Shape;77;p10"/>
          <p:cNvSpPr txBox="1"/>
          <p:nvPr>
            <p:ph idx="2"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dk2"/>
              </a:buClr>
              <a:buSzPts val="600"/>
              <a:buNone/>
              <a:defRPr sz="600"/>
            </a:lvl1pPr>
            <a:lvl2pPr lvl="1" algn="l">
              <a:lnSpc>
                <a:spcPct val="125000"/>
              </a:lnSpc>
              <a:spcBef>
                <a:spcPts val="400"/>
              </a:spcBef>
              <a:spcAft>
                <a:spcPts val="0"/>
              </a:spcAft>
              <a:buSzPts val="1200"/>
              <a:buNone/>
              <a:defRPr/>
            </a:lvl2pPr>
            <a:lvl3pPr lvl="2" algn="l">
              <a:lnSpc>
                <a:spcPct val="125000"/>
              </a:lnSpc>
              <a:spcBef>
                <a:spcPts val="400"/>
              </a:spcBef>
              <a:spcAft>
                <a:spcPts val="0"/>
              </a:spcAft>
              <a:buClr>
                <a:schemeClr val="dk2"/>
              </a:buClr>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78" name="Google Shape;78;p10"/>
          <p:cNvSpPr/>
          <p:nvPr/>
        </p:nvSpPr>
        <p:spPr>
          <a:xfrm flipH="1">
            <a:off x="8037030" y="0"/>
            <a:ext cx="1151100" cy="51720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79" name="Google Shape;79;p10"/>
          <p:cNvPicPr preferRelativeResize="0"/>
          <p:nvPr/>
        </p:nvPicPr>
        <p:blipFill rotWithShape="1">
          <a:blip r:embed="rId2">
            <a:alphaModFix/>
          </a:blip>
          <a:srcRect b="0" l="0" r="0" t="0"/>
          <a:stretch/>
        </p:blipFill>
        <p:spPr>
          <a:xfrm>
            <a:off x="8335982" y="426924"/>
            <a:ext cx="553002" cy="572625"/>
          </a:xfrm>
          <a:prstGeom prst="rect">
            <a:avLst/>
          </a:prstGeom>
          <a:noFill/>
          <a:ln>
            <a:noFill/>
          </a:ln>
        </p:spPr>
      </p:pic>
      <p:sp>
        <p:nvSpPr>
          <p:cNvPr id="80" name="Google Shape;80;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slide">
  <p:cSld name="CUSTOM_1_2">
    <p:spTree>
      <p:nvGrpSpPr>
        <p:cNvPr id="81" name="Shape 81"/>
        <p:cNvGrpSpPr/>
        <p:nvPr/>
      </p:nvGrpSpPr>
      <p:grpSpPr>
        <a:xfrm>
          <a:off x="0" y="0"/>
          <a:ext cx="0" cy="0"/>
          <a:chOff x="0" y="0"/>
          <a:chExt cx="0" cy="0"/>
        </a:xfrm>
      </p:grpSpPr>
      <p:pic>
        <p:nvPicPr>
          <p:cNvPr id="82" name="Google Shape;82;p11"/>
          <p:cNvPicPr preferRelativeResize="0"/>
          <p:nvPr/>
        </p:nvPicPr>
        <p:blipFill rotWithShape="1">
          <a:blip r:embed="rId2">
            <a:alphaModFix/>
          </a:blip>
          <a:srcRect b="0" l="0" r="0" t="0"/>
          <a:stretch/>
        </p:blipFill>
        <p:spPr>
          <a:xfrm>
            <a:off x="513012" y="4879810"/>
            <a:ext cx="85535" cy="68559"/>
          </a:xfrm>
          <a:prstGeom prst="rect">
            <a:avLst/>
          </a:prstGeom>
          <a:noFill/>
          <a:ln>
            <a:noFill/>
          </a:ln>
        </p:spPr>
      </p:pic>
      <p:sp>
        <p:nvSpPr>
          <p:cNvPr id="83" name="Google Shape;83;p11"/>
          <p:cNvSpPr txBox="1"/>
          <p:nvPr>
            <p:ph type="title"/>
          </p:nvPr>
        </p:nvSpPr>
        <p:spPr>
          <a:xfrm>
            <a:off x="643492" y="426919"/>
            <a:ext cx="36993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9pPr>
          </a:lstStyle>
          <a:p/>
        </p:txBody>
      </p:sp>
      <p:sp>
        <p:nvSpPr>
          <p:cNvPr id="84" name="Google Shape;84;p11"/>
          <p:cNvSpPr txBox="1"/>
          <p:nvPr>
            <p:ph idx="1" type="body"/>
          </p:nvPr>
        </p:nvSpPr>
        <p:spPr>
          <a:xfrm>
            <a:off x="643492" y="1442871"/>
            <a:ext cx="3699300" cy="2639700"/>
          </a:xfrm>
          <a:prstGeom prst="rect">
            <a:avLst/>
          </a:prstGeom>
          <a:noFill/>
          <a:ln>
            <a:noFill/>
          </a:ln>
        </p:spPr>
        <p:txBody>
          <a:bodyPr anchorCtr="0" anchor="t" bIns="0" lIns="0" spcFirstLastPara="1" rIns="0" wrap="square" tIns="0">
            <a:noAutofit/>
          </a:bodyPr>
          <a:lstStyle>
            <a:lvl1pPr indent="-285750" lvl="0" marL="457200" algn="l">
              <a:lnSpc>
                <a:spcPct val="135000"/>
              </a:lnSpc>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85750" lvl="1" marL="9144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2pPr>
            <a:lvl3pPr indent="-285750" lvl="2" marL="13716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3pPr>
            <a:lvl4pPr indent="-285750" lvl="3" marL="18288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4pPr>
            <a:lvl5pPr indent="-285750" lvl="4" marL="22860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5pPr>
            <a:lvl6pPr indent="-285750" lvl="5" marL="27432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6pPr>
            <a:lvl7pPr indent="-285750" lvl="6" marL="32004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7pPr>
            <a:lvl8pPr indent="-285750" lvl="7" marL="36576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8pPr>
            <a:lvl9pPr indent="-285750" lvl="8" marL="4114800" algn="l">
              <a:lnSpc>
                <a:spcPct val="135000"/>
              </a:lnSpc>
              <a:spcBef>
                <a:spcPts val="1500"/>
              </a:spcBef>
              <a:spcAft>
                <a:spcPts val="1500"/>
              </a:spcAft>
              <a:buSzPts val="900"/>
              <a:buFont typeface="Montserrat Light"/>
              <a:buChar char="■"/>
              <a:defRPr sz="900">
                <a:latin typeface="Montserrat Light"/>
                <a:ea typeface="Montserrat Light"/>
                <a:cs typeface="Montserrat Light"/>
                <a:sym typeface="Montserrat Light"/>
              </a:defRPr>
            </a:lvl9pPr>
          </a:lstStyle>
          <a:p/>
        </p:txBody>
      </p:sp>
      <p:sp>
        <p:nvSpPr>
          <p:cNvPr id="85" name="Google Shape;85;p11"/>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86" name="Google Shape;86;p11"/>
          <p:cNvPicPr preferRelativeResize="0"/>
          <p:nvPr/>
        </p:nvPicPr>
        <p:blipFill rotWithShape="1">
          <a:blip r:embed="rId3">
            <a:alphaModFix/>
          </a:blip>
          <a:srcRect b="0" l="0" r="0" t="0"/>
          <a:stretch/>
        </p:blipFill>
        <p:spPr>
          <a:xfrm>
            <a:off x="7991468" y="4501355"/>
            <a:ext cx="553002" cy="572625"/>
          </a:xfrm>
          <a:prstGeom prst="rect">
            <a:avLst/>
          </a:prstGeom>
          <a:noFill/>
          <a:ln>
            <a:noFill/>
          </a:ln>
        </p:spPr>
      </p:pic>
      <p:sp>
        <p:nvSpPr>
          <p:cNvPr id="87" name="Google Shape;87;p11"/>
          <p:cNvSpPr txBox="1"/>
          <p:nvPr>
            <p:ph idx="2"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88" name="Google Shape;88;p11"/>
          <p:cNvSpPr txBox="1"/>
          <p:nvPr>
            <p:ph idx="3" type="subTitle"/>
          </p:nvPr>
        </p:nvSpPr>
        <p:spPr>
          <a:xfrm>
            <a:off x="643492" y="999541"/>
            <a:ext cx="36993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100"/>
              <a:buNone/>
              <a:defRPr sz="1100"/>
            </a:lvl1pPr>
            <a:lvl2pPr lvl="1" algn="l">
              <a:lnSpc>
                <a:spcPct val="125000"/>
              </a:lnSpc>
              <a:spcBef>
                <a:spcPts val="400"/>
              </a:spcBef>
              <a:spcAft>
                <a:spcPts val="0"/>
              </a:spcAft>
              <a:buClr>
                <a:schemeClr val="accent2"/>
              </a:buClr>
              <a:buSzPts val="1100"/>
              <a:buNone/>
              <a:defRPr sz="1100">
                <a:solidFill>
                  <a:schemeClr val="accent2"/>
                </a:solidFill>
              </a:defRPr>
            </a:lvl2pPr>
            <a:lvl3pPr lvl="2" algn="l">
              <a:lnSpc>
                <a:spcPct val="125000"/>
              </a:lnSpc>
              <a:spcBef>
                <a:spcPts val="400"/>
              </a:spcBef>
              <a:spcAft>
                <a:spcPts val="0"/>
              </a:spcAft>
              <a:buClr>
                <a:schemeClr val="accent2"/>
              </a:buClr>
              <a:buSzPts val="1100"/>
              <a:buNone/>
              <a:defRPr sz="1100">
                <a:solidFill>
                  <a:schemeClr val="accent2"/>
                </a:solidFill>
              </a:defRPr>
            </a:lvl3pPr>
            <a:lvl4pPr lvl="3" algn="l">
              <a:lnSpc>
                <a:spcPct val="125000"/>
              </a:lnSpc>
              <a:spcBef>
                <a:spcPts val="400"/>
              </a:spcBef>
              <a:spcAft>
                <a:spcPts val="0"/>
              </a:spcAft>
              <a:buClr>
                <a:schemeClr val="accent2"/>
              </a:buClr>
              <a:buSzPts val="1100"/>
              <a:buNone/>
              <a:defRPr sz="1100">
                <a:solidFill>
                  <a:schemeClr val="accent2"/>
                </a:solidFill>
              </a:defRPr>
            </a:lvl4pPr>
            <a:lvl5pPr lvl="4" algn="l">
              <a:lnSpc>
                <a:spcPct val="125000"/>
              </a:lnSpc>
              <a:spcBef>
                <a:spcPts val="400"/>
              </a:spcBef>
              <a:spcAft>
                <a:spcPts val="0"/>
              </a:spcAft>
              <a:buClr>
                <a:schemeClr val="accent2"/>
              </a:buClr>
              <a:buSzPts val="1100"/>
              <a:buNone/>
              <a:defRPr sz="1100">
                <a:solidFill>
                  <a:schemeClr val="accent2"/>
                </a:solidFill>
              </a:defRPr>
            </a:lvl5pPr>
            <a:lvl6pPr lvl="5" algn="l">
              <a:lnSpc>
                <a:spcPct val="125000"/>
              </a:lnSpc>
              <a:spcBef>
                <a:spcPts val="400"/>
              </a:spcBef>
              <a:spcAft>
                <a:spcPts val="0"/>
              </a:spcAft>
              <a:buClr>
                <a:schemeClr val="accent2"/>
              </a:buClr>
              <a:buSzPts val="1100"/>
              <a:buNone/>
              <a:defRPr sz="1100">
                <a:solidFill>
                  <a:schemeClr val="accent2"/>
                </a:solidFill>
              </a:defRPr>
            </a:lvl6pPr>
            <a:lvl7pPr lvl="6" algn="l">
              <a:lnSpc>
                <a:spcPct val="125000"/>
              </a:lnSpc>
              <a:spcBef>
                <a:spcPts val="400"/>
              </a:spcBef>
              <a:spcAft>
                <a:spcPts val="0"/>
              </a:spcAft>
              <a:buClr>
                <a:schemeClr val="accent2"/>
              </a:buClr>
              <a:buSzPts val="1100"/>
              <a:buNone/>
              <a:defRPr sz="1100">
                <a:solidFill>
                  <a:schemeClr val="accent2"/>
                </a:solidFill>
              </a:defRPr>
            </a:lvl7pPr>
            <a:lvl8pPr lvl="7" algn="l">
              <a:lnSpc>
                <a:spcPct val="125000"/>
              </a:lnSpc>
              <a:spcBef>
                <a:spcPts val="400"/>
              </a:spcBef>
              <a:spcAft>
                <a:spcPts val="0"/>
              </a:spcAft>
              <a:buClr>
                <a:schemeClr val="accent2"/>
              </a:buClr>
              <a:buSzPts val="1100"/>
              <a:buNone/>
              <a:defRPr sz="1100">
                <a:solidFill>
                  <a:schemeClr val="accent2"/>
                </a:solidFill>
              </a:defRPr>
            </a:lvl8pPr>
            <a:lvl9pPr lvl="8" algn="l">
              <a:lnSpc>
                <a:spcPct val="125000"/>
              </a:lnSpc>
              <a:spcBef>
                <a:spcPts val="400"/>
              </a:spcBef>
              <a:spcAft>
                <a:spcPts val="400"/>
              </a:spcAft>
              <a:buClr>
                <a:schemeClr val="accent2"/>
              </a:buClr>
              <a:buSzPts val="1100"/>
              <a:buNone/>
              <a:defRPr sz="1100">
                <a:solidFill>
                  <a:schemeClr val="accent2"/>
                </a:solidFill>
              </a:defRPr>
            </a:lvl9pPr>
          </a:lstStyle>
          <a:p/>
        </p:txBody>
      </p:sp>
      <p:sp>
        <p:nvSpPr>
          <p:cNvPr id="89" name="Google Shape;89;p1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ld statement slide (blue)">
  <p:cSld name="MAIN_POINT_1">
    <p:spTree>
      <p:nvGrpSpPr>
        <p:cNvPr id="90" name="Shape 90"/>
        <p:cNvGrpSpPr/>
        <p:nvPr/>
      </p:nvGrpSpPr>
      <p:grpSpPr>
        <a:xfrm>
          <a:off x="0" y="0"/>
          <a:ext cx="0" cy="0"/>
          <a:chOff x="0" y="0"/>
          <a:chExt cx="0" cy="0"/>
        </a:xfrm>
      </p:grpSpPr>
      <p:sp>
        <p:nvSpPr>
          <p:cNvPr id="91" name="Google Shape;91;p12"/>
          <p:cNvSpPr txBox="1"/>
          <p:nvPr/>
        </p:nvSpPr>
        <p:spPr>
          <a:xfrm>
            <a:off x="-19" y="0"/>
            <a:ext cx="9144000" cy="5143500"/>
          </a:xfrm>
          <a:prstGeom prst="rect">
            <a:avLst/>
          </a:prstGeom>
          <a:solidFill>
            <a:srgbClr val="00ADDC"/>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92" name="Google Shape;92;p12"/>
          <p:cNvSpPr txBox="1"/>
          <p:nvPr>
            <p:ph type="title"/>
          </p:nvPr>
        </p:nvSpPr>
        <p:spPr>
          <a:xfrm>
            <a:off x="490250" y="450150"/>
            <a:ext cx="6367800" cy="40908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accent6"/>
              </a:buClr>
              <a:buSzPts val="5300"/>
              <a:buNone/>
              <a:defRPr b="1" sz="5300">
                <a:solidFill>
                  <a:schemeClr val="accent6"/>
                </a:solidFill>
              </a:defRPr>
            </a:lvl1pPr>
            <a:lvl2pPr lvl="1"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2pPr>
            <a:lvl3pPr lvl="2"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3pPr>
            <a:lvl4pPr lvl="3"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4pPr>
            <a:lvl5pPr lvl="4"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5pPr>
            <a:lvl6pPr lvl="5"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6pPr>
            <a:lvl7pPr lvl="6"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7pPr>
            <a:lvl8pPr lvl="7"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8pPr>
            <a:lvl9pPr lvl="8"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9pPr>
          </a:lstStyle>
          <a:p/>
        </p:txBody>
      </p:sp>
      <p:pic>
        <p:nvPicPr>
          <p:cNvPr id="93" name="Google Shape;93;p12"/>
          <p:cNvPicPr preferRelativeResize="0"/>
          <p:nvPr/>
        </p:nvPicPr>
        <p:blipFill rotWithShape="1">
          <a:blip r:embed="rId2">
            <a:alphaModFix/>
          </a:blip>
          <a:srcRect b="0" l="0" r="0" t="0"/>
          <a:stretch/>
        </p:blipFill>
        <p:spPr>
          <a:xfrm>
            <a:off x="8176220" y="4288224"/>
            <a:ext cx="553002" cy="572625"/>
          </a:xfrm>
          <a:prstGeom prst="rect">
            <a:avLst/>
          </a:prstGeom>
          <a:noFill/>
          <a:ln>
            <a:noFill/>
          </a:ln>
        </p:spPr>
      </p:pic>
      <p:sp>
        <p:nvSpPr>
          <p:cNvPr id="94" name="Google Shape;94;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ld statement slide (pink)">
  <p:cSld name="MAIN_POINT_1_1">
    <p:spTree>
      <p:nvGrpSpPr>
        <p:cNvPr id="95" name="Shape 95"/>
        <p:cNvGrpSpPr/>
        <p:nvPr/>
      </p:nvGrpSpPr>
      <p:grpSpPr>
        <a:xfrm>
          <a:off x="0" y="0"/>
          <a:ext cx="0" cy="0"/>
          <a:chOff x="0" y="0"/>
          <a:chExt cx="0" cy="0"/>
        </a:xfrm>
      </p:grpSpPr>
      <p:sp>
        <p:nvSpPr>
          <p:cNvPr id="96" name="Google Shape;96;p13"/>
          <p:cNvSpPr txBox="1"/>
          <p:nvPr/>
        </p:nvSpPr>
        <p:spPr>
          <a:xfrm>
            <a:off x="-19" y="0"/>
            <a:ext cx="9144000" cy="5143500"/>
          </a:xfrm>
          <a:prstGeom prst="rect">
            <a:avLst/>
          </a:prstGeom>
          <a:solidFill>
            <a:srgbClr val="FF0099"/>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97" name="Google Shape;97;p13"/>
          <p:cNvSpPr txBox="1"/>
          <p:nvPr>
            <p:ph type="title"/>
          </p:nvPr>
        </p:nvSpPr>
        <p:spPr>
          <a:xfrm>
            <a:off x="490250" y="450150"/>
            <a:ext cx="6367800" cy="40908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accent6"/>
              </a:buClr>
              <a:buSzPts val="5300"/>
              <a:buNone/>
              <a:defRPr b="1" sz="5300">
                <a:solidFill>
                  <a:schemeClr val="accent6"/>
                </a:solidFill>
              </a:defRPr>
            </a:lvl1pPr>
            <a:lvl2pPr lvl="1" algn="l">
              <a:lnSpc>
                <a:spcPct val="100000"/>
              </a:lnSpc>
              <a:spcBef>
                <a:spcPts val="0"/>
              </a:spcBef>
              <a:spcAft>
                <a:spcPts val="0"/>
              </a:spcAft>
              <a:buClr>
                <a:schemeClr val="accent6"/>
              </a:buClr>
              <a:buSzPts val="5300"/>
              <a:buNone/>
              <a:defRPr b="1" sz="5300">
                <a:solidFill>
                  <a:schemeClr val="accent6"/>
                </a:solidFill>
              </a:defRPr>
            </a:lvl2pPr>
            <a:lvl3pPr lvl="2" algn="l">
              <a:lnSpc>
                <a:spcPct val="100000"/>
              </a:lnSpc>
              <a:spcBef>
                <a:spcPts val="0"/>
              </a:spcBef>
              <a:spcAft>
                <a:spcPts val="0"/>
              </a:spcAft>
              <a:buClr>
                <a:schemeClr val="accent6"/>
              </a:buClr>
              <a:buSzPts val="5300"/>
              <a:buNone/>
              <a:defRPr b="1" sz="5300">
                <a:solidFill>
                  <a:schemeClr val="accent6"/>
                </a:solidFill>
              </a:defRPr>
            </a:lvl3pPr>
            <a:lvl4pPr lvl="3" algn="l">
              <a:lnSpc>
                <a:spcPct val="100000"/>
              </a:lnSpc>
              <a:spcBef>
                <a:spcPts val="0"/>
              </a:spcBef>
              <a:spcAft>
                <a:spcPts val="0"/>
              </a:spcAft>
              <a:buClr>
                <a:schemeClr val="accent6"/>
              </a:buClr>
              <a:buSzPts val="5300"/>
              <a:buNone/>
              <a:defRPr b="1" sz="5300">
                <a:solidFill>
                  <a:schemeClr val="accent6"/>
                </a:solidFill>
              </a:defRPr>
            </a:lvl4pPr>
            <a:lvl5pPr lvl="4" algn="l">
              <a:lnSpc>
                <a:spcPct val="100000"/>
              </a:lnSpc>
              <a:spcBef>
                <a:spcPts val="0"/>
              </a:spcBef>
              <a:spcAft>
                <a:spcPts val="0"/>
              </a:spcAft>
              <a:buClr>
                <a:schemeClr val="accent6"/>
              </a:buClr>
              <a:buSzPts val="5300"/>
              <a:buNone/>
              <a:defRPr b="1" sz="5300">
                <a:solidFill>
                  <a:schemeClr val="accent6"/>
                </a:solidFill>
              </a:defRPr>
            </a:lvl5pPr>
            <a:lvl6pPr lvl="5" algn="l">
              <a:lnSpc>
                <a:spcPct val="100000"/>
              </a:lnSpc>
              <a:spcBef>
                <a:spcPts val="0"/>
              </a:spcBef>
              <a:spcAft>
                <a:spcPts val="0"/>
              </a:spcAft>
              <a:buClr>
                <a:schemeClr val="accent6"/>
              </a:buClr>
              <a:buSzPts val="5300"/>
              <a:buNone/>
              <a:defRPr b="1" sz="5300">
                <a:solidFill>
                  <a:schemeClr val="accent6"/>
                </a:solidFill>
              </a:defRPr>
            </a:lvl6pPr>
            <a:lvl7pPr lvl="6" algn="l">
              <a:lnSpc>
                <a:spcPct val="100000"/>
              </a:lnSpc>
              <a:spcBef>
                <a:spcPts val="0"/>
              </a:spcBef>
              <a:spcAft>
                <a:spcPts val="0"/>
              </a:spcAft>
              <a:buClr>
                <a:schemeClr val="accent6"/>
              </a:buClr>
              <a:buSzPts val="5300"/>
              <a:buNone/>
              <a:defRPr b="1" sz="5300">
                <a:solidFill>
                  <a:schemeClr val="accent6"/>
                </a:solidFill>
              </a:defRPr>
            </a:lvl7pPr>
            <a:lvl8pPr lvl="7" algn="l">
              <a:lnSpc>
                <a:spcPct val="100000"/>
              </a:lnSpc>
              <a:spcBef>
                <a:spcPts val="0"/>
              </a:spcBef>
              <a:spcAft>
                <a:spcPts val="0"/>
              </a:spcAft>
              <a:buClr>
                <a:schemeClr val="accent6"/>
              </a:buClr>
              <a:buSzPts val="5300"/>
              <a:buNone/>
              <a:defRPr b="1" sz="5300">
                <a:solidFill>
                  <a:schemeClr val="accent6"/>
                </a:solidFill>
              </a:defRPr>
            </a:lvl8pPr>
            <a:lvl9pPr lvl="8" algn="l">
              <a:lnSpc>
                <a:spcPct val="100000"/>
              </a:lnSpc>
              <a:spcBef>
                <a:spcPts val="0"/>
              </a:spcBef>
              <a:spcAft>
                <a:spcPts val="0"/>
              </a:spcAft>
              <a:buClr>
                <a:schemeClr val="accent6"/>
              </a:buClr>
              <a:buSzPts val="5300"/>
              <a:buNone/>
              <a:defRPr b="1" sz="5300">
                <a:solidFill>
                  <a:schemeClr val="accent6"/>
                </a:solidFill>
              </a:defRPr>
            </a:lvl9pPr>
          </a:lstStyle>
          <a:p/>
        </p:txBody>
      </p:sp>
      <p:pic>
        <p:nvPicPr>
          <p:cNvPr id="98" name="Google Shape;98;p13"/>
          <p:cNvPicPr preferRelativeResize="0"/>
          <p:nvPr/>
        </p:nvPicPr>
        <p:blipFill rotWithShape="1">
          <a:blip r:embed="rId2">
            <a:alphaModFix/>
          </a:blip>
          <a:srcRect b="0" l="0" r="0" t="0"/>
          <a:stretch/>
        </p:blipFill>
        <p:spPr>
          <a:xfrm>
            <a:off x="8176220" y="4288224"/>
            <a:ext cx="553002" cy="572625"/>
          </a:xfrm>
          <a:prstGeom prst="rect">
            <a:avLst/>
          </a:prstGeom>
          <a:noFill/>
          <a:ln>
            <a:noFill/>
          </a:ln>
        </p:spPr>
      </p:pic>
      <p:sp>
        <p:nvSpPr>
          <p:cNvPr id="99" name="Google Shape;99;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ld statement slide (purple)">
  <p:cSld name="MAIN_POINT_1_1_1_1">
    <p:spTree>
      <p:nvGrpSpPr>
        <p:cNvPr id="100" name="Shape 100"/>
        <p:cNvGrpSpPr/>
        <p:nvPr/>
      </p:nvGrpSpPr>
      <p:grpSpPr>
        <a:xfrm>
          <a:off x="0" y="0"/>
          <a:ext cx="0" cy="0"/>
          <a:chOff x="0" y="0"/>
          <a:chExt cx="0" cy="0"/>
        </a:xfrm>
      </p:grpSpPr>
      <p:sp>
        <p:nvSpPr>
          <p:cNvPr id="101" name="Google Shape;101;p14"/>
          <p:cNvSpPr txBox="1"/>
          <p:nvPr/>
        </p:nvSpPr>
        <p:spPr>
          <a:xfrm>
            <a:off x="-19" y="0"/>
            <a:ext cx="9144000" cy="5143500"/>
          </a:xfrm>
          <a:prstGeom prst="rect">
            <a:avLst/>
          </a:prstGeom>
          <a:solidFill>
            <a:srgbClr val="8E83E4"/>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102" name="Google Shape;102;p14"/>
          <p:cNvSpPr txBox="1"/>
          <p:nvPr>
            <p:ph type="title"/>
          </p:nvPr>
        </p:nvSpPr>
        <p:spPr>
          <a:xfrm>
            <a:off x="490250" y="450150"/>
            <a:ext cx="6367800" cy="40908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accent6"/>
              </a:buClr>
              <a:buSzPts val="5300"/>
              <a:buNone/>
              <a:defRPr b="1" sz="5300">
                <a:solidFill>
                  <a:schemeClr val="accent6"/>
                </a:solidFill>
              </a:defRPr>
            </a:lvl1pPr>
            <a:lvl2pPr lvl="1" algn="l">
              <a:lnSpc>
                <a:spcPct val="100000"/>
              </a:lnSpc>
              <a:spcBef>
                <a:spcPts val="0"/>
              </a:spcBef>
              <a:spcAft>
                <a:spcPts val="0"/>
              </a:spcAft>
              <a:buClr>
                <a:schemeClr val="accent6"/>
              </a:buClr>
              <a:buSzPts val="5300"/>
              <a:buNone/>
              <a:defRPr b="1" sz="5300">
                <a:solidFill>
                  <a:schemeClr val="accent6"/>
                </a:solidFill>
              </a:defRPr>
            </a:lvl2pPr>
            <a:lvl3pPr lvl="2" algn="l">
              <a:lnSpc>
                <a:spcPct val="100000"/>
              </a:lnSpc>
              <a:spcBef>
                <a:spcPts val="0"/>
              </a:spcBef>
              <a:spcAft>
                <a:spcPts val="0"/>
              </a:spcAft>
              <a:buClr>
                <a:schemeClr val="accent6"/>
              </a:buClr>
              <a:buSzPts val="5300"/>
              <a:buNone/>
              <a:defRPr b="1" sz="5300">
                <a:solidFill>
                  <a:schemeClr val="accent6"/>
                </a:solidFill>
              </a:defRPr>
            </a:lvl3pPr>
            <a:lvl4pPr lvl="3" algn="l">
              <a:lnSpc>
                <a:spcPct val="100000"/>
              </a:lnSpc>
              <a:spcBef>
                <a:spcPts val="0"/>
              </a:spcBef>
              <a:spcAft>
                <a:spcPts val="0"/>
              </a:spcAft>
              <a:buClr>
                <a:schemeClr val="accent6"/>
              </a:buClr>
              <a:buSzPts val="5300"/>
              <a:buNone/>
              <a:defRPr b="1" sz="5300">
                <a:solidFill>
                  <a:schemeClr val="accent6"/>
                </a:solidFill>
              </a:defRPr>
            </a:lvl4pPr>
            <a:lvl5pPr lvl="4" algn="l">
              <a:lnSpc>
                <a:spcPct val="100000"/>
              </a:lnSpc>
              <a:spcBef>
                <a:spcPts val="0"/>
              </a:spcBef>
              <a:spcAft>
                <a:spcPts val="0"/>
              </a:spcAft>
              <a:buClr>
                <a:schemeClr val="accent6"/>
              </a:buClr>
              <a:buSzPts val="5300"/>
              <a:buNone/>
              <a:defRPr b="1" sz="5300">
                <a:solidFill>
                  <a:schemeClr val="accent6"/>
                </a:solidFill>
              </a:defRPr>
            </a:lvl5pPr>
            <a:lvl6pPr lvl="5" algn="l">
              <a:lnSpc>
                <a:spcPct val="100000"/>
              </a:lnSpc>
              <a:spcBef>
                <a:spcPts val="0"/>
              </a:spcBef>
              <a:spcAft>
                <a:spcPts val="0"/>
              </a:spcAft>
              <a:buClr>
                <a:schemeClr val="accent6"/>
              </a:buClr>
              <a:buSzPts val="5300"/>
              <a:buNone/>
              <a:defRPr b="1" sz="5300">
                <a:solidFill>
                  <a:schemeClr val="accent6"/>
                </a:solidFill>
              </a:defRPr>
            </a:lvl6pPr>
            <a:lvl7pPr lvl="6" algn="l">
              <a:lnSpc>
                <a:spcPct val="100000"/>
              </a:lnSpc>
              <a:spcBef>
                <a:spcPts val="0"/>
              </a:spcBef>
              <a:spcAft>
                <a:spcPts val="0"/>
              </a:spcAft>
              <a:buClr>
                <a:schemeClr val="accent6"/>
              </a:buClr>
              <a:buSzPts val="5300"/>
              <a:buNone/>
              <a:defRPr b="1" sz="5300">
                <a:solidFill>
                  <a:schemeClr val="accent6"/>
                </a:solidFill>
              </a:defRPr>
            </a:lvl7pPr>
            <a:lvl8pPr lvl="7" algn="l">
              <a:lnSpc>
                <a:spcPct val="100000"/>
              </a:lnSpc>
              <a:spcBef>
                <a:spcPts val="0"/>
              </a:spcBef>
              <a:spcAft>
                <a:spcPts val="0"/>
              </a:spcAft>
              <a:buClr>
                <a:schemeClr val="accent6"/>
              </a:buClr>
              <a:buSzPts val="5300"/>
              <a:buNone/>
              <a:defRPr b="1" sz="5300">
                <a:solidFill>
                  <a:schemeClr val="accent6"/>
                </a:solidFill>
              </a:defRPr>
            </a:lvl8pPr>
            <a:lvl9pPr lvl="8" algn="l">
              <a:lnSpc>
                <a:spcPct val="100000"/>
              </a:lnSpc>
              <a:spcBef>
                <a:spcPts val="0"/>
              </a:spcBef>
              <a:spcAft>
                <a:spcPts val="0"/>
              </a:spcAft>
              <a:buClr>
                <a:schemeClr val="accent6"/>
              </a:buClr>
              <a:buSzPts val="5300"/>
              <a:buNone/>
              <a:defRPr b="1" sz="5300">
                <a:solidFill>
                  <a:schemeClr val="accent6"/>
                </a:solidFill>
              </a:defRPr>
            </a:lvl9pPr>
          </a:lstStyle>
          <a:p/>
        </p:txBody>
      </p:sp>
      <p:pic>
        <p:nvPicPr>
          <p:cNvPr id="103" name="Google Shape;103;p14"/>
          <p:cNvPicPr preferRelativeResize="0"/>
          <p:nvPr/>
        </p:nvPicPr>
        <p:blipFill rotWithShape="1">
          <a:blip r:embed="rId2">
            <a:alphaModFix/>
          </a:blip>
          <a:srcRect b="0" l="0" r="0" t="0"/>
          <a:stretch/>
        </p:blipFill>
        <p:spPr>
          <a:xfrm>
            <a:off x="8176220" y="4288224"/>
            <a:ext cx="553002" cy="572625"/>
          </a:xfrm>
          <a:prstGeom prst="rect">
            <a:avLst/>
          </a:prstGeom>
          <a:noFill/>
          <a:ln>
            <a:noFill/>
          </a:ln>
        </p:spPr>
      </p:pic>
      <p:sp>
        <p:nvSpPr>
          <p:cNvPr id="104" name="Google Shape;104;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ld statement slide (green)">
  <p:cSld name="MAIN_POINT_1_1_1_1_1">
    <p:spTree>
      <p:nvGrpSpPr>
        <p:cNvPr id="105" name="Shape 105"/>
        <p:cNvGrpSpPr/>
        <p:nvPr/>
      </p:nvGrpSpPr>
      <p:grpSpPr>
        <a:xfrm>
          <a:off x="0" y="0"/>
          <a:ext cx="0" cy="0"/>
          <a:chOff x="0" y="0"/>
          <a:chExt cx="0" cy="0"/>
        </a:xfrm>
      </p:grpSpPr>
      <p:sp>
        <p:nvSpPr>
          <p:cNvPr id="106" name="Google Shape;106;p15"/>
          <p:cNvSpPr txBox="1"/>
          <p:nvPr/>
        </p:nvSpPr>
        <p:spPr>
          <a:xfrm>
            <a:off x="-19" y="0"/>
            <a:ext cx="9144000" cy="5143500"/>
          </a:xfrm>
          <a:prstGeom prst="rect">
            <a:avLst/>
          </a:prstGeom>
          <a:solidFill>
            <a:srgbClr val="71DB67"/>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107" name="Google Shape;107;p15"/>
          <p:cNvSpPr txBox="1"/>
          <p:nvPr>
            <p:ph type="title"/>
          </p:nvPr>
        </p:nvSpPr>
        <p:spPr>
          <a:xfrm>
            <a:off x="490250" y="450150"/>
            <a:ext cx="6367800" cy="40908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accent6"/>
              </a:buClr>
              <a:buSzPts val="5300"/>
              <a:buNone/>
              <a:defRPr b="1" sz="5300">
                <a:solidFill>
                  <a:schemeClr val="accent6"/>
                </a:solidFill>
              </a:defRPr>
            </a:lvl1pPr>
            <a:lvl2pPr lvl="1" algn="l">
              <a:lnSpc>
                <a:spcPct val="100000"/>
              </a:lnSpc>
              <a:spcBef>
                <a:spcPts val="0"/>
              </a:spcBef>
              <a:spcAft>
                <a:spcPts val="0"/>
              </a:spcAft>
              <a:buClr>
                <a:schemeClr val="accent6"/>
              </a:buClr>
              <a:buSzPts val="5300"/>
              <a:buNone/>
              <a:defRPr b="1" sz="5300">
                <a:solidFill>
                  <a:schemeClr val="accent6"/>
                </a:solidFill>
              </a:defRPr>
            </a:lvl2pPr>
            <a:lvl3pPr lvl="2" algn="l">
              <a:lnSpc>
                <a:spcPct val="100000"/>
              </a:lnSpc>
              <a:spcBef>
                <a:spcPts val="0"/>
              </a:spcBef>
              <a:spcAft>
                <a:spcPts val="0"/>
              </a:spcAft>
              <a:buClr>
                <a:schemeClr val="accent6"/>
              </a:buClr>
              <a:buSzPts val="5300"/>
              <a:buNone/>
              <a:defRPr b="1" sz="5300">
                <a:solidFill>
                  <a:schemeClr val="accent6"/>
                </a:solidFill>
              </a:defRPr>
            </a:lvl3pPr>
            <a:lvl4pPr lvl="3" algn="l">
              <a:lnSpc>
                <a:spcPct val="100000"/>
              </a:lnSpc>
              <a:spcBef>
                <a:spcPts val="0"/>
              </a:spcBef>
              <a:spcAft>
                <a:spcPts val="0"/>
              </a:spcAft>
              <a:buClr>
                <a:schemeClr val="accent6"/>
              </a:buClr>
              <a:buSzPts val="5300"/>
              <a:buNone/>
              <a:defRPr b="1" sz="5300">
                <a:solidFill>
                  <a:schemeClr val="accent6"/>
                </a:solidFill>
              </a:defRPr>
            </a:lvl4pPr>
            <a:lvl5pPr lvl="4" algn="l">
              <a:lnSpc>
                <a:spcPct val="100000"/>
              </a:lnSpc>
              <a:spcBef>
                <a:spcPts val="0"/>
              </a:spcBef>
              <a:spcAft>
                <a:spcPts val="0"/>
              </a:spcAft>
              <a:buClr>
                <a:schemeClr val="accent6"/>
              </a:buClr>
              <a:buSzPts val="5300"/>
              <a:buNone/>
              <a:defRPr b="1" sz="5300">
                <a:solidFill>
                  <a:schemeClr val="accent6"/>
                </a:solidFill>
              </a:defRPr>
            </a:lvl5pPr>
            <a:lvl6pPr lvl="5" algn="l">
              <a:lnSpc>
                <a:spcPct val="100000"/>
              </a:lnSpc>
              <a:spcBef>
                <a:spcPts val="0"/>
              </a:spcBef>
              <a:spcAft>
                <a:spcPts val="0"/>
              </a:spcAft>
              <a:buClr>
                <a:schemeClr val="accent6"/>
              </a:buClr>
              <a:buSzPts val="5300"/>
              <a:buNone/>
              <a:defRPr b="1" sz="5300">
                <a:solidFill>
                  <a:schemeClr val="accent6"/>
                </a:solidFill>
              </a:defRPr>
            </a:lvl6pPr>
            <a:lvl7pPr lvl="6" algn="l">
              <a:lnSpc>
                <a:spcPct val="100000"/>
              </a:lnSpc>
              <a:spcBef>
                <a:spcPts val="0"/>
              </a:spcBef>
              <a:spcAft>
                <a:spcPts val="0"/>
              </a:spcAft>
              <a:buClr>
                <a:schemeClr val="accent6"/>
              </a:buClr>
              <a:buSzPts val="5300"/>
              <a:buNone/>
              <a:defRPr b="1" sz="5300">
                <a:solidFill>
                  <a:schemeClr val="accent6"/>
                </a:solidFill>
              </a:defRPr>
            </a:lvl7pPr>
            <a:lvl8pPr lvl="7" algn="l">
              <a:lnSpc>
                <a:spcPct val="100000"/>
              </a:lnSpc>
              <a:spcBef>
                <a:spcPts val="0"/>
              </a:spcBef>
              <a:spcAft>
                <a:spcPts val="0"/>
              </a:spcAft>
              <a:buClr>
                <a:schemeClr val="accent6"/>
              </a:buClr>
              <a:buSzPts val="5300"/>
              <a:buNone/>
              <a:defRPr b="1" sz="5300">
                <a:solidFill>
                  <a:schemeClr val="accent6"/>
                </a:solidFill>
              </a:defRPr>
            </a:lvl8pPr>
            <a:lvl9pPr lvl="8" algn="l">
              <a:lnSpc>
                <a:spcPct val="100000"/>
              </a:lnSpc>
              <a:spcBef>
                <a:spcPts val="0"/>
              </a:spcBef>
              <a:spcAft>
                <a:spcPts val="0"/>
              </a:spcAft>
              <a:buClr>
                <a:schemeClr val="accent6"/>
              </a:buClr>
              <a:buSzPts val="5300"/>
              <a:buNone/>
              <a:defRPr b="1" sz="5300">
                <a:solidFill>
                  <a:schemeClr val="accent6"/>
                </a:solidFill>
              </a:defRPr>
            </a:lvl9pPr>
          </a:lstStyle>
          <a:p/>
        </p:txBody>
      </p:sp>
      <p:pic>
        <p:nvPicPr>
          <p:cNvPr id="108" name="Google Shape;108;p15"/>
          <p:cNvPicPr preferRelativeResize="0"/>
          <p:nvPr/>
        </p:nvPicPr>
        <p:blipFill rotWithShape="1">
          <a:blip r:embed="rId2">
            <a:alphaModFix/>
          </a:blip>
          <a:srcRect b="0" l="0" r="0" t="0"/>
          <a:stretch/>
        </p:blipFill>
        <p:spPr>
          <a:xfrm>
            <a:off x="8176220" y="4288224"/>
            <a:ext cx="553002" cy="572625"/>
          </a:xfrm>
          <a:prstGeom prst="rect">
            <a:avLst/>
          </a:prstGeom>
          <a:noFill/>
          <a:ln>
            <a:noFill/>
          </a:ln>
        </p:spPr>
      </p:pic>
      <p:sp>
        <p:nvSpPr>
          <p:cNvPr id="109" name="Google Shape;109;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p:cSld name="Default slide (g3ecb34035fa_193_0)">
    <p:spTree>
      <p:nvGrpSpPr>
        <p:cNvPr id="110" name="Shape 110"/>
        <p:cNvGrpSpPr/>
        <p:nvPr/>
      </p:nvGrpSpPr>
      <p:grpSpPr>
        <a:xfrm>
          <a:off x="0" y="0"/>
          <a:ext cx="0" cy="0"/>
          <a:chOff x="0" y="0"/>
          <a:chExt cx="0" cy="0"/>
        </a:xfrm>
      </p:grpSpPr>
      <p:sp>
        <p:nvSpPr>
          <p:cNvPr id="111" name="Google Shape;111;p16"/>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112" name="Google Shape;112;p16"/>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13" name="Google Shape;113;p16"/>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114" name="Google Shape;114;p16"/>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115" name="Google Shape;115;p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2">
  <p:cSld name="Default slide (g3ecb34035fa_200_0)">
    <p:spTree>
      <p:nvGrpSpPr>
        <p:cNvPr id="116" name="Shape 116"/>
        <p:cNvGrpSpPr/>
        <p:nvPr/>
      </p:nvGrpSpPr>
      <p:grpSpPr>
        <a:xfrm>
          <a:off x="0" y="0"/>
          <a:ext cx="0" cy="0"/>
          <a:chOff x="0" y="0"/>
          <a:chExt cx="0" cy="0"/>
        </a:xfrm>
      </p:grpSpPr>
      <p:sp>
        <p:nvSpPr>
          <p:cNvPr id="117" name="Google Shape;117;p17"/>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118" name="Google Shape;118;p17"/>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19" name="Google Shape;119;p17"/>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120" name="Google Shape;120;p17"/>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121" name="Google Shape;121;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CUSTOM_1">
    <p:spTree>
      <p:nvGrpSpPr>
        <p:cNvPr id="126" name="Shape 126"/>
        <p:cNvGrpSpPr/>
        <p:nvPr/>
      </p:nvGrpSpPr>
      <p:grpSpPr>
        <a:xfrm>
          <a:off x="0" y="0"/>
          <a:ext cx="0" cy="0"/>
          <a:chOff x="0" y="0"/>
          <a:chExt cx="0" cy="0"/>
        </a:xfrm>
      </p:grpSpPr>
      <p:sp>
        <p:nvSpPr>
          <p:cNvPr id="127" name="Google Shape;127;p19"/>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sp>
        <p:nvSpPr>
          <p:cNvPr id="128" name="Google Shape;128;p19"/>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129" name="Google Shape;129;p19"/>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30" name="Google Shape;130;p19"/>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pic>
        <p:nvPicPr>
          <p:cNvPr id="131" name="Google Shape;131;p19"/>
          <p:cNvPicPr preferRelativeResize="0"/>
          <p:nvPr/>
        </p:nvPicPr>
        <p:blipFill rotWithShape="1">
          <a:blip r:embed="rId2">
            <a:alphaModFix/>
          </a:blip>
          <a:srcRect b="0" l="0" r="0" t="0"/>
          <a:stretch/>
        </p:blipFill>
        <p:spPr>
          <a:xfrm>
            <a:off x="7991468" y="4501355"/>
            <a:ext cx="553002" cy="572625"/>
          </a:xfrm>
          <a:prstGeom prst="rect">
            <a:avLst/>
          </a:prstGeom>
          <a:noFill/>
          <a:ln>
            <a:noFill/>
          </a:ln>
        </p:spPr>
      </p:pic>
      <p:sp>
        <p:nvSpPr>
          <p:cNvPr id="132" name="Google Shape;132;p19"/>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133" name="Google Shape;133;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4" name="Shape 134"/>
        <p:cNvGrpSpPr/>
        <p:nvPr/>
      </p:nvGrpSpPr>
      <p:grpSpPr>
        <a:xfrm>
          <a:off x="0" y="0"/>
          <a:ext cx="0" cy="0"/>
          <a:chOff x="0" y="0"/>
          <a:chExt cx="0" cy="0"/>
        </a:xfrm>
      </p:grpSpPr>
      <p:pic>
        <p:nvPicPr>
          <p:cNvPr id="135" name="Google Shape;135;p20"/>
          <p:cNvPicPr preferRelativeResize="0"/>
          <p:nvPr/>
        </p:nvPicPr>
        <p:blipFill rotWithShape="1">
          <a:blip r:embed="rId2">
            <a:alphaModFix/>
          </a:blip>
          <a:srcRect b="0" l="12049" r="0" t="0"/>
          <a:stretch/>
        </p:blipFill>
        <p:spPr>
          <a:xfrm>
            <a:off x="0" y="-63937"/>
            <a:ext cx="9229542" cy="5245914"/>
          </a:xfrm>
          <a:prstGeom prst="rect">
            <a:avLst/>
          </a:prstGeom>
          <a:noFill/>
          <a:ln>
            <a:noFill/>
          </a:ln>
        </p:spPr>
      </p:pic>
      <p:sp>
        <p:nvSpPr>
          <p:cNvPr id="136" name="Google Shape;136;p20"/>
          <p:cNvSpPr txBox="1"/>
          <p:nvPr>
            <p:ph type="title"/>
          </p:nvPr>
        </p:nvSpPr>
        <p:spPr>
          <a:xfrm>
            <a:off x="3210996" y="1805775"/>
            <a:ext cx="5334600" cy="1165200"/>
          </a:xfrm>
          <a:prstGeom prst="rect">
            <a:avLst/>
          </a:prstGeom>
          <a:noFill/>
          <a:ln>
            <a:noFill/>
          </a:ln>
        </p:spPr>
        <p:txBody>
          <a:bodyPr anchorCtr="0" anchor="b" bIns="0" lIns="0" spcFirstLastPara="1" rIns="0" wrap="square" tIns="0">
            <a:normAutofit/>
          </a:bodyPr>
          <a:lstStyle>
            <a:lvl1pPr lvl="0" algn="r">
              <a:lnSpc>
                <a:spcPct val="100000"/>
              </a:lnSpc>
              <a:spcBef>
                <a:spcPts val="0"/>
              </a:spcBef>
              <a:spcAft>
                <a:spcPts val="0"/>
              </a:spcAft>
              <a:buClr>
                <a:schemeClr val="lt1"/>
              </a:buClr>
              <a:buSzPts val="3800"/>
              <a:buFont typeface="Montserrat SemiBold"/>
              <a:buNone/>
              <a:defRPr sz="3800">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2pPr>
            <a:lvl3pPr lvl="2"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3pPr>
            <a:lvl4pPr lvl="3"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4pPr>
            <a:lvl5pPr lvl="4"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5pPr>
            <a:lvl6pPr lvl="5"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6pPr>
            <a:lvl7pPr lvl="6"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7pPr>
            <a:lvl8pPr lvl="7"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8pPr>
            <a:lvl9pPr lvl="8" algn="l">
              <a:lnSpc>
                <a:spcPct val="100000"/>
              </a:lnSpc>
              <a:spcBef>
                <a:spcPts val="0"/>
              </a:spcBef>
              <a:spcAft>
                <a:spcPts val="0"/>
              </a:spcAft>
              <a:buSzPts val="3800"/>
              <a:buFont typeface="Montserrat SemiBold"/>
              <a:buNone/>
              <a:defRPr sz="3800">
                <a:latin typeface="Montserrat SemiBold"/>
                <a:ea typeface="Montserrat SemiBold"/>
                <a:cs typeface="Montserrat SemiBold"/>
                <a:sym typeface="Montserrat SemiBold"/>
              </a:defRPr>
            </a:lvl9pPr>
          </a:lstStyle>
          <a:p/>
        </p:txBody>
      </p:sp>
      <p:sp>
        <p:nvSpPr>
          <p:cNvPr id="137" name="Google Shape;137;p20"/>
          <p:cNvSpPr txBox="1"/>
          <p:nvPr>
            <p:ph idx="1" type="subTitle"/>
          </p:nvPr>
        </p:nvSpPr>
        <p:spPr>
          <a:xfrm>
            <a:off x="3210372" y="3091519"/>
            <a:ext cx="5335500" cy="322800"/>
          </a:xfrm>
          <a:prstGeom prst="rect">
            <a:avLst/>
          </a:prstGeom>
          <a:noFill/>
          <a:ln>
            <a:noFill/>
          </a:ln>
        </p:spPr>
        <p:txBody>
          <a:bodyPr anchorCtr="0" anchor="t" bIns="0" lIns="0" spcFirstLastPara="1" rIns="0" wrap="square" tIns="0">
            <a:normAutofit/>
          </a:bodyPr>
          <a:lstStyle>
            <a:lvl1pPr lvl="0" algn="r">
              <a:lnSpc>
                <a:spcPct val="125000"/>
              </a:lnSpc>
              <a:spcBef>
                <a:spcPts val="400"/>
              </a:spcBef>
              <a:spcAft>
                <a:spcPts val="0"/>
              </a:spcAft>
              <a:buClr>
                <a:schemeClr val="lt1"/>
              </a:buClr>
              <a:buSzPts val="2100"/>
              <a:buFont typeface="Montserrat"/>
              <a:buNone/>
              <a:defRPr sz="2100">
                <a:solidFill>
                  <a:schemeClr val="lt1"/>
                </a:solidFill>
                <a:latin typeface="Montserrat"/>
                <a:ea typeface="Montserrat"/>
                <a:cs typeface="Montserrat"/>
                <a:sym typeface="Montserrat"/>
              </a:defRPr>
            </a:lvl1pPr>
            <a:lvl2pPr lvl="1"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2pPr>
            <a:lvl3pPr lvl="2"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3pPr>
            <a:lvl4pPr lvl="3"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4pPr>
            <a:lvl5pPr lvl="4"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5pPr>
            <a:lvl6pPr lvl="5"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6pPr>
            <a:lvl7pPr lvl="6"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7pPr>
            <a:lvl8pPr lvl="7" algn="r">
              <a:lnSpc>
                <a:spcPct val="125000"/>
              </a:lnSpc>
              <a:spcBef>
                <a:spcPts val="40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8pPr>
            <a:lvl9pPr lvl="8" algn="r">
              <a:lnSpc>
                <a:spcPct val="125000"/>
              </a:lnSpc>
              <a:spcBef>
                <a:spcPts val="400"/>
              </a:spcBef>
              <a:spcAft>
                <a:spcPts val="400"/>
              </a:spcAft>
              <a:buClr>
                <a:schemeClr val="lt1"/>
              </a:buClr>
              <a:buSzPts val="1400"/>
              <a:buFont typeface="Montserrat"/>
              <a:buNone/>
              <a:defRPr sz="1400">
                <a:solidFill>
                  <a:schemeClr val="lt1"/>
                </a:solidFill>
                <a:latin typeface="Montserrat"/>
                <a:ea typeface="Montserrat"/>
                <a:cs typeface="Montserrat"/>
                <a:sym typeface="Montserrat"/>
              </a:defRPr>
            </a:lvl9pPr>
          </a:lstStyle>
          <a:p/>
        </p:txBody>
      </p:sp>
      <p:pic>
        <p:nvPicPr>
          <p:cNvPr id="138" name="Google Shape;138;p20"/>
          <p:cNvPicPr preferRelativeResize="0"/>
          <p:nvPr/>
        </p:nvPicPr>
        <p:blipFill rotWithShape="1">
          <a:blip r:embed="rId3">
            <a:alphaModFix/>
          </a:blip>
          <a:srcRect b="0" l="0" r="0" t="0"/>
          <a:stretch/>
        </p:blipFill>
        <p:spPr>
          <a:xfrm>
            <a:off x="156339" y="329512"/>
            <a:ext cx="4109016" cy="1165276"/>
          </a:xfrm>
          <a:prstGeom prst="rect">
            <a:avLst/>
          </a:prstGeom>
          <a:noFill/>
          <a:ln>
            <a:noFill/>
          </a:ln>
        </p:spPr>
      </p:pic>
      <p:sp>
        <p:nvSpPr>
          <p:cNvPr id="139" name="Google Shape;139;p20"/>
          <p:cNvSpPr txBox="1"/>
          <p:nvPr>
            <p:ph idx="2" type="subTitle"/>
          </p:nvPr>
        </p:nvSpPr>
        <p:spPr>
          <a:xfrm>
            <a:off x="7013673" y="4006819"/>
            <a:ext cx="1520700" cy="461700"/>
          </a:xfrm>
          <a:prstGeom prst="rect">
            <a:avLst/>
          </a:prstGeom>
          <a:noFill/>
          <a:ln>
            <a:noFill/>
          </a:ln>
        </p:spPr>
        <p:txBody>
          <a:bodyPr anchorCtr="0" anchor="t" bIns="0" lIns="0" spcFirstLastPara="1" rIns="0" wrap="square" tIns="0">
            <a:normAutofit/>
          </a:bodyPr>
          <a:lstStyle>
            <a:lvl1pPr lvl="0" algn="l">
              <a:lnSpc>
                <a:spcPct val="100000"/>
              </a:lnSpc>
              <a:spcBef>
                <a:spcPts val="400"/>
              </a:spcBef>
              <a:spcAft>
                <a:spcPts val="0"/>
              </a:spcAft>
              <a:buClr>
                <a:schemeClr val="lt1"/>
              </a:buClr>
              <a:buSzPts val="1200"/>
              <a:buNone/>
              <a:defRPr>
                <a:solidFill>
                  <a:schemeClr val="lt1"/>
                </a:solidFill>
              </a:defRPr>
            </a:lvl1pPr>
            <a:lvl2pPr lvl="1" algn="l">
              <a:lnSpc>
                <a:spcPct val="100000"/>
              </a:lnSpc>
              <a:spcBef>
                <a:spcPts val="400"/>
              </a:spcBef>
              <a:spcAft>
                <a:spcPts val="0"/>
              </a:spcAft>
              <a:buSzPts val="1200"/>
              <a:buNone/>
              <a:defRPr/>
            </a:lvl2pPr>
            <a:lvl3pPr lvl="2" algn="l">
              <a:lnSpc>
                <a:spcPct val="100000"/>
              </a:lnSpc>
              <a:spcBef>
                <a:spcPts val="400"/>
              </a:spcBef>
              <a:spcAft>
                <a:spcPts val="0"/>
              </a:spcAft>
              <a:buSzPts val="1200"/>
              <a:buNone/>
              <a:defRPr/>
            </a:lvl3pPr>
            <a:lvl4pPr lvl="3" algn="l">
              <a:lnSpc>
                <a:spcPct val="100000"/>
              </a:lnSpc>
              <a:spcBef>
                <a:spcPts val="400"/>
              </a:spcBef>
              <a:spcAft>
                <a:spcPts val="0"/>
              </a:spcAft>
              <a:buSzPts val="1200"/>
              <a:buNone/>
              <a:defRPr/>
            </a:lvl4pPr>
            <a:lvl5pPr lvl="4" algn="l">
              <a:lnSpc>
                <a:spcPct val="100000"/>
              </a:lnSpc>
              <a:spcBef>
                <a:spcPts val="400"/>
              </a:spcBef>
              <a:spcAft>
                <a:spcPts val="0"/>
              </a:spcAft>
              <a:buSzPts val="1200"/>
              <a:buNone/>
              <a:defRPr/>
            </a:lvl5pPr>
            <a:lvl6pPr lvl="5" algn="l">
              <a:lnSpc>
                <a:spcPct val="100000"/>
              </a:lnSpc>
              <a:spcBef>
                <a:spcPts val="400"/>
              </a:spcBef>
              <a:spcAft>
                <a:spcPts val="0"/>
              </a:spcAft>
              <a:buSzPts val="1200"/>
              <a:buNone/>
              <a:defRPr/>
            </a:lvl6pPr>
            <a:lvl7pPr lvl="6" algn="l">
              <a:lnSpc>
                <a:spcPct val="100000"/>
              </a:lnSpc>
              <a:spcBef>
                <a:spcPts val="400"/>
              </a:spcBef>
              <a:spcAft>
                <a:spcPts val="0"/>
              </a:spcAft>
              <a:buSzPts val="1200"/>
              <a:buNone/>
              <a:defRPr/>
            </a:lvl7pPr>
            <a:lvl8pPr lvl="7" algn="l">
              <a:lnSpc>
                <a:spcPct val="100000"/>
              </a:lnSpc>
              <a:spcBef>
                <a:spcPts val="400"/>
              </a:spcBef>
              <a:spcAft>
                <a:spcPts val="0"/>
              </a:spcAft>
              <a:buSzPts val="1200"/>
              <a:buNone/>
              <a:defRPr/>
            </a:lvl8pPr>
            <a:lvl9pPr lvl="8" algn="l">
              <a:lnSpc>
                <a:spcPct val="100000"/>
              </a:lnSpc>
              <a:spcBef>
                <a:spcPts val="400"/>
              </a:spcBef>
              <a:spcAft>
                <a:spcPts val="400"/>
              </a:spcAft>
              <a:buSzPts val="1200"/>
              <a:buNone/>
              <a:defRPr/>
            </a:lvl9pPr>
          </a:lstStyle>
          <a:p/>
        </p:txBody>
      </p:sp>
      <p:sp>
        <p:nvSpPr>
          <p:cNvPr id="140" name="Google Shape;140;p20"/>
          <p:cNvSpPr txBox="1"/>
          <p:nvPr>
            <p:ph idx="3" type="subTitle"/>
          </p:nvPr>
        </p:nvSpPr>
        <p:spPr>
          <a:xfrm>
            <a:off x="4690605" y="4006819"/>
            <a:ext cx="1520700" cy="461700"/>
          </a:xfrm>
          <a:prstGeom prst="rect">
            <a:avLst/>
          </a:prstGeom>
          <a:noFill/>
          <a:ln>
            <a:noFill/>
          </a:ln>
        </p:spPr>
        <p:txBody>
          <a:bodyPr anchorCtr="0" anchor="t" bIns="0" lIns="0" spcFirstLastPara="1" rIns="0" wrap="square" tIns="0">
            <a:normAutofit/>
          </a:bodyPr>
          <a:lstStyle>
            <a:lvl1pPr lvl="0" algn="l">
              <a:lnSpc>
                <a:spcPct val="100000"/>
              </a:lnSpc>
              <a:spcBef>
                <a:spcPts val="400"/>
              </a:spcBef>
              <a:spcAft>
                <a:spcPts val="0"/>
              </a:spcAft>
              <a:buClr>
                <a:schemeClr val="lt1"/>
              </a:buClr>
              <a:buSzPts val="1200"/>
              <a:buNone/>
              <a:defRPr>
                <a:solidFill>
                  <a:schemeClr val="lt1"/>
                </a:solidFill>
              </a:defRPr>
            </a:lvl1pPr>
            <a:lvl2pPr lvl="1" algn="l">
              <a:lnSpc>
                <a:spcPct val="100000"/>
              </a:lnSpc>
              <a:spcBef>
                <a:spcPts val="400"/>
              </a:spcBef>
              <a:spcAft>
                <a:spcPts val="0"/>
              </a:spcAft>
              <a:buSzPts val="1200"/>
              <a:buNone/>
              <a:defRPr/>
            </a:lvl2pPr>
            <a:lvl3pPr lvl="2" algn="l">
              <a:lnSpc>
                <a:spcPct val="100000"/>
              </a:lnSpc>
              <a:spcBef>
                <a:spcPts val="400"/>
              </a:spcBef>
              <a:spcAft>
                <a:spcPts val="0"/>
              </a:spcAft>
              <a:buSzPts val="1200"/>
              <a:buNone/>
              <a:defRPr/>
            </a:lvl3pPr>
            <a:lvl4pPr lvl="3" algn="l">
              <a:lnSpc>
                <a:spcPct val="100000"/>
              </a:lnSpc>
              <a:spcBef>
                <a:spcPts val="400"/>
              </a:spcBef>
              <a:spcAft>
                <a:spcPts val="0"/>
              </a:spcAft>
              <a:buSzPts val="1200"/>
              <a:buNone/>
              <a:defRPr/>
            </a:lvl4pPr>
            <a:lvl5pPr lvl="4" algn="l">
              <a:lnSpc>
                <a:spcPct val="100000"/>
              </a:lnSpc>
              <a:spcBef>
                <a:spcPts val="400"/>
              </a:spcBef>
              <a:spcAft>
                <a:spcPts val="0"/>
              </a:spcAft>
              <a:buSzPts val="1200"/>
              <a:buNone/>
              <a:defRPr/>
            </a:lvl5pPr>
            <a:lvl6pPr lvl="5" algn="l">
              <a:lnSpc>
                <a:spcPct val="100000"/>
              </a:lnSpc>
              <a:spcBef>
                <a:spcPts val="400"/>
              </a:spcBef>
              <a:spcAft>
                <a:spcPts val="0"/>
              </a:spcAft>
              <a:buSzPts val="1200"/>
              <a:buNone/>
              <a:defRPr/>
            </a:lvl6pPr>
            <a:lvl7pPr lvl="6" algn="l">
              <a:lnSpc>
                <a:spcPct val="100000"/>
              </a:lnSpc>
              <a:spcBef>
                <a:spcPts val="400"/>
              </a:spcBef>
              <a:spcAft>
                <a:spcPts val="0"/>
              </a:spcAft>
              <a:buSzPts val="1200"/>
              <a:buNone/>
              <a:defRPr/>
            </a:lvl7pPr>
            <a:lvl8pPr lvl="7" algn="l">
              <a:lnSpc>
                <a:spcPct val="100000"/>
              </a:lnSpc>
              <a:spcBef>
                <a:spcPts val="400"/>
              </a:spcBef>
              <a:spcAft>
                <a:spcPts val="0"/>
              </a:spcAft>
              <a:buSzPts val="1200"/>
              <a:buNone/>
              <a:defRPr/>
            </a:lvl8pPr>
            <a:lvl9pPr lvl="8" algn="l">
              <a:lnSpc>
                <a:spcPct val="100000"/>
              </a:lnSpc>
              <a:spcBef>
                <a:spcPts val="400"/>
              </a:spcBef>
              <a:spcAft>
                <a:spcPts val="400"/>
              </a:spcAft>
              <a:buSzPts val="1200"/>
              <a:buNone/>
              <a:defRPr/>
            </a:lvl9pPr>
          </a:lstStyle>
          <a:p/>
        </p:txBody>
      </p:sp>
      <p:sp>
        <p:nvSpPr>
          <p:cNvPr id="141" name="Google Shape;141;p2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two columns)">
  <p:cSld name="CUSTOM_1_1">
    <p:spTree>
      <p:nvGrpSpPr>
        <p:cNvPr id="142" name="Shape 142"/>
        <p:cNvGrpSpPr/>
        <p:nvPr/>
      </p:nvGrpSpPr>
      <p:grpSpPr>
        <a:xfrm>
          <a:off x="0" y="0"/>
          <a:ext cx="0" cy="0"/>
          <a:chOff x="0" y="0"/>
          <a:chExt cx="0" cy="0"/>
        </a:xfrm>
      </p:grpSpPr>
      <p:sp>
        <p:nvSpPr>
          <p:cNvPr id="143" name="Google Shape;143;p21"/>
          <p:cNvSpPr txBox="1"/>
          <p:nvPr>
            <p:ph type="title"/>
          </p:nvPr>
        </p:nvSpPr>
        <p:spPr>
          <a:xfrm>
            <a:off x="643492" y="426919"/>
            <a:ext cx="7543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144" name="Google Shape;144;p21"/>
          <p:cNvSpPr txBox="1"/>
          <p:nvPr>
            <p:ph idx="1" type="body"/>
          </p:nvPr>
        </p:nvSpPr>
        <p:spPr>
          <a:xfrm>
            <a:off x="643492" y="1640996"/>
            <a:ext cx="35166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45" name="Google Shape;145;p21"/>
          <p:cNvSpPr txBox="1"/>
          <p:nvPr>
            <p:ph idx="2" type="subTitle"/>
          </p:nvPr>
        </p:nvSpPr>
        <p:spPr>
          <a:xfrm>
            <a:off x="643492" y="1197666"/>
            <a:ext cx="35166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l">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sp>
        <p:nvSpPr>
          <p:cNvPr id="146" name="Google Shape;146;p21"/>
          <p:cNvSpPr txBox="1"/>
          <p:nvPr>
            <p:ph idx="3" type="body"/>
          </p:nvPr>
        </p:nvSpPr>
        <p:spPr>
          <a:xfrm>
            <a:off x="4670200" y="1640987"/>
            <a:ext cx="35166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47" name="Google Shape;147;p21"/>
          <p:cNvSpPr txBox="1"/>
          <p:nvPr>
            <p:ph idx="4" type="subTitle"/>
          </p:nvPr>
        </p:nvSpPr>
        <p:spPr>
          <a:xfrm>
            <a:off x="4670200" y="1197656"/>
            <a:ext cx="35166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2pPr>
            <a:lvl3pPr lvl="2"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3pPr>
            <a:lvl4pPr lvl="3"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4pPr>
            <a:lvl5pPr lvl="4"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5pPr>
            <a:lvl6pPr lvl="5"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6pPr>
            <a:lvl7pPr lvl="6"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7pPr>
            <a:lvl8pPr lvl="7" algn="l">
              <a:lnSpc>
                <a:spcPct val="125000"/>
              </a:lnSpc>
              <a:spcBef>
                <a:spcPts val="400"/>
              </a:spcBef>
              <a:spcAft>
                <a:spcPts val="0"/>
              </a:spcAft>
              <a:buSzPts val="1200"/>
              <a:buFont typeface="Montserrat SemiBold"/>
              <a:buNone/>
              <a:defRPr>
                <a:latin typeface="Montserrat SemiBold"/>
                <a:ea typeface="Montserrat SemiBold"/>
                <a:cs typeface="Montserrat SemiBold"/>
                <a:sym typeface="Montserrat SemiBold"/>
              </a:defRPr>
            </a:lvl8pPr>
            <a:lvl9pPr lvl="8" algn="l">
              <a:lnSpc>
                <a:spcPct val="125000"/>
              </a:lnSpc>
              <a:spcBef>
                <a:spcPts val="400"/>
              </a:spcBef>
              <a:spcAft>
                <a:spcPts val="400"/>
              </a:spcAft>
              <a:buSzPts val="1200"/>
              <a:buFont typeface="Montserrat SemiBold"/>
              <a:buNone/>
              <a:defRPr>
                <a:latin typeface="Montserrat SemiBold"/>
                <a:ea typeface="Montserrat SemiBold"/>
                <a:cs typeface="Montserrat SemiBold"/>
                <a:sym typeface="Montserrat SemiBold"/>
              </a:defRPr>
            </a:lvl9pPr>
          </a:lstStyle>
          <a:p/>
        </p:txBody>
      </p:sp>
      <p:sp>
        <p:nvSpPr>
          <p:cNvPr id="148" name="Google Shape;148;p21"/>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149" name="Google Shape;149;p21"/>
          <p:cNvPicPr preferRelativeResize="0"/>
          <p:nvPr/>
        </p:nvPicPr>
        <p:blipFill rotWithShape="1">
          <a:blip r:embed="rId2">
            <a:alphaModFix/>
          </a:blip>
          <a:srcRect b="0" l="0" r="0" t="0"/>
          <a:stretch/>
        </p:blipFill>
        <p:spPr>
          <a:xfrm>
            <a:off x="7991468" y="4501355"/>
            <a:ext cx="553002" cy="572625"/>
          </a:xfrm>
          <a:prstGeom prst="rect">
            <a:avLst/>
          </a:prstGeom>
          <a:noFill/>
          <a:ln>
            <a:noFill/>
          </a:ln>
        </p:spPr>
      </p:pic>
      <p:sp>
        <p:nvSpPr>
          <p:cNvPr id="150" name="Google Shape;150;p21"/>
          <p:cNvSpPr txBox="1"/>
          <p:nvPr>
            <p:ph idx="5"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151" name="Google Shape;151;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three columns)">
  <p:cSld name="CUSTOM_1_1_1">
    <p:spTree>
      <p:nvGrpSpPr>
        <p:cNvPr id="152" name="Shape 152"/>
        <p:cNvGrpSpPr/>
        <p:nvPr/>
      </p:nvGrpSpPr>
      <p:grpSpPr>
        <a:xfrm>
          <a:off x="0" y="0"/>
          <a:ext cx="0" cy="0"/>
          <a:chOff x="0" y="0"/>
          <a:chExt cx="0" cy="0"/>
        </a:xfrm>
      </p:grpSpPr>
      <p:sp>
        <p:nvSpPr>
          <p:cNvPr id="153" name="Google Shape;153;p22"/>
          <p:cNvSpPr txBox="1"/>
          <p:nvPr>
            <p:ph type="title"/>
          </p:nvPr>
        </p:nvSpPr>
        <p:spPr>
          <a:xfrm>
            <a:off x="643492" y="426919"/>
            <a:ext cx="81123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154" name="Google Shape;154;p22"/>
          <p:cNvSpPr txBox="1"/>
          <p:nvPr>
            <p:ph idx="1" type="body"/>
          </p:nvPr>
        </p:nvSpPr>
        <p:spPr>
          <a:xfrm>
            <a:off x="643492" y="1640997"/>
            <a:ext cx="24657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55" name="Google Shape;155;p22"/>
          <p:cNvSpPr txBox="1"/>
          <p:nvPr>
            <p:ph idx="2" type="subTitle"/>
          </p:nvPr>
        </p:nvSpPr>
        <p:spPr>
          <a:xfrm>
            <a:off x="643492" y="1197666"/>
            <a:ext cx="24657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l">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sp>
        <p:nvSpPr>
          <p:cNvPr id="156" name="Google Shape;156;p22"/>
          <p:cNvSpPr txBox="1"/>
          <p:nvPr>
            <p:ph idx="3" type="body"/>
          </p:nvPr>
        </p:nvSpPr>
        <p:spPr>
          <a:xfrm>
            <a:off x="3466861" y="1640988"/>
            <a:ext cx="24657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57" name="Google Shape;157;p22"/>
          <p:cNvSpPr txBox="1"/>
          <p:nvPr>
            <p:ph idx="4" type="subTitle"/>
          </p:nvPr>
        </p:nvSpPr>
        <p:spPr>
          <a:xfrm>
            <a:off x="3466861" y="1197656"/>
            <a:ext cx="24657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l">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sp>
        <p:nvSpPr>
          <p:cNvPr id="158" name="Google Shape;158;p22"/>
          <p:cNvSpPr txBox="1"/>
          <p:nvPr>
            <p:ph idx="5" type="subTitle"/>
          </p:nvPr>
        </p:nvSpPr>
        <p:spPr>
          <a:xfrm>
            <a:off x="6290229" y="1197666"/>
            <a:ext cx="24657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l">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l">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sp>
        <p:nvSpPr>
          <p:cNvPr id="159" name="Google Shape;159;p22"/>
          <p:cNvSpPr txBox="1"/>
          <p:nvPr>
            <p:ph idx="6" type="body"/>
          </p:nvPr>
        </p:nvSpPr>
        <p:spPr>
          <a:xfrm>
            <a:off x="6290229" y="1640997"/>
            <a:ext cx="24657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60" name="Google Shape;160;p22"/>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161" name="Google Shape;161;p22"/>
          <p:cNvPicPr preferRelativeResize="0"/>
          <p:nvPr/>
        </p:nvPicPr>
        <p:blipFill rotWithShape="1">
          <a:blip r:embed="rId2">
            <a:alphaModFix/>
          </a:blip>
          <a:srcRect b="0" l="0" r="0" t="0"/>
          <a:stretch/>
        </p:blipFill>
        <p:spPr>
          <a:xfrm>
            <a:off x="7991468" y="4501355"/>
            <a:ext cx="553002" cy="572625"/>
          </a:xfrm>
          <a:prstGeom prst="rect">
            <a:avLst/>
          </a:prstGeom>
          <a:noFill/>
          <a:ln>
            <a:noFill/>
          </a:ln>
        </p:spPr>
      </p:pic>
      <p:sp>
        <p:nvSpPr>
          <p:cNvPr id="162" name="Google Shape;162;p22"/>
          <p:cNvSpPr txBox="1"/>
          <p:nvPr>
            <p:ph idx="7"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163" name="Google Shape;163;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slide">
  <p:cSld name="ONE_COLUMN_TEXT">
    <p:spTree>
      <p:nvGrpSpPr>
        <p:cNvPr id="164" name="Shape 164"/>
        <p:cNvGrpSpPr/>
        <p:nvPr/>
      </p:nvGrpSpPr>
      <p:grpSpPr>
        <a:xfrm>
          <a:off x="0" y="0"/>
          <a:ext cx="0" cy="0"/>
          <a:chOff x="0" y="0"/>
          <a:chExt cx="0" cy="0"/>
        </a:xfrm>
      </p:grpSpPr>
      <p:sp>
        <p:nvSpPr>
          <p:cNvPr id="165" name="Google Shape;165;p23"/>
          <p:cNvSpPr txBox="1"/>
          <p:nvPr>
            <p:ph idx="1" type="body"/>
          </p:nvPr>
        </p:nvSpPr>
        <p:spPr>
          <a:xfrm>
            <a:off x="628732" y="1370550"/>
            <a:ext cx="6060900" cy="3139500"/>
          </a:xfrm>
          <a:prstGeom prst="rect">
            <a:avLst/>
          </a:prstGeom>
          <a:noFill/>
          <a:ln>
            <a:noFill/>
          </a:ln>
        </p:spPr>
        <p:txBody>
          <a:bodyPr anchorCtr="0" anchor="t" bIns="0" lIns="0" spcFirstLastPara="1" rIns="0" wrap="square" tIns="0">
            <a:noAutofit/>
          </a:bodyPr>
          <a:lstStyle>
            <a:lvl1pPr indent="-317500" lvl="0" marL="4572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1pPr>
            <a:lvl2pPr indent="-317500" lvl="1" marL="914400" algn="l">
              <a:lnSpc>
                <a:spcPct val="125000"/>
              </a:lnSpc>
              <a:spcBef>
                <a:spcPts val="1500"/>
              </a:spcBef>
              <a:spcAft>
                <a:spcPts val="0"/>
              </a:spcAft>
              <a:buClr>
                <a:schemeClr val="accent1"/>
              </a:buClr>
              <a:buSzPts val="1400"/>
              <a:buFont typeface="Montserrat Light"/>
              <a:buChar char="⚬"/>
              <a:defRPr sz="1400">
                <a:latin typeface="Montserrat Light"/>
                <a:ea typeface="Montserrat Light"/>
                <a:cs typeface="Montserrat Light"/>
                <a:sym typeface="Montserrat Light"/>
              </a:defRPr>
            </a:lvl2pPr>
            <a:lvl3pPr indent="-317500" lvl="2" marL="13716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3pPr>
            <a:lvl4pPr indent="-317500" lvl="3" marL="18288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4pPr>
            <a:lvl5pPr indent="-317500" lvl="4" marL="22860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5pPr>
            <a:lvl6pPr indent="-317500" lvl="5" marL="27432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6pPr>
            <a:lvl7pPr indent="-317500" lvl="6" marL="32004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7pPr>
            <a:lvl8pPr indent="-317500" lvl="7" marL="3657600" algn="l">
              <a:lnSpc>
                <a:spcPct val="125000"/>
              </a:lnSpc>
              <a:spcBef>
                <a:spcPts val="1500"/>
              </a:spcBef>
              <a:spcAft>
                <a:spcPts val="0"/>
              </a:spcAft>
              <a:buSzPts val="1400"/>
              <a:buFont typeface="Montserrat Light"/>
              <a:buChar char="○"/>
              <a:defRPr sz="1400">
                <a:latin typeface="Montserrat Light"/>
                <a:ea typeface="Montserrat Light"/>
                <a:cs typeface="Montserrat Light"/>
                <a:sym typeface="Montserrat Light"/>
              </a:defRPr>
            </a:lvl8pPr>
            <a:lvl9pPr indent="-317500" lvl="8" marL="4114800" algn="l">
              <a:lnSpc>
                <a:spcPct val="125000"/>
              </a:lnSpc>
              <a:spcBef>
                <a:spcPts val="1500"/>
              </a:spcBef>
              <a:spcAft>
                <a:spcPts val="1500"/>
              </a:spcAft>
              <a:buSzPts val="1400"/>
              <a:buFont typeface="Montserrat Light"/>
              <a:buChar char="■"/>
              <a:defRPr sz="1400">
                <a:latin typeface="Montserrat Light"/>
                <a:ea typeface="Montserrat Light"/>
                <a:cs typeface="Montserrat Light"/>
                <a:sym typeface="Montserrat Light"/>
              </a:defRPr>
            </a:lvl9pPr>
          </a:lstStyle>
          <a:p/>
        </p:txBody>
      </p:sp>
      <p:sp>
        <p:nvSpPr>
          <p:cNvPr id="166" name="Google Shape;166;p23"/>
          <p:cNvSpPr txBox="1"/>
          <p:nvPr>
            <p:ph type="title"/>
          </p:nvPr>
        </p:nvSpPr>
        <p:spPr>
          <a:xfrm>
            <a:off x="643492" y="426919"/>
            <a:ext cx="60609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167" name="Google Shape;167;p23"/>
          <p:cNvSpPr txBox="1"/>
          <p:nvPr>
            <p:ph idx="2" type="subTitle"/>
          </p:nvPr>
        </p:nvSpPr>
        <p:spPr>
          <a:xfrm>
            <a:off x="643492" y="999544"/>
            <a:ext cx="60609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168" name="Google Shape;168;p23"/>
          <p:cNvSpPr/>
          <p:nvPr/>
        </p:nvSpPr>
        <p:spPr>
          <a:xfrm flipH="1">
            <a:off x="8037030" y="-35512"/>
            <a:ext cx="1151100" cy="52359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169" name="Google Shape;169;p23"/>
          <p:cNvPicPr preferRelativeResize="0"/>
          <p:nvPr/>
        </p:nvPicPr>
        <p:blipFill rotWithShape="1">
          <a:blip r:embed="rId2">
            <a:alphaModFix/>
          </a:blip>
          <a:srcRect b="0" l="0" r="0" t="0"/>
          <a:stretch/>
        </p:blipFill>
        <p:spPr>
          <a:xfrm>
            <a:off x="8335982" y="426924"/>
            <a:ext cx="553002" cy="572625"/>
          </a:xfrm>
          <a:prstGeom prst="rect">
            <a:avLst/>
          </a:prstGeom>
          <a:noFill/>
          <a:ln>
            <a:noFill/>
          </a:ln>
        </p:spPr>
      </p:pic>
      <p:sp>
        <p:nvSpPr>
          <p:cNvPr id="170" name="Google Shape;170;p2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lide">
  <p:cSld name="CUSTOM_1_1_2">
    <p:spTree>
      <p:nvGrpSpPr>
        <p:cNvPr id="171" name="Shape 171"/>
        <p:cNvGrpSpPr/>
        <p:nvPr/>
      </p:nvGrpSpPr>
      <p:grpSpPr>
        <a:xfrm>
          <a:off x="0" y="0"/>
          <a:ext cx="0" cy="0"/>
          <a:chOff x="0" y="0"/>
          <a:chExt cx="0" cy="0"/>
        </a:xfrm>
      </p:grpSpPr>
      <p:sp>
        <p:nvSpPr>
          <p:cNvPr id="172" name="Google Shape;172;p24"/>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173" name="Google Shape;173;p24"/>
          <p:cNvPicPr preferRelativeResize="0"/>
          <p:nvPr/>
        </p:nvPicPr>
        <p:blipFill rotWithShape="1">
          <a:blip r:embed="rId2">
            <a:alphaModFix/>
          </a:blip>
          <a:srcRect b="0" l="0" r="0" t="0"/>
          <a:stretch/>
        </p:blipFill>
        <p:spPr>
          <a:xfrm>
            <a:off x="7991468" y="4501355"/>
            <a:ext cx="553002" cy="572625"/>
          </a:xfrm>
          <a:prstGeom prst="rect">
            <a:avLst/>
          </a:prstGeom>
          <a:noFill/>
          <a:ln>
            <a:noFill/>
          </a:ln>
        </p:spPr>
      </p:pic>
      <p:sp>
        <p:nvSpPr>
          <p:cNvPr id="174" name="Google Shape;174;p24"/>
          <p:cNvSpPr txBox="1"/>
          <p:nvPr>
            <p:ph type="title"/>
          </p:nvPr>
        </p:nvSpPr>
        <p:spPr>
          <a:xfrm>
            <a:off x="643492" y="426919"/>
            <a:ext cx="7543500" cy="572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ctr">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175" name="Google Shape;175;p24"/>
          <p:cNvSpPr txBox="1"/>
          <p:nvPr>
            <p:ph idx="1" type="body"/>
          </p:nvPr>
        </p:nvSpPr>
        <p:spPr>
          <a:xfrm>
            <a:off x="643492" y="1910491"/>
            <a:ext cx="3516600" cy="2370000"/>
          </a:xfrm>
          <a:prstGeom prst="rect">
            <a:avLst/>
          </a:prstGeom>
          <a:noFill/>
          <a:ln>
            <a:noFill/>
          </a:ln>
        </p:spPr>
        <p:txBody>
          <a:bodyPr anchorCtr="0" anchor="t" bIns="0" lIns="0" spcFirstLastPara="1" rIns="0" wrap="square" tIns="0">
            <a:noAutofit/>
          </a:bodyPr>
          <a:lstStyle>
            <a:lvl1pPr indent="-304800" lvl="0" marL="4572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76" name="Google Shape;176;p24"/>
          <p:cNvSpPr txBox="1"/>
          <p:nvPr>
            <p:ph idx="2" type="subTitle"/>
          </p:nvPr>
        </p:nvSpPr>
        <p:spPr>
          <a:xfrm>
            <a:off x="643492" y="1512421"/>
            <a:ext cx="3516600" cy="237600"/>
          </a:xfrm>
          <a:prstGeom prst="rect">
            <a:avLst/>
          </a:prstGeom>
          <a:noFill/>
          <a:ln>
            <a:noFill/>
          </a:ln>
        </p:spPr>
        <p:txBody>
          <a:bodyPr anchorCtr="0" anchor="t" bIns="0" lIns="0" spcFirstLastPara="1" rIns="0" wrap="square" tIns="0">
            <a:noAutofit/>
          </a:bodyPr>
          <a:lstStyle>
            <a:lvl1pPr lvl="0" algn="ctr">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ctr">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sp>
        <p:nvSpPr>
          <p:cNvPr id="177" name="Google Shape;177;p24"/>
          <p:cNvSpPr txBox="1"/>
          <p:nvPr>
            <p:ph idx="3" type="body"/>
          </p:nvPr>
        </p:nvSpPr>
        <p:spPr>
          <a:xfrm>
            <a:off x="4670200" y="1910483"/>
            <a:ext cx="3516600" cy="2370000"/>
          </a:xfrm>
          <a:prstGeom prst="rect">
            <a:avLst/>
          </a:prstGeom>
          <a:noFill/>
          <a:ln>
            <a:noFill/>
          </a:ln>
        </p:spPr>
        <p:txBody>
          <a:bodyPr anchorCtr="0" anchor="t" bIns="0" lIns="0" spcFirstLastPara="1" rIns="0" wrap="square" tIns="0">
            <a:noAutofit/>
          </a:bodyPr>
          <a:lstStyle>
            <a:lvl1pPr indent="-304800" lvl="0" marL="4572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ctr">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178" name="Google Shape;178;p24"/>
          <p:cNvSpPr txBox="1"/>
          <p:nvPr>
            <p:ph idx="4" type="subTitle"/>
          </p:nvPr>
        </p:nvSpPr>
        <p:spPr>
          <a:xfrm>
            <a:off x="4670200" y="1512412"/>
            <a:ext cx="3516600" cy="237600"/>
          </a:xfrm>
          <a:prstGeom prst="rect">
            <a:avLst/>
          </a:prstGeom>
          <a:noFill/>
          <a:ln>
            <a:noFill/>
          </a:ln>
        </p:spPr>
        <p:txBody>
          <a:bodyPr anchorCtr="0" anchor="t" bIns="0" lIns="0" spcFirstLastPara="1" rIns="0" wrap="square" tIns="0">
            <a:noAutofit/>
          </a:bodyPr>
          <a:lstStyle>
            <a:lvl1pPr lvl="0" algn="ctr">
              <a:lnSpc>
                <a:spcPct val="125000"/>
              </a:lnSpc>
              <a:spcBef>
                <a:spcPts val="400"/>
              </a:spcBef>
              <a:spcAft>
                <a:spcPts val="0"/>
              </a:spcAft>
              <a:buClr>
                <a:schemeClr val="dk2"/>
              </a:buClr>
              <a:buSzPts val="1200"/>
              <a:buFont typeface="Montserrat SemiBold"/>
              <a:buNone/>
              <a:defRPr>
                <a:latin typeface="Montserrat SemiBold"/>
                <a:ea typeface="Montserrat SemiBold"/>
                <a:cs typeface="Montserrat SemiBold"/>
                <a:sym typeface="Montserrat SemiBold"/>
              </a:defRPr>
            </a:lvl1pPr>
            <a:lvl2pPr lvl="1"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2pPr>
            <a:lvl3pPr lvl="2"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3pPr>
            <a:lvl4pPr lvl="3"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4pPr>
            <a:lvl5pPr lvl="4"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5pPr>
            <a:lvl6pPr lvl="5"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6pPr>
            <a:lvl7pPr lvl="6"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7pPr>
            <a:lvl8pPr lvl="7" algn="ctr">
              <a:lnSpc>
                <a:spcPct val="125000"/>
              </a:lnSpc>
              <a:spcBef>
                <a:spcPts val="400"/>
              </a:spcBef>
              <a:spcAft>
                <a:spcPts val="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8pPr>
            <a:lvl9pPr lvl="8" algn="ctr">
              <a:lnSpc>
                <a:spcPct val="125000"/>
              </a:lnSpc>
              <a:spcBef>
                <a:spcPts val="400"/>
              </a:spcBef>
              <a:spcAft>
                <a:spcPts val="400"/>
              </a:spcAft>
              <a:buClr>
                <a:schemeClr val="accent2"/>
              </a:buClr>
              <a:buSzPts val="1200"/>
              <a:buFont typeface="Montserrat SemiBold"/>
              <a:buNone/>
              <a:defRPr>
                <a:solidFill>
                  <a:schemeClr val="accent2"/>
                </a:solidFill>
                <a:latin typeface="Montserrat SemiBold"/>
                <a:ea typeface="Montserrat SemiBold"/>
                <a:cs typeface="Montserrat SemiBold"/>
                <a:sym typeface="Montserrat SemiBold"/>
              </a:defRPr>
            </a:lvl9pPr>
          </a:lstStyle>
          <a:p/>
        </p:txBody>
      </p:sp>
      <p:cxnSp>
        <p:nvCxnSpPr>
          <p:cNvPr id="179" name="Google Shape;179;p24"/>
          <p:cNvCxnSpPr/>
          <p:nvPr/>
        </p:nvCxnSpPr>
        <p:spPr>
          <a:xfrm>
            <a:off x="4420987" y="1572600"/>
            <a:ext cx="0" cy="2481900"/>
          </a:xfrm>
          <a:prstGeom prst="straightConnector1">
            <a:avLst/>
          </a:prstGeom>
          <a:noFill/>
          <a:ln cap="flat" cmpd="sng" w="19050">
            <a:solidFill>
              <a:srgbClr val="B7B7B7"/>
            </a:solidFill>
            <a:prstDash val="dot"/>
            <a:round/>
            <a:headEnd len="sm" w="sm" type="none"/>
            <a:tailEnd len="sm" w="sm" type="none"/>
          </a:ln>
        </p:spPr>
      </p:cxnSp>
      <p:sp>
        <p:nvSpPr>
          <p:cNvPr id="180" name="Google Shape;180;p24"/>
          <p:cNvSpPr txBox="1"/>
          <p:nvPr>
            <p:ph idx="5"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181" name="Google Shape;181;p2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branded)">
  <p:cSld name="MAIN_POINT">
    <p:spTree>
      <p:nvGrpSpPr>
        <p:cNvPr id="182" name="Shape 182"/>
        <p:cNvGrpSpPr/>
        <p:nvPr/>
      </p:nvGrpSpPr>
      <p:grpSpPr>
        <a:xfrm>
          <a:off x="0" y="0"/>
          <a:ext cx="0" cy="0"/>
          <a:chOff x="0" y="0"/>
          <a:chExt cx="0" cy="0"/>
        </a:xfrm>
      </p:grpSpPr>
      <p:pic>
        <p:nvPicPr>
          <p:cNvPr id="183" name="Google Shape;183;p25"/>
          <p:cNvPicPr preferRelativeResize="0"/>
          <p:nvPr/>
        </p:nvPicPr>
        <p:blipFill rotWithShape="1">
          <a:blip r:embed="rId2">
            <a:alphaModFix/>
          </a:blip>
          <a:srcRect b="0" l="12049" r="0" t="0"/>
          <a:stretch/>
        </p:blipFill>
        <p:spPr>
          <a:xfrm>
            <a:off x="0" y="-63937"/>
            <a:ext cx="9229542" cy="5245914"/>
          </a:xfrm>
          <a:prstGeom prst="rect">
            <a:avLst/>
          </a:prstGeom>
          <a:noFill/>
          <a:ln>
            <a:noFill/>
          </a:ln>
        </p:spPr>
      </p:pic>
      <p:sp>
        <p:nvSpPr>
          <p:cNvPr id="184" name="Google Shape;184;p25"/>
          <p:cNvSpPr txBox="1"/>
          <p:nvPr>
            <p:ph type="title"/>
          </p:nvPr>
        </p:nvSpPr>
        <p:spPr>
          <a:xfrm>
            <a:off x="2875732" y="1623038"/>
            <a:ext cx="5436300" cy="1356000"/>
          </a:xfrm>
          <a:prstGeom prst="rect">
            <a:avLst/>
          </a:prstGeom>
          <a:noFill/>
          <a:ln>
            <a:noFill/>
          </a:ln>
        </p:spPr>
        <p:txBody>
          <a:bodyPr anchorCtr="0" anchor="ctr" bIns="0" lIns="0" spcFirstLastPara="1" rIns="0" wrap="square" tIns="0">
            <a:normAutofit/>
          </a:bodyPr>
          <a:lstStyle>
            <a:lvl1pPr lvl="0" algn="r">
              <a:lnSpc>
                <a:spcPct val="100000"/>
              </a:lnSpc>
              <a:spcBef>
                <a:spcPts val="0"/>
              </a:spcBef>
              <a:spcAft>
                <a:spcPts val="0"/>
              </a:spcAft>
              <a:buClr>
                <a:schemeClr val="lt1"/>
              </a:buClr>
              <a:buSzPts val="3300"/>
              <a:buFont typeface="Montserrat SemiBold"/>
              <a:buNone/>
              <a:defRPr sz="3300">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3300"/>
              <a:buNone/>
              <a:defRPr sz="3300"/>
            </a:lvl2pPr>
            <a:lvl3pPr lvl="2" algn="l">
              <a:lnSpc>
                <a:spcPct val="100000"/>
              </a:lnSpc>
              <a:spcBef>
                <a:spcPts val="0"/>
              </a:spcBef>
              <a:spcAft>
                <a:spcPts val="0"/>
              </a:spcAft>
              <a:buSzPts val="3300"/>
              <a:buNone/>
              <a:defRPr sz="3300"/>
            </a:lvl3pPr>
            <a:lvl4pPr lvl="3" algn="l">
              <a:lnSpc>
                <a:spcPct val="100000"/>
              </a:lnSpc>
              <a:spcBef>
                <a:spcPts val="0"/>
              </a:spcBef>
              <a:spcAft>
                <a:spcPts val="0"/>
              </a:spcAft>
              <a:buSzPts val="3300"/>
              <a:buNone/>
              <a:defRPr sz="3300"/>
            </a:lvl4pPr>
            <a:lvl5pPr lvl="4" algn="l">
              <a:lnSpc>
                <a:spcPct val="100000"/>
              </a:lnSpc>
              <a:spcBef>
                <a:spcPts val="0"/>
              </a:spcBef>
              <a:spcAft>
                <a:spcPts val="0"/>
              </a:spcAft>
              <a:buSzPts val="3300"/>
              <a:buNone/>
              <a:defRPr sz="3300"/>
            </a:lvl5pPr>
            <a:lvl6pPr lvl="5" algn="l">
              <a:lnSpc>
                <a:spcPct val="100000"/>
              </a:lnSpc>
              <a:spcBef>
                <a:spcPts val="0"/>
              </a:spcBef>
              <a:spcAft>
                <a:spcPts val="0"/>
              </a:spcAft>
              <a:buSzPts val="3300"/>
              <a:buNone/>
              <a:defRPr sz="3300"/>
            </a:lvl6pPr>
            <a:lvl7pPr lvl="6" algn="l">
              <a:lnSpc>
                <a:spcPct val="100000"/>
              </a:lnSpc>
              <a:spcBef>
                <a:spcPts val="0"/>
              </a:spcBef>
              <a:spcAft>
                <a:spcPts val="0"/>
              </a:spcAft>
              <a:buSzPts val="3300"/>
              <a:buNone/>
              <a:defRPr sz="3300"/>
            </a:lvl7pPr>
            <a:lvl8pPr lvl="7" algn="l">
              <a:lnSpc>
                <a:spcPct val="100000"/>
              </a:lnSpc>
              <a:spcBef>
                <a:spcPts val="0"/>
              </a:spcBef>
              <a:spcAft>
                <a:spcPts val="0"/>
              </a:spcAft>
              <a:buSzPts val="3300"/>
              <a:buNone/>
              <a:defRPr sz="3300"/>
            </a:lvl8pPr>
            <a:lvl9pPr lvl="8" algn="l">
              <a:lnSpc>
                <a:spcPct val="100000"/>
              </a:lnSpc>
              <a:spcBef>
                <a:spcPts val="0"/>
              </a:spcBef>
              <a:spcAft>
                <a:spcPts val="0"/>
              </a:spcAft>
              <a:buSzPts val="3300"/>
              <a:buNone/>
              <a:defRPr sz="3300"/>
            </a:lvl9pPr>
          </a:lstStyle>
          <a:p/>
        </p:txBody>
      </p:sp>
      <p:sp>
        <p:nvSpPr>
          <p:cNvPr id="185" name="Google Shape;185;p2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ation slide">
  <p:cSld name="MAIN_POINT_2">
    <p:spTree>
      <p:nvGrpSpPr>
        <p:cNvPr id="186" name="Shape 186"/>
        <p:cNvGrpSpPr/>
        <p:nvPr/>
      </p:nvGrpSpPr>
      <p:grpSpPr>
        <a:xfrm>
          <a:off x="0" y="0"/>
          <a:ext cx="0" cy="0"/>
          <a:chOff x="0" y="0"/>
          <a:chExt cx="0" cy="0"/>
        </a:xfrm>
      </p:grpSpPr>
      <p:pic>
        <p:nvPicPr>
          <p:cNvPr id="187" name="Google Shape;187;p26"/>
          <p:cNvPicPr preferRelativeResize="0"/>
          <p:nvPr/>
        </p:nvPicPr>
        <p:blipFill rotWithShape="1">
          <a:blip r:embed="rId2">
            <a:alphaModFix/>
          </a:blip>
          <a:srcRect b="0" l="12049" r="0" t="0"/>
          <a:stretch/>
        </p:blipFill>
        <p:spPr>
          <a:xfrm>
            <a:off x="0" y="-63937"/>
            <a:ext cx="9229542" cy="5245914"/>
          </a:xfrm>
          <a:prstGeom prst="rect">
            <a:avLst/>
          </a:prstGeom>
          <a:noFill/>
          <a:ln>
            <a:noFill/>
          </a:ln>
        </p:spPr>
      </p:pic>
      <p:sp>
        <p:nvSpPr>
          <p:cNvPr id="188" name="Google Shape;188;p26"/>
          <p:cNvSpPr txBox="1"/>
          <p:nvPr>
            <p:ph type="title"/>
          </p:nvPr>
        </p:nvSpPr>
        <p:spPr>
          <a:xfrm>
            <a:off x="1890998" y="1623038"/>
            <a:ext cx="4662300" cy="1356000"/>
          </a:xfrm>
          <a:prstGeom prst="rect">
            <a:avLst/>
          </a:prstGeom>
          <a:noFill/>
          <a:ln>
            <a:noFill/>
          </a:ln>
        </p:spPr>
        <p:txBody>
          <a:bodyPr anchorCtr="0" anchor="ctr" bIns="0" lIns="0" spcFirstLastPara="1" rIns="0" wrap="square" tIns="0">
            <a:normAutofit/>
          </a:bodyPr>
          <a:lstStyle>
            <a:lvl1pPr lvl="0" algn="r">
              <a:lnSpc>
                <a:spcPct val="100000"/>
              </a:lnSpc>
              <a:spcBef>
                <a:spcPts val="0"/>
              </a:spcBef>
              <a:spcAft>
                <a:spcPts val="0"/>
              </a:spcAft>
              <a:buClr>
                <a:schemeClr val="lt1"/>
              </a:buClr>
              <a:buSzPts val="2100"/>
              <a:buFont typeface="Montserrat SemiBold"/>
              <a:buNone/>
              <a:defRPr sz="2100">
                <a:solidFill>
                  <a:schemeClr val="lt1"/>
                </a:solidFill>
                <a:latin typeface="Montserrat SemiBold"/>
                <a:ea typeface="Montserrat SemiBold"/>
                <a:cs typeface="Montserrat SemiBold"/>
                <a:sym typeface="Montserrat SemiBold"/>
              </a:defRPr>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cxnSp>
        <p:nvCxnSpPr>
          <p:cNvPr id="189" name="Google Shape;189;p26"/>
          <p:cNvCxnSpPr/>
          <p:nvPr/>
        </p:nvCxnSpPr>
        <p:spPr>
          <a:xfrm>
            <a:off x="6853189" y="1825331"/>
            <a:ext cx="0" cy="879900"/>
          </a:xfrm>
          <a:prstGeom prst="straightConnector1">
            <a:avLst/>
          </a:prstGeom>
          <a:noFill/>
          <a:ln cap="flat" cmpd="sng" w="9525">
            <a:solidFill>
              <a:schemeClr val="lt1"/>
            </a:solidFill>
            <a:prstDash val="solid"/>
            <a:round/>
            <a:headEnd len="sm" w="sm" type="none"/>
            <a:tailEnd len="sm" w="sm" type="none"/>
          </a:ln>
        </p:spPr>
      </p:cxnSp>
      <p:sp>
        <p:nvSpPr>
          <p:cNvPr id="190" name="Google Shape;190;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tended quotation slide">
  <p:cSld name="ONE_COLUMN_TEXT_1">
    <p:spTree>
      <p:nvGrpSpPr>
        <p:cNvPr id="191" name="Shape 191"/>
        <p:cNvGrpSpPr/>
        <p:nvPr/>
      </p:nvGrpSpPr>
      <p:grpSpPr>
        <a:xfrm>
          <a:off x="0" y="0"/>
          <a:ext cx="0" cy="0"/>
          <a:chOff x="0" y="0"/>
          <a:chExt cx="0" cy="0"/>
        </a:xfrm>
      </p:grpSpPr>
      <p:sp>
        <p:nvSpPr>
          <p:cNvPr id="192" name="Google Shape;192;p27"/>
          <p:cNvSpPr txBox="1"/>
          <p:nvPr>
            <p:ph type="title"/>
          </p:nvPr>
        </p:nvSpPr>
        <p:spPr>
          <a:xfrm>
            <a:off x="580345" y="1062600"/>
            <a:ext cx="6383400" cy="2451000"/>
          </a:xfrm>
          <a:prstGeom prst="rect">
            <a:avLst/>
          </a:prstGeom>
          <a:noFill/>
          <a:ln>
            <a:noFill/>
          </a:ln>
        </p:spPr>
        <p:txBody>
          <a:bodyPr anchorCtr="0" anchor="t" bIns="0" lIns="0" spcFirstLastPara="1" rIns="0" wrap="square" tIns="0">
            <a:normAutofit/>
          </a:bodyPr>
          <a:lstStyle>
            <a:lvl1pPr lvl="0" algn="l">
              <a:lnSpc>
                <a:spcPct val="130000"/>
              </a:lnSpc>
              <a:spcBef>
                <a:spcPts val="0"/>
              </a:spcBef>
              <a:spcAft>
                <a:spcPts val="0"/>
              </a:spcAft>
              <a:buClr>
                <a:schemeClr val="dk2"/>
              </a:buClr>
              <a:buSzPts val="1700"/>
              <a:buNone/>
              <a:defRPr sz="1700">
                <a:solidFill>
                  <a:schemeClr val="dk2"/>
                </a:solidFill>
              </a:defRPr>
            </a:lvl1pPr>
            <a:lvl2pPr lvl="1" algn="l">
              <a:lnSpc>
                <a:spcPct val="100000"/>
              </a:lnSpc>
              <a:spcBef>
                <a:spcPts val="1500"/>
              </a:spcBef>
              <a:spcAft>
                <a:spcPts val="0"/>
              </a:spcAft>
              <a:buClr>
                <a:schemeClr val="accent2"/>
              </a:buClr>
              <a:buSzPts val="1700"/>
              <a:buNone/>
              <a:defRPr sz="1700">
                <a:solidFill>
                  <a:schemeClr val="accent2"/>
                </a:solidFill>
              </a:defRPr>
            </a:lvl2pPr>
            <a:lvl3pPr lvl="2" algn="l">
              <a:lnSpc>
                <a:spcPct val="100000"/>
              </a:lnSpc>
              <a:spcBef>
                <a:spcPts val="0"/>
              </a:spcBef>
              <a:spcAft>
                <a:spcPts val="0"/>
              </a:spcAft>
              <a:buClr>
                <a:schemeClr val="accent2"/>
              </a:buClr>
              <a:buSzPts val="1700"/>
              <a:buNone/>
              <a:defRPr sz="1700">
                <a:solidFill>
                  <a:schemeClr val="accent2"/>
                </a:solidFill>
              </a:defRPr>
            </a:lvl3pPr>
            <a:lvl4pPr lvl="3" algn="l">
              <a:lnSpc>
                <a:spcPct val="100000"/>
              </a:lnSpc>
              <a:spcBef>
                <a:spcPts val="0"/>
              </a:spcBef>
              <a:spcAft>
                <a:spcPts val="0"/>
              </a:spcAft>
              <a:buClr>
                <a:schemeClr val="accent2"/>
              </a:buClr>
              <a:buSzPts val="1700"/>
              <a:buNone/>
              <a:defRPr sz="1700">
                <a:solidFill>
                  <a:schemeClr val="accent2"/>
                </a:solidFill>
              </a:defRPr>
            </a:lvl4pPr>
            <a:lvl5pPr lvl="4" algn="l">
              <a:lnSpc>
                <a:spcPct val="100000"/>
              </a:lnSpc>
              <a:spcBef>
                <a:spcPts val="0"/>
              </a:spcBef>
              <a:spcAft>
                <a:spcPts val="0"/>
              </a:spcAft>
              <a:buClr>
                <a:schemeClr val="accent2"/>
              </a:buClr>
              <a:buSzPts val="1700"/>
              <a:buNone/>
              <a:defRPr sz="1700">
                <a:solidFill>
                  <a:schemeClr val="accent2"/>
                </a:solidFill>
              </a:defRPr>
            </a:lvl5pPr>
            <a:lvl6pPr lvl="5" algn="l">
              <a:lnSpc>
                <a:spcPct val="100000"/>
              </a:lnSpc>
              <a:spcBef>
                <a:spcPts val="0"/>
              </a:spcBef>
              <a:spcAft>
                <a:spcPts val="0"/>
              </a:spcAft>
              <a:buClr>
                <a:schemeClr val="accent2"/>
              </a:buClr>
              <a:buSzPts val="1700"/>
              <a:buNone/>
              <a:defRPr sz="1700">
                <a:solidFill>
                  <a:schemeClr val="accent2"/>
                </a:solidFill>
              </a:defRPr>
            </a:lvl6pPr>
            <a:lvl7pPr lvl="6" algn="l">
              <a:lnSpc>
                <a:spcPct val="100000"/>
              </a:lnSpc>
              <a:spcBef>
                <a:spcPts val="0"/>
              </a:spcBef>
              <a:spcAft>
                <a:spcPts val="0"/>
              </a:spcAft>
              <a:buClr>
                <a:schemeClr val="accent2"/>
              </a:buClr>
              <a:buSzPts val="1700"/>
              <a:buNone/>
              <a:defRPr sz="1700">
                <a:solidFill>
                  <a:schemeClr val="accent2"/>
                </a:solidFill>
              </a:defRPr>
            </a:lvl7pPr>
            <a:lvl8pPr lvl="7" algn="l">
              <a:lnSpc>
                <a:spcPct val="100000"/>
              </a:lnSpc>
              <a:spcBef>
                <a:spcPts val="0"/>
              </a:spcBef>
              <a:spcAft>
                <a:spcPts val="0"/>
              </a:spcAft>
              <a:buClr>
                <a:schemeClr val="accent2"/>
              </a:buClr>
              <a:buSzPts val="1700"/>
              <a:buNone/>
              <a:defRPr sz="1700">
                <a:solidFill>
                  <a:schemeClr val="accent2"/>
                </a:solidFill>
              </a:defRPr>
            </a:lvl8pPr>
            <a:lvl9pPr lvl="8" algn="l">
              <a:lnSpc>
                <a:spcPct val="100000"/>
              </a:lnSpc>
              <a:spcBef>
                <a:spcPts val="0"/>
              </a:spcBef>
              <a:spcAft>
                <a:spcPts val="0"/>
              </a:spcAft>
              <a:buClr>
                <a:schemeClr val="accent2"/>
              </a:buClr>
              <a:buSzPts val="1700"/>
              <a:buNone/>
              <a:defRPr sz="1700">
                <a:solidFill>
                  <a:schemeClr val="accent2"/>
                </a:solidFill>
              </a:defRPr>
            </a:lvl9pPr>
          </a:lstStyle>
          <a:p/>
        </p:txBody>
      </p:sp>
      <p:sp>
        <p:nvSpPr>
          <p:cNvPr id="193" name="Google Shape;193;p27"/>
          <p:cNvSpPr txBox="1"/>
          <p:nvPr>
            <p:ph idx="1" type="subTitle"/>
          </p:nvPr>
        </p:nvSpPr>
        <p:spPr>
          <a:xfrm>
            <a:off x="3560278" y="3631088"/>
            <a:ext cx="3423300" cy="423600"/>
          </a:xfrm>
          <a:prstGeom prst="rect">
            <a:avLst/>
          </a:prstGeom>
          <a:noFill/>
          <a:ln>
            <a:noFill/>
          </a:ln>
        </p:spPr>
        <p:txBody>
          <a:bodyPr anchorCtr="0" anchor="t" bIns="0" lIns="0" spcFirstLastPara="1" rIns="0" wrap="square" tIns="0">
            <a:normAutofit/>
          </a:bodyPr>
          <a:lstStyle>
            <a:lvl1pPr lvl="0" algn="r">
              <a:lnSpc>
                <a:spcPct val="125000"/>
              </a:lnSpc>
              <a:spcBef>
                <a:spcPts val="400"/>
              </a:spcBef>
              <a:spcAft>
                <a:spcPts val="0"/>
              </a:spcAft>
              <a:buSzPts val="1100"/>
              <a:buNone/>
              <a:defRPr sz="1100"/>
            </a:lvl1pPr>
            <a:lvl2pPr lvl="1" algn="r">
              <a:lnSpc>
                <a:spcPct val="125000"/>
              </a:lnSpc>
              <a:spcBef>
                <a:spcPts val="400"/>
              </a:spcBef>
              <a:spcAft>
                <a:spcPts val="0"/>
              </a:spcAft>
              <a:buSzPts val="1100"/>
              <a:buNone/>
              <a:defRPr sz="1100"/>
            </a:lvl2pPr>
            <a:lvl3pPr lvl="2" algn="r">
              <a:lnSpc>
                <a:spcPct val="125000"/>
              </a:lnSpc>
              <a:spcBef>
                <a:spcPts val="400"/>
              </a:spcBef>
              <a:spcAft>
                <a:spcPts val="0"/>
              </a:spcAft>
              <a:buSzPts val="1100"/>
              <a:buNone/>
              <a:defRPr sz="1100"/>
            </a:lvl3pPr>
            <a:lvl4pPr lvl="3" algn="r">
              <a:lnSpc>
                <a:spcPct val="125000"/>
              </a:lnSpc>
              <a:spcBef>
                <a:spcPts val="400"/>
              </a:spcBef>
              <a:spcAft>
                <a:spcPts val="0"/>
              </a:spcAft>
              <a:buSzPts val="1100"/>
              <a:buNone/>
              <a:defRPr sz="1100"/>
            </a:lvl4pPr>
            <a:lvl5pPr lvl="4" algn="r">
              <a:lnSpc>
                <a:spcPct val="125000"/>
              </a:lnSpc>
              <a:spcBef>
                <a:spcPts val="400"/>
              </a:spcBef>
              <a:spcAft>
                <a:spcPts val="0"/>
              </a:spcAft>
              <a:buSzPts val="1100"/>
              <a:buNone/>
              <a:defRPr sz="1100"/>
            </a:lvl5pPr>
            <a:lvl6pPr lvl="5" algn="r">
              <a:lnSpc>
                <a:spcPct val="125000"/>
              </a:lnSpc>
              <a:spcBef>
                <a:spcPts val="400"/>
              </a:spcBef>
              <a:spcAft>
                <a:spcPts val="0"/>
              </a:spcAft>
              <a:buSzPts val="1100"/>
              <a:buNone/>
              <a:defRPr sz="1100"/>
            </a:lvl6pPr>
            <a:lvl7pPr lvl="6" algn="r">
              <a:lnSpc>
                <a:spcPct val="125000"/>
              </a:lnSpc>
              <a:spcBef>
                <a:spcPts val="400"/>
              </a:spcBef>
              <a:spcAft>
                <a:spcPts val="0"/>
              </a:spcAft>
              <a:buSzPts val="1100"/>
              <a:buNone/>
              <a:defRPr sz="1100"/>
            </a:lvl7pPr>
            <a:lvl8pPr lvl="7" algn="r">
              <a:lnSpc>
                <a:spcPct val="125000"/>
              </a:lnSpc>
              <a:spcBef>
                <a:spcPts val="400"/>
              </a:spcBef>
              <a:spcAft>
                <a:spcPts val="0"/>
              </a:spcAft>
              <a:buSzPts val="1100"/>
              <a:buNone/>
              <a:defRPr sz="1100"/>
            </a:lvl8pPr>
            <a:lvl9pPr lvl="8" algn="r">
              <a:lnSpc>
                <a:spcPct val="125000"/>
              </a:lnSpc>
              <a:spcBef>
                <a:spcPts val="400"/>
              </a:spcBef>
              <a:spcAft>
                <a:spcPts val="400"/>
              </a:spcAft>
              <a:buSzPts val="1100"/>
              <a:buNone/>
              <a:defRPr sz="1100"/>
            </a:lvl9pPr>
          </a:lstStyle>
          <a:p/>
        </p:txBody>
      </p:sp>
      <p:sp>
        <p:nvSpPr>
          <p:cNvPr id="194" name="Google Shape;194;p27"/>
          <p:cNvSpPr txBox="1"/>
          <p:nvPr>
            <p:ph idx="2"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dk2"/>
              </a:buClr>
              <a:buSzPts val="600"/>
              <a:buNone/>
              <a:defRPr sz="600"/>
            </a:lvl1pPr>
            <a:lvl2pPr lvl="1" algn="l">
              <a:lnSpc>
                <a:spcPct val="125000"/>
              </a:lnSpc>
              <a:spcBef>
                <a:spcPts val="400"/>
              </a:spcBef>
              <a:spcAft>
                <a:spcPts val="0"/>
              </a:spcAft>
              <a:buSzPts val="1200"/>
              <a:buNone/>
              <a:defRPr/>
            </a:lvl2pPr>
            <a:lvl3pPr lvl="2" algn="l">
              <a:lnSpc>
                <a:spcPct val="125000"/>
              </a:lnSpc>
              <a:spcBef>
                <a:spcPts val="400"/>
              </a:spcBef>
              <a:spcAft>
                <a:spcPts val="0"/>
              </a:spcAft>
              <a:buClr>
                <a:schemeClr val="dk2"/>
              </a:buClr>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195" name="Google Shape;195;p27"/>
          <p:cNvSpPr/>
          <p:nvPr/>
        </p:nvSpPr>
        <p:spPr>
          <a:xfrm flipH="1">
            <a:off x="8037030" y="0"/>
            <a:ext cx="1151100" cy="51720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196" name="Google Shape;196;p27"/>
          <p:cNvPicPr preferRelativeResize="0"/>
          <p:nvPr/>
        </p:nvPicPr>
        <p:blipFill rotWithShape="1">
          <a:blip r:embed="rId2">
            <a:alphaModFix/>
          </a:blip>
          <a:srcRect b="0" l="0" r="0" t="0"/>
          <a:stretch/>
        </p:blipFill>
        <p:spPr>
          <a:xfrm>
            <a:off x="8335982" y="426924"/>
            <a:ext cx="553002" cy="572625"/>
          </a:xfrm>
          <a:prstGeom prst="rect">
            <a:avLst/>
          </a:prstGeom>
          <a:noFill/>
          <a:ln>
            <a:noFill/>
          </a:ln>
        </p:spPr>
      </p:pic>
      <p:sp>
        <p:nvSpPr>
          <p:cNvPr id="197" name="Google Shape;197;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slide">
  <p:cSld name="CUSTOM_1_2">
    <p:spTree>
      <p:nvGrpSpPr>
        <p:cNvPr id="198" name="Shape 198"/>
        <p:cNvGrpSpPr/>
        <p:nvPr/>
      </p:nvGrpSpPr>
      <p:grpSpPr>
        <a:xfrm>
          <a:off x="0" y="0"/>
          <a:ext cx="0" cy="0"/>
          <a:chOff x="0" y="0"/>
          <a:chExt cx="0" cy="0"/>
        </a:xfrm>
      </p:grpSpPr>
      <p:pic>
        <p:nvPicPr>
          <p:cNvPr id="199" name="Google Shape;199;p28"/>
          <p:cNvPicPr preferRelativeResize="0"/>
          <p:nvPr/>
        </p:nvPicPr>
        <p:blipFill rotWithShape="1">
          <a:blip r:embed="rId2">
            <a:alphaModFix/>
          </a:blip>
          <a:srcRect b="0" l="0" r="0" t="0"/>
          <a:stretch/>
        </p:blipFill>
        <p:spPr>
          <a:xfrm>
            <a:off x="513012" y="4879810"/>
            <a:ext cx="85535" cy="68559"/>
          </a:xfrm>
          <a:prstGeom prst="rect">
            <a:avLst/>
          </a:prstGeom>
          <a:noFill/>
          <a:ln>
            <a:noFill/>
          </a:ln>
        </p:spPr>
      </p:pic>
      <p:sp>
        <p:nvSpPr>
          <p:cNvPr id="200" name="Google Shape;200;p28"/>
          <p:cNvSpPr txBox="1"/>
          <p:nvPr>
            <p:ph type="title"/>
          </p:nvPr>
        </p:nvSpPr>
        <p:spPr>
          <a:xfrm>
            <a:off x="643492" y="426919"/>
            <a:ext cx="36993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1700"/>
              <a:buFont typeface="Montserrat Medium"/>
              <a:buNone/>
              <a:defRPr sz="1700">
                <a:solidFill>
                  <a:schemeClr val="accent1"/>
                </a:solidFill>
                <a:latin typeface="Montserrat Medium"/>
                <a:ea typeface="Montserrat Medium"/>
                <a:cs typeface="Montserrat Medium"/>
                <a:sym typeface="Montserrat Medium"/>
              </a:defRPr>
            </a:lvl9pPr>
          </a:lstStyle>
          <a:p/>
        </p:txBody>
      </p:sp>
      <p:sp>
        <p:nvSpPr>
          <p:cNvPr id="201" name="Google Shape;201;p28"/>
          <p:cNvSpPr txBox="1"/>
          <p:nvPr>
            <p:ph idx="1" type="body"/>
          </p:nvPr>
        </p:nvSpPr>
        <p:spPr>
          <a:xfrm>
            <a:off x="643492" y="1442871"/>
            <a:ext cx="3699300" cy="2639700"/>
          </a:xfrm>
          <a:prstGeom prst="rect">
            <a:avLst/>
          </a:prstGeom>
          <a:noFill/>
          <a:ln>
            <a:noFill/>
          </a:ln>
        </p:spPr>
        <p:txBody>
          <a:bodyPr anchorCtr="0" anchor="t" bIns="0" lIns="0" spcFirstLastPara="1" rIns="0" wrap="square" tIns="0">
            <a:noAutofit/>
          </a:bodyPr>
          <a:lstStyle>
            <a:lvl1pPr indent="-285750" lvl="0" marL="457200" algn="l">
              <a:lnSpc>
                <a:spcPct val="135000"/>
              </a:lnSpc>
              <a:spcBef>
                <a:spcPts val="0"/>
              </a:spcBef>
              <a:spcAft>
                <a:spcPts val="0"/>
              </a:spcAft>
              <a:buSzPts val="900"/>
              <a:buFont typeface="Montserrat Light"/>
              <a:buChar char="■"/>
              <a:defRPr sz="900">
                <a:latin typeface="Montserrat Light"/>
                <a:ea typeface="Montserrat Light"/>
                <a:cs typeface="Montserrat Light"/>
                <a:sym typeface="Montserrat Light"/>
              </a:defRPr>
            </a:lvl1pPr>
            <a:lvl2pPr indent="-285750" lvl="1" marL="9144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2pPr>
            <a:lvl3pPr indent="-285750" lvl="2" marL="13716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3pPr>
            <a:lvl4pPr indent="-285750" lvl="3" marL="18288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4pPr>
            <a:lvl5pPr indent="-285750" lvl="4" marL="22860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5pPr>
            <a:lvl6pPr indent="-285750" lvl="5" marL="27432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6pPr>
            <a:lvl7pPr indent="-285750" lvl="6" marL="32004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7pPr>
            <a:lvl8pPr indent="-285750" lvl="7" marL="3657600" algn="l">
              <a:lnSpc>
                <a:spcPct val="135000"/>
              </a:lnSpc>
              <a:spcBef>
                <a:spcPts val="1500"/>
              </a:spcBef>
              <a:spcAft>
                <a:spcPts val="0"/>
              </a:spcAft>
              <a:buSzPts val="900"/>
              <a:buFont typeface="Montserrat Light"/>
              <a:buChar char="○"/>
              <a:defRPr sz="900">
                <a:latin typeface="Montserrat Light"/>
                <a:ea typeface="Montserrat Light"/>
                <a:cs typeface="Montserrat Light"/>
                <a:sym typeface="Montserrat Light"/>
              </a:defRPr>
            </a:lvl8pPr>
            <a:lvl9pPr indent="-285750" lvl="8" marL="4114800" algn="l">
              <a:lnSpc>
                <a:spcPct val="135000"/>
              </a:lnSpc>
              <a:spcBef>
                <a:spcPts val="1500"/>
              </a:spcBef>
              <a:spcAft>
                <a:spcPts val="1500"/>
              </a:spcAft>
              <a:buSzPts val="900"/>
              <a:buFont typeface="Montserrat Light"/>
              <a:buChar char="■"/>
              <a:defRPr sz="900">
                <a:latin typeface="Montserrat Light"/>
                <a:ea typeface="Montserrat Light"/>
                <a:cs typeface="Montserrat Light"/>
                <a:sym typeface="Montserrat Light"/>
              </a:defRPr>
            </a:lvl9pPr>
          </a:lstStyle>
          <a:p/>
        </p:txBody>
      </p:sp>
      <p:sp>
        <p:nvSpPr>
          <p:cNvPr id="202" name="Google Shape;202;p28"/>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203" name="Google Shape;203;p28"/>
          <p:cNvPicPr preferRelativeResize="0"/>
          <p:nvPr/>
        </p:nvPicPr>
        <p:blipFill rotWithShape="1">
          <a:blip r:embed="rId3">
            <a:alphaModFix/>
          </a:blip>
          <a:srcRect b="0" l="0" r="0" t="0"/>
          <a:stretch/>
        </p:blipFill>
        <p:spPr>
          <a:xfrm>
            <a:off x="7991468" y="4501355"/>
            <a:ext cx="553002" cy="572625"/>
          </a:xfrm>
          <a:prstGeom prst="rect">
            <a:avLst/>
          </a:prstGeom>
          <a:noFill/>
          <a:ln>
            <a:noFill/>
          </a:ln>
        </p:spPr>
      </p:pic>
      <p:sp>
        <p:nvSpPr>
          <p:cNvPr id="204" name="Google Shape;204;p28"/>
          <p:cNvSpPr txBox="1"/>
          <p:nvPr>
            <p:ph idx="2"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05" name="Google Shape;205;p28"/>
          <p:cNvSpPr txBox="1"/>
          <p:nvPr>
            <p:ph idx="3" type="subTitle"/>
          </p:nvPr>
        </p:nvSpPr>
        <p:spPr>
          <a:xfrm>
            <a:off x="643492" y="999541"/>
            <a:ext cx="36993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100"/>
              <a:buNone/>
              <a:defRPr sz="1100"/>
            </a:lvl1pPr>
            <a:lvl2pPr lvl="1" algn="l">
              <a:lnSpc>
                <a:spcPct val="125000"/>
              </a:lnSpc>
              <a:spcBef>
                <a:spcPts val="400"/>
              </a:spcBef>
              <a:spcAft>
                <a:spcPts val="0"/>
              </a:spcAft>
              <a:buClr>
                <a:schemeClr val="accent2"/>
              </a:buClr>
              <a:buSzPts val="1100"/>
              <a:buNone/>
              <a:defRPr sz="1100">
                <a:solidFill>
                  <a:schemeClr val="accent2"/>
                </a:solidFill>
              </a:defRPr>
            </a:lvl2pPr>
            <a:lvl3pPr lvl="2" algn="l">
              <a:lnSpc>
                <a:spcPct val="125000"/>
              </a:lnSpc>
              <a:spcBef>
                <a:spcPts val="400"/>
              </a:spcBef>
              <a:spcAft>
                <a:spcPts val="0"/>
              </a:spcAft>
              <a:buClr>
                <a:schemeClr val="accent2"/>
              </a:buClr>
              <a:buSzPts val="1100"/>
              <a:buNone/>
              <a:defRPr sz="1100">
                <a:solidFill>
                  <a:schemeClr val="accent2"/>
                </a:solidFill>
              </a:defRPr>
            </a:lvl3pPr>
            <a:lvl4pPr lvl="3" algn="l">
              <a:lnSpc>
                <a:spcPct val="125000"/>
              </a:lnSpc>
              <a:spcBef>
                <a:spcPts val="400"/>
              </a:spcBef>
              <a:spcAft>
                <a:spcPts val="0"/>
              </a:spcAft>
              <a:buClr>
                <a:schemeClr val="accent2"/>
              </a:buClr>
              <a:buSzPts val="1100"/>
              <a:buNone/>
              <a:defRPr sz="1100">
                <a:solidFill>
                  <a:schemeClr val="accent2"/>
                </a:solidFill>
              </a:defRPr>
            </a:lvl4pPr>
            <a:lvl5pPr lvl="4" algn="l">
              <a:lnSpc>
                <a:spcPct val="125000"/>
              </a:lnSpc>
              <a:spcBef>
                <a:spcPts val="400"/>
              </a:spcBef>
              <a:spcAft>
                <a:spcPts val="0"/>
              </a:spcAft>
              <a:buClr>
                <a:schemeClr val="accent2"/>
              </a:buClr>
              <a:buSzPts val="1100"/>
              <a:buNone/>
              <a:defRPr sz="1100">
                <a:solidFill>
                  <a:schemeClr val="accent2"/>
                </a:solidFill>
              </a:defRPr>
            </a:lvl5pPr>
            <a:lvl6pPr lvl="5" algn="l">
              <a:lnSpc>
                <a:spcPct val="125000"/>
              </a:lnSpc>
              <a:spcBef>
                <a:spcPts val="400"/>
              </a:spcBef>
              <a:spcAft>
                <a:spcPts val="0"/>
              </a:spcAft>
              <a:buClr>
                <a:schemeClr val="accent2"/>
              </a:buClr>
              <a:buSzPts val="1100"/>
              <a:buNone/>
              <a:defRPr sz="1100">
                <a:solidFill>
                  <a:schemeClr val="accent2"/>
                </a:solidFill>
              </a:defRPr>
            </a:lvl6pPr>
            <a:lvl7pPr lvl="6" algn="l">
              <a:lnSpc>
                <a:spcPct val="125000"/>
              </a:lnSpc>
              <a:spcBef>
                <a:spcPts val="400"/>
              </a:spcBef>
              <a:spcAft>
                <a:spcPts val="0"/>
              </a:spcAft>
              <a:buClr>
                <a:schemeClr val="accent2"/>
              </a:buClr>
              <a:buSzPts val="1100"/>
              <a:buNone/>
              <a:defRPr sz="1100">
                <a:solidFill>
                  <a:schemeClr val="accent2"/>
                </a:solidFill>
              </a:defRPr>
            </a:lvl7pPr>
            <a:lvl8pPr lvl="7" algn="l">
              <a:lnSpc>
                <a:spcPct val="125000"/>
              </a:lnSpc>
              <a:spcBef>
                <a:spcPts val="400"/>
              </a:spcBef>
              <a:spcAft>
                <a:spcPts val="0"/>
              </a:spcAft>
              <a:buClr>
                <a:schemeClr val="accent2"/>
              </a:buClr>
              <a:buSzPts val="1100"/>
              <a:buNone/>
              <a:defRPr sz="1100">
                <a:solidFill>
                  <a:schemeClr val="accent2"/>
                </a:solidFill>
              </a:defRPr>
            </a:lvl8pPr>
            <a:lvl9pPr lvl="8" algn="l">
              <a:lnSpc>
                <a:spcPct val="125000"/>
              </a:lnSpc>
              <a:spcBef>
                <a:spcPts val="400"/>
              </a:spcBef>
              <a:spcAft>
                <a:spcPts val="400"/>
              </a:spcAft>
              <a:buClr>
                <a:schemeClr val="accent2"/>
              </a:buClr>
              <a:buSzPts val="1100"/>
              <a:buNone/>
              <a:defRPr sz="1100">
                <a:solidFill>
                  <a:schemeClr val="accent2"/>
                </a:solidFill>
              </a:defRPr>
            </a:lvl9pPr>
          </a:lstStyle>
          <a:p/>
        </p:txBody>
      </p:sp>
      <p:sp>
        <p:nvSpPr>
          <p:cNvPr id="206" name="Google Shape;206;p2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ld statement slide (blue)">
  <p:cSld name="MAIN_POINT_1">
    <p:spTree>
      <p:nvGrpSpPr>
        <p:cNvPr id="207" name="Shape 207"/>
        <p:cNvGrpSpPr/>
        <p:nvPr/>
      </p:nvGrpSpPr>
      <p:grpSpPr>
        <a:xfrm>
          <a:off x="0" y="0"/>
          <a:ext cx="0" cy="0"/>
          <a:chOff x="0" y="0"/>
          <a:chExt cx="0" cy="0"/>
        </a:xfrm>
      </p:grpSpPr>
      <p:sp>
        <p:nvSpPr>
          <p:cNvPr id="208" name="Google Shape;208;p29"/>
          <p:cNvSpPr txBox="1"/>
          <p:nvPr/>
        </p:nvSpPr>
        <p:spPr>
          <a:xfrm>
            <a:off x="-19" y="0"/>
            <a:ext cx="9144000" cy="5143500"/>
          </a:xfrm>
          <a:prstGeom prst="rect">
            <a:avLst/>
          </a:prstGeom>
          <a:solidFill>
            <a:srgbClr val="00ADDC"/>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209" name="Google Shape;209;p29"/>
          <p:cNvSpPr txBox="1"/>
          <p:nvPr>
            <p:ph type="title"/>
          </p:nvPr>
        </p:nvSpPr>
        <p:spPr>
          <a:xfrm>
            <a:off x="490250" y="450150"/>
            <a:ext cx="6367800" cy="40908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accent6"/>
              </a:buClr>
              <a:buSzPts val="5300"/>
              <a:buNone/>
              <a:defRPr b="1" sz="5300">
                <a:solidFill>
                  <a:schemeClr val="accent6"/>
                </a:solidFill>
              </a:defRPr>
            </a:lvl1pPr>
            <a:lvl2pPr lvl="1"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2pPr>
            <a:lvl3pPr lvl="2"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3pPr>
            <a:lvl4pPr lvl="3"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4pPr>
            <a:lvl5pPr lvl="4"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5pPr>
            <a:lvl6pPr lvl="5"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6pPr>
            <a:lvl7pPr lvl="6"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7pPr>
            <a:lvl8pPr lvl="7"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8pPr>
            <a:lvl9pPr lvl="8" algn="l">
              <a:lnSpc>
                <a:spcPct val="100000"/>
              </a:lnSpc>
              <a:spcBef>
                <a:spcPts val="0"/>
              </a:spcBef>
              <a:spcAft>
                <a:spcPts val="0"/>
              </a:spcAft>
              <a:buClr>
                <a:schemeClr val="accent6"/>
              </a:buClr>
              <a:buSzPts val="5300"/>
              <a:buFont typeface="Montserrat"/>
              <a:buNone/>
              <a:defRPr sz="5300">
                <a:solidFill>
                  <a:schemeClr val="accent6"/>
                </a:solidFill>
                <a:latin typeface="Montserrat"/>
                <a:ea typeface="Montserrat"/>
                <a:cs typeface="Montserrat"/>
                <a:sym typeface="Montserrat"/>
              </a:defRPr>
            </a:lvl9pPr>
          </a:lstStyle>
          <a:p/>
        </p:txBody>
      </p:sp>
      <p:pic>
        <p:nvPicPr>
          <p:cNvPr id="210" name="Google Shape;210;p29"/>
          <p:cNvPicPr preferRelativeResize="0"/>
          <p:nvPr/>
        </p:nvPicPr>
        <p:blipFill rotWithShape="1">
          <a:blip r:embed="rId2">
            <a:alphaModFix/>
          </a:blip>
          <a:srcRect b="0" l="0" r="0" t="0"/>
          <a:stretch/>
        </p:blipFill>
        <p:spPr>
          <a:xfrm>
            <a:off x="8176220" y="4288224"/>
            <a:ext cx="553002" cy="572625"/>
          </a:xfrm>
          <a:prstGeom prst="rect">
            <a:avLst/>
          </a:prstGeom>
          <a:noFill/>
          <a:ln>
            <a:noFill/>
          </a:ln>
        </p:spPr>
      </p:pic>
      <p:sp>
        <p:nvSpPr>
          <p:cNvPr id="211" name="Google Shape;211;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ld statement slide (pink)">
  <p:cSld name="MAIN_POINT_1_1">
    <p:spTree>
      <p:nvGrpSpPr>
        <p:cNvPr id="212" name="Shape 212"/>
        <p:cNvGrpSpPr/>
        <p:nvPr/>
      </p:nvGrpSpPr>
      <p:grpSpPr>
        <a:xfrm>
          <a:off x="0" y="0"/>
          <a:ext cx="0" cy="0"/>
          <a:chOff x="0" y="0"/>
          <a:chExt cx="0" cy="0"/>
        </a:xfrm>
      </p:grpSpPr>
      <p:sp>
        <p:nvSpPr>
          <p:cNvPr id="213" name="Google Shape;213;p30"/>
          <p:cNvSpPr txBox="1"/>
          <p:nvPr/>
        </p:nvSpPr>
        <p:spPr>
          <a:xfrm>
            <a:off x="-19" y="0"/>
            <a:ext cx="9144000" cy="5143500"/>
          </a:xfrm>
          <a:prstGeom prst="rect">
            <a:avLst/>
          </a:prstGeom>
          <a:solidFill>
            <a:srgbClr val="FF0099"/>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214" name="Google Shape;214;p30"/>
          <p:cNvSpPr txBox="1"/>
          <p:nvPr>
            <p:ph type="title"/>
          </p:nvPr>
        </p:nvSpPr>
        <p:spPr>
          <a:xfrm>
            <a:off x="490250" y="450150"/>
            <a:ext cx="6367800" cy="40908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accent6"/>
              </a:buClr>
              <a:buSzPts val="5300"/>
              <a:buNone/>
              <a:defRPr b="1" sz="5300">
                <a:solidFill>
                  <a:schemeClr val="accent6"/>
                </a:solidFill>
              </a:defRPr>
            </a:lvl1pPr>
            <a:lvl2pPr lvl="1" algn="l">
              <a:lnSpc>
                <a:spcPct val="100000"/>
              </a:lnSpc>
              <a:spcBef>
                <a:spcPts val="0"/>
              </a:spcBef>
              <a:spcAft>
                <a:spcPts val="0"/>
              </a:spcAft>
              <a:buClr>
                <a:schemeClr val="accent6"/>
              </a:buClr>
              <a:buSzPts val="5300"/>
              <a:buNone/>
              <a:defRPr b="1" sz="5300">
                <a:solidFill>
                  <a:schemeClr val="accent6"/>
                </a:solidFill>
              </a:defRPr>
            </a:lvl2pPr>
            <a:lvl3pPr lvl="2" algn="l">
              <a:lnSpc>
                <a:spcPct val="100000"/>
              </a:lnSpc>
              <a:spcBef>
                <a:spcPts val="0"/>
              </a:spcBef>
              <a:spcAft>
                <a:spcPts val="0"/>
              </a:spcAft>
              <a:buClr>
                <a:schemeClr val="accent6"/>
              </a:buClr>
              <a:buSzPts val="5300"/>
              <a:buNone/>
              <a:defRPr b="1" sz="5300">
                <a:solidFill>
                  <a:schemeClr val="accent6"/>
                </a:solidFill>
              </a:defRPr>
            </a:lvl3pPr>
            <a:lvl4pPr lvl="3" algn="l">
              <a:lnSpc>
                <a:spcPct val="100000"/>
              </a:lnSpc>
              <a:spcBef>
                <a:spcPts val="0"/>
              </a:spcBef>
              <a:spcAft>
                <a:spcPts val="0"/>
              </a:spcAft>
              <a:buClr>
                <a:schemeClr val="accent6"/>
              </a:buClr>
              <a:buSzPts val="5300"/>
              <a:buNone/>
              <a:defRPr b="1" sz="5300">
                <a:solidFill>
                  <a:schemeClr val="accent6"/>
                </a:solidFill>
              </a:defRPr>
            </a:lvl4pPr>
            <a:lvl5pPr lvl="4" algn="l">
              <a:lnSpc>
                <a:spcPct val="100000"/>
              </a:lnSpc>
              <a:spcBef>
                <a:spcPts val="0"/>
              </a:spcBef>
              <a:spcAft>
                <a:spcPts val="0"/>
              </a:spcAft>
              <a:buClr>
                <a:schemeClr val="accent6"/>
              </a:buClr>
              <a:buSzPts val="5300"/>
              <a:buNone/>
              <a:defRPr b="1" sz="5300">
                <a:solidFill>
                  <a:schemeClr val="accent6"/>
                </a:solidFill>
              </a:defRPr>
            </a:lvl5pPr>
            <a:lvl6pPr lvl="5" algn="l">
              <a:lnSpc>
                <a:spcPct val="100000"/>
              </a:lnSpc>
              <a:spcBef>
                <a:spcPts val="0"/>
              </a:spcBef>
              <a:spcAft>
                <a:spcPts val="0"/>
              </a:spcAft>
              <a:buClr>
                <a:schemeClr val="accent6"/>
              </a:buClr>
              <a:buSzPts val="5300"/>
              <a:buNone/>
              <a:defRPr b="1" sz="5300">
                <a:solidFill>
                  <a:schemeClr val="accent6"/>
                </a:solidFill>
              </a:defRPr>
            </a:lvl6pPr>
            <a:lvl7pPr lvl="6" algn="l">
              <a:lnSpc>
                <a:spcPct val="100000"/>
              </a:lnSpc>
              <a:spcBef>
                <a:spcPts val="0"/>
              </a:spcBef>
              <a:spcAft>
                <a:spcPts val="0"/>
              </a:spcAft>
              <a:buClr>
                <a:schemeClr val="accent6"/>
              </a:buClr>
              <a:buSzPts val="5300"/>
              <a:buNone/>
              <a:defRPr b="1" sz="5300">
                <a:solidFill>
                  <a:schemeClr val="accent6"/>
                </a:solidFill>
              </a:defRPr>
            </a:lvl7pPr>
            <a:lvl8pPr lvl="7" algn="l">
              <a:lnSpc>
                <a:spcPct val="100000"/>
              </a:lnSpc>
              <a:spcBef>
                <a:spcPts val="0"/>
              </a:spcBef>
              <a:spcAft>
                <a:spcPts val="0"/>
              </a:spcAft>
              <a:buClr>
                <a:schemeClr val="accent6"/>
              </a:buClr>
              <a:buSzPts val="5300"/>
              <a:buNone/>
              <a:defRPr b="1" sz="5300">
                <a:solidFill>
                  <a:schemeClr val="accent6"/>
                </a:solidFill>
              </a:defRPr>
            </a:lvl8pPr>
            <a:lvl9pPr lvl="8" algn="l">
              <a:lnSpc>
                <a:spcPct val="100000"/>
              </a:lnSpc>
              <a:spcBef>
                <a:spcPts val="0"/>
              </a:spcBef>
              <a:spcAft>
                <a:spcPts val="0"/>
              </a:spcAft>
              <a:buClr>
                <a:schemeClr val="accent6"/>
              </a:buClr>
              <a:buSzPts val="5300"/>
              <a:buNone/>
              <a:defRPr b="1" sz="5300">
                <a:solidFill>
                  <a:schemeClr val="accent6"/>
                </a:solidFill>
              </a:defRPr>
            </a:lvl9pPr>
          </a:lstStyle>
          <a:p/>
        </p:txBody>
      </p:sp>
      <p:pic>
        <p:nvPicPr>
          <p:cNvPr id="215" name="Google Shape;215;p30"/>
          <p:cNvPicPr preferRelativeResize="0"/>
          <p:nvPr/>
        </p:nvPicPr>
        <p:blipFill rotWithShape="1">
          <a:blip r:embed="rId2">
            <a:alphaModFix/>
          </a:blip>
          <a:srcRect b="0" l="0" r="0" t="0"/>
          <a:stretch/>
        </p:blipFill>
        <p:spPr>
          <a:xfrm>
            <a:off x="8176220" y="4288224"/>
            <a:ext cx="553002" cy="572625"/>
          </a:xfrm>
          <a:prstGeom prst="rect">
            <a:avLst/>
          </a:prstGeom>
          <a:noFill/>
          <a:ln>
            <a:noFill/>
          </a:ln>
        </p:spPr>
      </p:pic>
      <p:sp>
        <p:nvSpPr>
          <p:cNvPr id="216" name="Google Shape;216;p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ld statement slide (purple)">
  <p:cSld name="MAIN_POINT_1_1_1_1">
    <p:spTree>
      <p:nvGrpSpPr>
        <p:cNvPr id="217" name="Shape 217"/>
        <p:cNvGrpSpPr/>
        <p:nvPr/>
      </p:nvGrpSpPr>
      <p:grpSpPr>
        <a:xfrm>
          <a:off x="0" y="0"/>
          <a:ext cx="0" cy="0"/>
          <a:chOff x="0" y="0"/>
          <a:chExt cx="0" cy="0"/>
        </a:xfrm>
      </p:grpSpPr>
      <p:sp>
        <p:nvSpPr>
          <p:cNvPr id="218" name="Google Shape;218;p31"/>
          <p:cNvSpPr txBox="1"/>
          <p:nvPr/>
        </p:nvSpPr>
        <p:spPr>
          <a:xfrm>
            <a:off x="-19" y="0"/>
            <a:ext cx="9144000" cy="5143500"/>
          </a:xfrm>
          <a:prstGeom prst="rect">
            <a:avLst/>
          </a:prstGeom>
          <a:solidFill>
            <a:srgbClr val="8E83E4"/>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219" name="Google Shape;219;p31"/>
          <p:cNvSpPr txBox="1"/>
          <p:nvPr>
            <p:ph type="title"/>
          </p:nvPr>
        </p:nvSpPr>
        <p:spPr>
          <a:xfrm>
            <a:off x="490250" y="450150"/>
            <a:ext cx="6367800" cy="40908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accent6"/>
              </a:buClr>
              <a:buSzPts val="5300"/>
              <a:buNone/>
              <a:defRPr b="1" sz="5300">
                <a:solidFill>
                  <a:schemeClr val="accent6"/>
                </a:solidFill>
              </a:defRPr>
            </a:lvl1pPr>
            <a:lvl2pPr lvl="1" algn="l">
              <a:lnSpc>
                <a:spcPct val="100000"/>
              </a:lnSpc>
              <a:spcBef>
                <a:spcPts val="0"/>
              </a:spcBef>
              <a:spcAft>
                <a:spcPts val="0"/>
              </a:spcAft>
              <a:buClr>
                <a:schemeClr val="accent6"/>
              </a:buClr>
              <a:buSzPts val="5300"/>
              <a:buNone/>
              <a:defRPr b="1" sz="5300">
                <a:solidFill>
                  <a:schemeClr val="accent6"/>
                </a:solidFill>
              </a:defRPr>
            </a:lvl2pPr>
            <a:lvl3pPr lvl="2" algn="l">
              <a:lnSpc>
                <a:spcPct val="100000"/>
              </a:lnSpc>
              <a:spcBef>
                <a:spcPts val="0"/>
              </a:spcBef>
              <a:spcAft>
                <a:spcPts val="0"/>
              </a:spcAft>
              <a:buClr>
                <a:schemeClr val="accent6"/>
              </a:buClr>
              <a:buSzPts val="5300"/>
              <a:buNone/>
              <a:defRPr b="1" sz="5300">
                <a:solidFill>
                  <a:schemeClr val="accent6"/>
                </a:solidFill>
              </a:defRPr>
            </a:lvl3pPr>
            <a:lvl4pPr lvl="3" algn="l">
              <a:lnSpc>
                <a:spcPct val="100000"/>
              </a:lnSpc>
              <a:spcBef>
                <a:spcPts val="0"/>
              </a:spcBef>
              <a:spcAft>
                <a:spcPts val="0"/>
              </a:spcAft>
              <a:buClr>
                <a:schemeClr val="accent6"/>
              </a:buClr>
              <a:buSzPts val="5300"/>
              <a:buNone/>
              <a:defRPr b="1" sz="5300">
                <a:solidFill>
                  <a:schemeClr val="accent6"/>
                </a:solidFill>
              </a:defRPr>
            </a:lvl4pPr>
            <a:lvl5pPr lvl="4" algn="l">
              <a:lnSpc>
                <a:spcPct val="100000"/>
              </a:lnSpc>
              <a:spcBef>
                <a:spcPts val="0"/>
              </a:spcBef>
              <a:spcAft>
                <a:spcPts val="0"/>
              </a:spcAft>
              <a:buClr>
                <a:schemeClr val="accent6"/>
              </a:buClr>
              <a:buSzPts val="5300"/>
              <a:buNone/>
              <a:defRPr b="1" sz="5300">
                <a:solidFill>
                  <a:schemeClr val="accent6"/>
                </a:solidFill>
              </a:defRPr>
            </a:lvl5pPr>
            <a:lvl6pPr lvl="5" algn="l">
              <a:lnSpc>
                <a:spcPct val="100000"/>
              </a:lnSpc>
              <a:spcBef>
                <a:spcPts val="0"/>
              </a:spcBef>
              <a:spcAft>
                <a:spcPts val="0"/>
              </a:spcAft>
              <a:buClr>
                <a:schemeClr val="accent6"/>
              </a:buClr>
              <a:buSzPts val="5300"/>
              <a:buNone/>
              <a:defRPr b="1" sz="5300">
                <a:solidFill>
                  <a:schemeClr val="accent6"/>
                </a:solidFill>
              </a:defRPr>
            </a:lvl6pPr>
            <a:lvl7pPr lvl="6" algn="l">
              <a:lnSpc>
                <a:spcPct val="100000"/>
              </a:lnSpc>
              <a:spcBef>
                <a:spcPts val="0"/>
              </a:spcBef>
              <a:spcAft>
                <a:spcPts val="0"/>
              </a:spcAft>
              <a:buClr>
                <a:schemeClr val="accent6"/>
              </a:buClr>
              <a:buSzPts val="5300"/>
              <a:buNone/>
              <a:defRPr b="1" sz="5300">
                <a:solidFill>
                  <a:schemeClr val="accent6"/>
                </a:solidFill>
              </a:defRPr>
            </a:lvl7pPr>
            <a:lvl8pPr lvl="7" algn="l">
              <a:lnSpc>
                <a:spcPct val="100000"/>
              </a:lnSpc>
              <a:spcBef>
                <a:spcPts val="0"/>
              </a:spcBef>
              <a:spcAft>
                <a:spcPts val="0"/>
              </a:spcAft>
              <a:buClr>
                <a:schemeClr val="accent6"/>
              </a:buClr>
              <a:buSzPts val="5300"/>
              <a:buNone/>
              <a:defRPr b="1" sz="5300">
                <a:solidFill>
                  <a:schemeClr val="accent6"/>
                </a:solidFill>
              </a:defRPr>
            </a:lvl8pPr>
            <a:lvl9pPr lvl="8" algn="l">
              <a:lnSpc>
                <a:spcPct val="100000"/>
              </a:lnSpc>
              <a:spcBef>
                <a:spcPts val="0"/>
              </a:spcBef>
              <a:spcAft>
                <a:spcPts val="0"/>
              </a:spcAft>
              <a:buClr>
                <a:schemeClr val="accent6"/>
              </a:buClr>
              <a:buSzPts val="5300"/>
              <a:buNone/>
              <a:defRPr b="1" sz="5300">
                <a:solidFill>
                  <a:schemeClr val="accent6"/>
                </a:solidFill>
              </a:defRPr>
            </a:lvl9pPr>
          </a:lstStyle>
          <a:p/>
        </p:txBody>
      </p:sp>
      <p:pic>
        <p:nvPicPr>
          <p:cNvPr id="220" name="Google Shape;220;p31"/>
          <p:cNvPicPr preferRelativeResize="0"/>
          <p:nvPr/>
        </p:nvPicPr>
        <p:blipFill rotWithShape="1">
          <a:blip r:embed="rId2">
            <a:alphaModFix/>
          </a:blip>
          <a:srcRect b="0" l="0" r="0" t="0"/>
          <a:stretch/>
        </p:blipFill>
        <p:spPr>
          <a:xfrm>
            <a:off x="8176220" y="4288224"/>
            <a:ext cx="553002" cy="572625"/>
          </a:xfrm>
          <a:prstGeom prst="rect">
            <a:avLst/>
          </a:prstGeom>
          <a:noFill/>
          <a:ln>
            <a:noFill/>
          </a:ln>
        </p:spPr>
      </p:pic>
      <p:sp>
        <p:nvSpPr>
          <p:cNvPr id="221" name="Google Shape;221;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ld statement slide (green)">
  <p:cSld name="MAIN_POINT_1_1_1_1_1">
    <p:spTree>
      <p:nvGrpSpPr>
        <p:cNvPr id="222" name="Shape 222"/>
        <p:cNvGrpSpPr/>
        <p:nvPr/>
      </p:nvGrpSpPr>
      <p:grpSpPr>
        <a:xfrm>
          <a:off x="0" y="0"/>
          <a:ext cx="0" cy="0"/>
          <a:chOff x="0" y="0"/>
          <a:chExt cx="0" cy="0"/>
        </a:xfrm>
      </p:grpSpPr>
      <p:sp>
        <p:nvSpPr>
          <p:cNvPr id="223" name="Google Shape;223;p32"/>
          <p:cNvSpPr txBox="1"/>
          <p:nvPr/>
        </p:nvSpPr>
        <p:spPr>
          <a:xfrm>
            <a:off x="-19" y="0"/>
            <a:ext cx="9144000" cy="5143500"/>
          </a:xfrm>
          <a:prstGeom prst="rect">
            <a:avLst/>
          </a:prstGeom>
          <a:solidFill>
            <a:srgbClr val="71DB67"/>
          </a:solid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224" name="Google Shape;224;p32"/>
          <p:cNvSpPr txBox="1"/>
          <p:nvPr>
            <p:ph type="title"/>
          </p:nvPr>
        </p:nvSpPr>
        <p:spPr>
          <a:xfrm>
            <a:off x="490250" y="450150"/>
            <a:ext cx="6367800" cy="40908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accent6"/>
              </a:buClr>
              <a:buSzPts val="5300"/>
              <a:buNone/>
              <a:defRPr b="1" sz="5300">
                <a:solidFill>
                  <a:schemeClr val="accent6"/>
                </a:solidFill>
              </a:defRPr>
            </a:lvl1pPr>
            <a:lvl2pPr lvl="1" algn="l">
              <a:lnSpc>
                <a:spcPct val="100000"/>
              </a:lnSpc>
              <a:spcBef>
                <a:spcPts val="0"/>
              </a:spcBef>
              <a:spcAft>
                <a:spcPts val="0"/>
              </a:spcAft>
              <a:buClr>
                <a:schemeClr val="accent6"/>
              </a:buClr>
              <a:buSzPts val="5300"/>
              <a:buNone/>
              <a:defRPr b="1" sz="5300">
                <a:solidFill>
                  <a:schemeClr val="accent6"/>
                </a:solidFill>
              </a:defRPr>
            </a:lvl2pPr>
            <a:lvl3pPr lvl="2" algn="l">
              <a:lnSpc>
                <a:spcPct val="100000"/>
              </a:lnSpc>
              <a:spcBef>
                <a:spcPts val="0"/>
              </a:spcBef>
              <a:spcAft>
                <a:spcPts val="0"/>
              </a:spcAft>
              <a:buClr>
                <a:schemeClr val="accent6"/>
              </a:buClr>
              <a:buSzPts val="5300"/>
              <a:buNone/>
              <a:defRPr b="1" sz="5300">
                <a:solidFill>
                  <a:schemeClr val="accent6"/>
                </a:solidFill>
              </a:defRPr>
            </a:lvl3pPr>
            <a:lvl4pPr lvl="3" algn="l">
              <a:lnSpc>
                <a:spcPct val="100000"/>
              </a:lnSpc>
              <a:spcBef>
                <a:spcPts val="0"/>
              </a:spcBef>
              <a:spcAft>
                <a:spcPts val="0"/>
              </a:spcAft>
              <a:buClr>
                <a:schemeClr val="accent6"/>
              </a:buClr>
              <a:buSzPts val="5300"/>
              <a:buNone/>
              <a:defRPr b="1" sz="5300">
                <a:solidFill>
                  <a:schemeClr val="accent6"/>
                </a:solidFill>
              </a:defRPr>
            </a:lvl4pPr>
            <a:lvl5pPr lvl="4" algn="l">
              <a:lnSpc>
                <a:spcPct val="100000"/>
              </a:lnSpc>
              <a:spcBef>
                <a:spcPts val="0"/>
              </a:spcBef>
              <a:spcAft>
                <a:spcPts val="0"/>
              </a:spcAft>
              <a:buClr>
                <a:schemeClr val="accent6"/>
              </a:buClr>
              <a:buSzPts val="5300"/>
              <a:buNone/>
              <a:defRPr b="1" sz="5300">
                <a:solidFill>
                  <a:schemeClr val="accent6"/>
                </a:solidFill>
              </a:defRPr>
            </a:lvl5pPr>
            <a:lvl6pPr lvl="5" algn="l">
              <a:lnSpc>
                <a:spcPct val="100000"/>
              </a:lnSpc>
              <a:spcBef>
                <a:spcPts val="0"/>
              </a:spcBef>
              <a:spcAft>
                <a:spcPts val="0"/>
              </a:spcAft>
              <a:buClr>
                <a:schemeClr val="accent6"/>
              </a:buClr>
              <a:buSzPts val="5300"/>
              <a:buNone/>
              <a:defRPr b="1" sz="5300">
                <a:solidFill>
                  <a:schemeClr val="accent6"/>
                </a:solidFill>
              </a:defRPr>
            </a:lvl6pPr>
            <a:lvl7pPr lvl="6" algn="l">
              <a:lnSpc>
                <a:spcPct val="100000"/>
              </a:lnSpc>
              <a:spcBef>
                <a:spcPts val="0"/>
              </a:spcBef>
              <a:spcAft>
                <a:spcPts val="0"/>
              </a:spcAft>
              <a:buClr>
                <a:schemeClr val="accent6"/>
              </a:buClr>
              <a:buSzPts val="5300"/>
              <a:buNone/>
              <a:defRPr b="1" sz="5300">
                <a:solidFill>
                  <a:schemeClr val="accent6"/>
                </a:solidFill>
              </a:defRPr>
            </a:lvl7pPr>
            <a:lvl8pPr lvl="7" algn="l">
              <a:lnSpc>
                <a:spcPct val="100000"/>
              </a:lnSpc>
              <a:spcBef>
                <a:spcPts val="0"/>
              </a:spcBef>
              <a:spcAft>
                <a:spcPts val="0"/>
              </a:spcAft>
              <a:buClr>
                <a:schemeClr val="accent6"/>
              </a:buClr>
              <a:buSzPts val="5300"/>
              <a:buNone/>
              <a:defRPr b="1" sz="5300">
                <a:solidFill>
                  <a:schemeClr val="accent6"/>
                </a:solidFill>
              </a:defRPr>
            </a:lvl8pPr>
            <a:lvl9pPr lvl="8" algn="l">
              <a:lnSpc>
                <a:spcPct val="100000"/>
              </a:lnSpc>
              <a:spcBef>
                <a:spcPts val="0"/>
              </a:spcBef>
              <a:spcAft>
                <a:spcPts val="0"/>
              </a:spcAft>
              <a:buClr>
                <a:schemeClr val="accent6"/>
              </a:buClr>
              <a:buSzPts val="5300"/>
              <a:buNone/>
              <a:defRPr b="1" sz="5300">
                <a:solidFill>
                  <a:schemeClr val="accent6"/>
                </a:solidFill>
              </a:defRPr>
            </a:lvl9pPr>
          </a:lstStyle>
          <a:p/>
        </p:txBody>
      </p:sp>
      <p:pic>
        <p:nvPicPr>
          <p:cNvPr id="225" name="Google Shape;225;p32"/>
          <p:cNvPicPr preferRelativeResize="0"/>
          <p:nvPr/>
        </p:nvPicPr>
        <p:blipFill rotWithShape="1">
          <a:blip r:embed="rId2">
            <a:alphaModFix/>
          </a:blip>
          <a:srcRect b="0" l="0" r="0" t="0"/>
          <a:stretch/>
        </p:blipFill>
        <p:spPr>
          <a:xfrm>
            <a:off x="8176220" y="4288224"/>
            <a:ext cx="553002" cy="572625"/>
          </a:xfrm>
          <a:prstGeom prst="rect">
            <a:avLst/>
          </a:prstGeom>
          <a:noFill/>
          <a:ln>
            <a:noFill/>
          </a:ln>
        </p:spPr>
      </p:pic>
      <p:sp>
        <p:nvSpPr>
          <p:cNvPr id="226" name="Google Shape;226;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p:cSld name="Default slide (g3e8ff69ed93_369_0)">
    <p:spTree>
      <p:nvGrpSpPr>
        <p:cNvPr id="227" name="Shape 227"/>
        <p:cNvGrpSpPr/>
        <p:nvPr/>
      </p:nvGrpSpPr>
      <p:grpSpPr>
        <a:xfrm>
          <a:off x="0" y="0"/>
          <a:ext cx="0" cy="0"/>
          <a:chOff x="0" y="0"/>
          <a:chExt cx="0" cy="0"/>
        </a:xfrm>
      </p:grpSpPr>
      <p:sp>
        <p:nvSpPr>
          <p:cNvPr id="228" name="Google Shape;228;p33"/>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29" name="Google Shape;229;p33"/>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30" name="Google Shape;230;p33"/>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31" name="Google Shape;231;p33"/>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32" name="Google Shape;232;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p:cSld name="Default slide (g3e8ff69ed93_355_0)">
    <p:spTree>
      <p:nvGrpSpPr>
        <p:cNvPr id="233" name="Shape 233"/>
        <p:cNvGrpSpPr/>
        <p:nvPr/>
      </p:nvGrpSpPr>
      <p:grpSpPr>
        <a:xfrm>
          <a:off x="0" y="0"/>
          <a:ext cx="0" cy="0"/>
          <a:chOff x="0" y="0"/>
          <a:chExt cx="0" cy="0"/>
        </a:xfrm>
      </p:grpSpPr>
      <p:sp>
        <p:nvSpPr>
          <p:cNvPr id="234" name="Google Shape;234;p34"/>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35" name="Google Shape;235;p34"/>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36" name="Google Shape;236;p34"/>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37" name="Google Shape;237;p34"/>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38" name="Google Shape;238;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p:cSld name="Default slide (g3e8ff69ed93_341_0)">
    <p:spTree>
      <p:nvGrpSpPr>
        <p:cNvPr id="239" name="Shape 239"/>
        <p:cNvGrpSpPr/>
        <p:nvPr/>
      </p:nvGrpSpPr>
      <p:grpSpPr>
        <a:xfrm>
          <a:off x="0" y="0"/>
          <a:ext cx="0" cy="0"/>
          <a:chOff x="0" y="0"/>
          <a:chExt cx="0" cy="0"/>
        </a:xfrm>
      </p:grpSpPr>
      <p:sp>
        <p:nvSpPr>
          <p:cNvPr id="240" name="Google Shape;240;p35"/>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41" name="Google Shape;241;p35"/>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42" name="Google Shape;242;p35"/>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43" name="Google Shape;243;p35"/>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44" name="Google Shape;244;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p:cSld name="Default slide (g3e8ff69ed93_334_0)">
    <p:spTree>
      <p:nvGrpSpPr>
        <p:cNvPr id="245" name="Shape 245"/>
        <p:cNvGrpSpPr/>
        <p:nvPr/>
      </p:nvGrpSpPr>
      <p:grpSpPr>
        <a:xfrm>
          <a:off x="0" y="0"/>
          <a:ext cx="0" cy="0"/>
          <a:chOff x="0" y="0"/>
          <a:chExt cx="0" cy="0"/>
        </a:xfrm>
      </p:grpSpPr>
      <p:sp>
        <p:nvSpPr>
          <p:cNvPr id="246" name="Google Shape;246;p36"/>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47" name="Google Shape;247;p36"/>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48" name="Google Shape;248;p36"/>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49" name="Google Shape;249;p36"/>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50" name="Google Shape;250;p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p:cSld name="Default slide (g3e8ff69ed93_327_0)">
    <p:spTree>
      <p:nvGrpSpPr>
        <p:cNvPr id="251" name="Shape 251"/>
        <p:cNvGrpSpPr/>
        <p:nvPr/>
      </p:nvGrpSpPr>
      <p:grpSpPr>
        <a:xfrm>
          <a:off x="0" y="0"/>
          <a:ext cx="0" cy="0"/>
          <a:chOff x="0" y="0"/>
          <a:chExt cx="0" cy="0"/>
        </a:xfrm>
      </p:grpSpPr>
      <p:sp>
        <p:nvSpPr>
          <p:cNvPr id="252" name="Google Shape;252;p37"/>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53" name="Google Shape;253;p37"/>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54" name="Google Shape;254;p37"/>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55" name="Google Shape;255;p37"/>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56" name="Google Shape;256;p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p:cSld name="Default slide (g3e8ff69ed93_299_0)">
    <p:spTree>
      <p:nvGrpSpPr>
        <p:cNvPr id="257" name="Shape 257"/>
        <p:cNvGrpSpPr/>
        <p:nvPr/>
      </p:nvGrpSpPr>
      <p:grpSpPr>
        <a:xfrm>
          <a:off x="0" y="0"/>
          <a:ext cx="0" cy="0"/>
          <a:chOff x="0" y="0"/>
          <a:chExt cx="0" cy="0"/>
        </a:xfrm>
      </p:grpSpPr>
      <p:sp>
        <p:nvSpPr>
          <p:cNvPr id="258" name="Google Shape;258;p38"/>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59" name="Google Shape;259;p38"/>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60" name="Google Shape;260;p38"/>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61" name="Google Shape;261;p38"/>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62" name="Google Shape;262;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p:cSld name="Default slide (g3e8ff69ed93_272_0)">
    <p:spTree>
      <p:nvGrpSpPr>
        <p:cNvPr id="263" name="Shape 263"/>
        <p:cNvGrpSpPr/>
        <p:nvPr/>
      </p:nvGrpSpPr>
      <p:grpSpPr>
        <a:xfrm>
          <a:off x="0" y="0"/>
          <a:ext cx="0" cy="0"/>
          <a:chOff x="0" y="0"/>
          <a:chExt cx="0" cy="0"/>
        </a:xfrm>
      </p:grpSpPr>
      <p:sp>
        <p:nvSpPr>
          <p:cNvPr id="264" name="Google Shape;264;p39"/>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65" name="Google Shape;265;p39"/>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66" name="Google Shape;266;p39"/>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67" name="Google Shape;267;p39"/>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68" name="Google Shape;268;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p:cSld name="Default slide (g3e8ff69ed93_243_0)">
    <p:spTree>
      <p:nvGrpSpPr>
        <p:cNvPr id="269" name="Shape 269"/>
        <p:cNvGrpSpPr/>
        <p:nvPr/>
      </p:nvGrpSpPr>
      <p:grpSpPr>
        <a:xfrm>
          <a:off x="0" y="0"/>
          <a:ext cx="0" cy="0"/>
          <a:chOff x="0" y="0"/>
          <a:chExt cx="0" cy="0"/>
        </a:xfrm>
      </p:grpSpPr>
      <p:sp>
        <p:nvSpPr>
          <p:cNvPr id="270" name="Google Shape;270;p40"/>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71" name="Google Shape;271;p40"/>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72" name="Google Shape;272;p40"/>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73" name="Google Shape;273;p40"/>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74" name="Google Shape;274;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p:cSld name="Default slide (g3e8ff69ed93_191_0)">
    <p:spTree>
      <p:nvGrpSpPr>
        <p:cNvPr id="275" name="Shape 275"/>
        <p:cNvGrpSpPr/>
        <p:nvPr/>
      </p:nvGrpSpPr>
      <p:grpSpPr>
        <a:xfrm>
          <a:off x="0" y="0"/>
          <a:ext cx="0" cy="0"/>
          <a:chOff x="0" y="0"/>
          <a:chExt cx="0" cy="0"/>
        </a:xfrm>
      </p:grpSpPr>
      <p:sp>
        <p:nvSpPr>
          <p:cNvPr id="276" name="Google Shape;276;p41"/>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77" name="Google Shape;277;p41"/>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78" name="Google Shape;278;p41"/>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79" name="Google Shape;279;p41"/>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80" name="Google Shape;280;p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p:cSld name="Default slide (g3e8ff69ed93_163_0)">
    <p:spTree>
      <p:nvGrpSpPr>
        <p:cNvPr id="281" name="Shape 281"/>
        <p:cNvGrpSpPr/>
        <p:nvPr/>
      </p:nvGrpSpPr>
      <p:grpSpPr>
        <a:xfrm>
          <a:off x="0" y="0"/>
          <a:ext cx="0" cy="0"/>
          <a:chOff x="0" y="0"/>
          <a:chExt cx="0" cy="0"/>
        </a:xfrm>
      </p:grpSpPr>
      <p:sp>
        <p:nvSpPr>
          <p:cNvPr id="282" name="Google Shape;282;p42"/>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83" name="Google Shape;283;p42"/>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84" name="Google Shape;284;p42"/>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85" name="Google Shape;285;p42"/>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86" name="Google Shape;286;p4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p:cSld name="Default slide (g3e8ff69ed93_135_0)">
    <p:spTree>
      <p:nvGrpSpPr>
        <p:cNvPr id="287" name="Shape 287"/>
        <p:cNvGrpSpPr/>
        <p:nvPr/>
      </p:nvGrpSpPr>
      <p:grpSpPr>
        <a:xfrm>
          <a:off x="0" y="0"/>
          <a:ext cx="0" cy="0"/>
          <a:chOff x="0" y="0"/>
          <a:chExt cx="0" cy="0"/>
        </a:xfrm>
      </p:grpSpPr>
      <p:sp>
        <p:nvSpPr>
          <p:cNvPr id="288" name="Google Shape;288;p43"/>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89" name="Google Shape;289;p43"/>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90" name="Google Shape;290;p43"/>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91" name="Google Shape;291;p43"/>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92" name="Google Shape;292;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p:cSld name="Default slide (g3e8ff69ed93_114_0)">
    <p:spTree>
      <p:nvGrpSpPr>
        <p:cNvPr id="293" name="Shape 293"/>
        <p:cNvGrpSpPr/>
        <p:nvPr/>
      </p:nvGrpSpPr>
      <p:grpSpPr>
        <a:xfrm>
          <a:off x="0" y="0"/>
          <a:ext cx="0" cy="0"/>
          <a:chOff x="0" y="0"/>
          <a:chExt cx="0" cy="0"/>
        </a:xfrm>
      </p:grpSpPr>
      <p:sp>
        <p:nvSpPr>
          <p:cNvPr id="294" name="Google Shape;294;p44"/>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295" name="Google Shape;295;p44"/>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296" name="Google Shape;296;p44"/>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297" name="Google Shape;297;p44"/>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298" name="Google Shape;298;p4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1">
  <p:cSld name="Default slide (g3e8ff69ed93_100_0)">
    <p:spTree>
      <p:nvGrpSpPr>
        <p:cNvPr id="299" name="Shape 299"/>
        <p:cNvGrpSpPr/>
        <p:nvPr/>
      </p:nvGrpSpPr>
      <p:grpSpPr>
        <a:xfrm>
          <a:off x="0" y="0"/>
          <a:ext cx="0" cy="0"/>
          <a:chOff x="0" y="0"/>
          <a:chExt cx="0" cy="0"/>
        </a:xfrm>
      </p:grpSpPr>
      <p:sp>
        <p:nvSpPr>
          <p:cNvPr id="300" name="Google Shape;300;p45"/>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01" name="Google Shape;301;p45"/>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02" name="Google Shape;302;p45"/>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03" name="Google Shape;303;p45"/>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04" name="Google Shape;304;p4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1 1">
  <p:cSld name="Default slide (g3e8ff69ed93_93_0)">
    <p:spTree>
      <p:nvGrpSpPr>
        <p:cNvPr id="305" name="Shape 305"/>
        <p:cNvGrpSpPr/>
        <p:nvPr/>
      </p:nvGrpSpPr>
      <p:grpSpPr>
        <a:xfrm>
          <a:off x="0" y="0"/>
          <a:ext cx="0" cy="0"/>
          <a:chOff x="0" y="0"/>
          <a:chExt cx="0" cy="0"/>
        </a:xfrm>
      </p:grpSpPr>
      <p:sp>
        <p:nvSpPr>
          <p:cNvPr id="306" name="Google Shape;306;p46"/>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07" name="Google Shape;307;p46"/>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08" name="Google Shape;308;p46"/>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09" name="Google Shape;309;p46"/>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10" name="Google Shape;310;p4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1 1 1">
  <p:cSld name="Default slide (g3e8ff69ed93_79_0)">
    <p:spTree>
      <p:nvGrpSpPr>
        <p:cNvPr id="311" name="Shape 311"/>
        <p:cNvGrpSpPr/>
        <p:nvPr/>
      </p:nvGrpSpPr>
      <p:grpSpPr>
        <a:xfrm>
          <a:off x="0" y="0"/>
          <a:ext cx="0" cy="0"/>
          <a:chOff x="0" y="0"/>
          <a:chExt cx="0" cy="0"/>
        </a:xfrm>
      </p:grpSpPr>
      <p:sp>
        <p:nvSpPr>
          <p:cNvPr id="312" name="Google Shape;312;p47"/>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13" name="Google Shape;313;p47"/>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14" name="Google Shape;314;p47"/>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15" name="Google Shape;315;p47"/>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16" name="Google Shape;316;p4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1 1 1 1">
  <p:cSld name="Default slide (g3e8ff69ed93_72_0)">
    <p:spTree>
      <p:nvGrpSpPr>
        <p:cNvPr id="317" name="Shape 317"/>
        <p:cNvGrpSpPr/>
        <p:nvPr/>
      </p:nvGrpSpPr>
      <p:grpSpPr>
        <a:xfrm>
          <a:off x="0" y="0"/>
          <a:ext cx="0" cy="0"/>
          <a:chOff x="0" y="0"/>
          <a:chExt cx="0" cy="0"/>
        </a:xfrm>
      </p:grpSpPr>
      <p:sp>
        <p:nvSpPr>
          <p:cNvPr id="318" name="Google Shape;318;p48"/>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19" name="Google Shape;319;p48"/>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20" name="Google Shape;320;p48"/>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21" name="Google Shape;321;p48"/>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22" name="Google Shape;322;p4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1 1 1 1 1">
  <p:cSld name="Default slide (g3e8ff69ed93_65_0)">
    <p:spTree>
      <p:nvGrpSpPr>
        <p:cNvPr id="323" name="Shape 323"/>
        <p:cNvGrpSpPr/>
        <p:nvPr/>
      </p:nvGrpSpPr>
      <p:grpSpPr>
        <a:xfrm>
          <a:off x="0" y="0"/>
          <a:ext cx="0" cy="0"/>
          <a:chOff x="0" y="0"/>
          <a:chExt cx="0" cy="0"/>
        </a:xfrm>
      </p:grpSpPr>
      <p:sp>
        <p:nvSpPr>
          <p:cNvPr id="324" name="Google Shape;324;p49"/>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25" name="Google Shape;325;p49"/>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26" name="Google Shape;326;p49"/>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27" name="Google Shape;327;p49"/>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28" name="Google Shape;328;p4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1 1 1 1 1 1">
  <p:cSld name="Default slide (g3e8ff69ed93_30_0)">
    <p:spTree>
      <p:nvGrpSpPr>
        <p:cNvPr id="329" name="Shape 329"/>
        <p:cNvGrpSpPr/>
        <p:nvPr/>
      </p:nvGrpSpPr>
      <p:grpSpPr>
        <a:xfrm>
          <a:off x="0" y="0"/>
          <a:ext cx="0" cy="0"/>
          <a:chOff x="0" y="0"/>
          <a:chExt cx="0" cy="0"/>
        </a:xfrm>
      </p:grpSpPr>
      <p:sp>
        <p:nvSpPr>
          <p:cNvPr id="330" name="Google Shape;330;p50"/>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31" name="Google Shape;331;p50"/>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32" name="Google Shape;332;p50"/>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33" name="Google Shape;333;p50"/>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34" name="Google Shape;334;p5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1 1 1 1 1 1 1">
  <p:cSld name="Default slide (g3e8ff69ed93_23_0)">
    <p:spTree>
      <p:nvGrpSpPr>
        <p:cNvPr id="335" name="Shape 335"/>
        <p:cNvGrpSpPr/>
        <p:nvPr/>
      </p:nvGrpSpPr>
      <p:grpSpPr>
        <a:xfrm>
          <a:off x="0" y="0"/>
          <a:ext cx="0" cy="0"/>
          <a:chOff x="0" y="0"/>
          <a:chExt cx="0" cy="0"/>
        </a:xfrm>
      </p:grpSpPr>
      <p:sp>
        <p:nvSpPr>
          <p:cNvPr id="336" name="Google Shape;336;p51"/>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37" name="Google Shape;337;p51"/>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38" name="Google Shape;338;p51"/>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39" name="Google Shape;339;p51"/>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40" name="Google Shape;340;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1 1 1 1 1 1 1 1">
  <p:cSld name="Default slide (g3e8ff69ed93_16_0)">
    <p:spTree>
      <p:nvGrpSpPr>
        <p:cNvPr id="341" name="Shape 341"/>
        <p:cNvGrpSpPr/>
        <p:nvPr/>
      </p:nvGrpSpPr>
      <p:grpSpPr>
        <a:xfrm>
          <a:off x="0" y="0"/>
          <a:ext cx="0" cy="0"/>
          <a:chOff x="0" y="0"/>
          <a:chExt cx="0" cy="0"/>
        </a:xfrm>
      </p:grpSpPr>
      <p:sp>
        <p:nvSpPr>
          <p:cNvPr id="342" name="Google Shape;342;p52"/>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43" name="Google Shape;343;p52"/>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44" name="Google Shape;344;p52"/>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45" name="Google Shape;345;p52"/>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46" name="Google Shape;346;p5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1 1 1 1 1 1 1 1 1">
  <p:cSld name="Default slide (g3ecb34035fa_74_0)">
    <p:spTree>
      <p:nvGrpSpPr>
        <p:cNvPr id="347" name="Shape 347"/>
        <p:cNvGrpSpPr/>
        <p:nvPr/>
      </p:nvGrpSpPr>
      <p:grpSpPr>
        <a:xfrm>
          <a:off x="0" y="0"/>
          <a:ext cx="0" cy="0"/>
          <a:chOff x="0" y="0"/>
          <a:chExt cx="0" cy="0"/>
        </a:xfrm>
      </p:grpSpPr>
      <p:sp>
        <p:nvSpPr>
          <p:cNvPr id="348" name="Google Shape;348;p53"/>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49" name="Google Shape;349;p53"/>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50" name="Google Shape;350;p53"/>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51" name="Google Shape;351;p53"/>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52" name="Google Shape;352;p5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1 1 1 1 1 1 1 1 1 1 2">
  <p:cSld name="Default slide (g3ecb34035fa_88_0)">
    <p:spTree>
      <p:nvGrpSpPr>
        <p:cNvPr id="353" name="Shape 353"/>
        <p:cNvGrpSpPr/>
        <p:nvPr/>
      </p:nvGrpSpPr>
      <p:grpSpPr>
        <a:xfrm>
          <a:off x="0" y="0"/>
          <a:ext cx="0" cy="0"/>
          <a:chOff x="0" y="0"/>
          <a:chExt cx="0" cy="0"/>
        </a:xfrm>
      </p:grpSpPr>
      <p:sp>
        <p:nvSpPr>
          <p:cNvPr id="354" name="Google Shape;354;p54"/>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55" name="Google Shape;355;p54"/>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56" name="Google Shape;356;p54"/>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57" name="Google Shape;357;p54"/>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58" name="Google Shape;358;p5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slide 1 1 2">
  <p:cSld name="Default slide (g3ecb34035fa_179_0)">
    <p:spTree>
      <p:nvGrpSpPr>
        <p:cNvPr id="359" name="Shape 359"/>
        <p:cNvGrpSpPr/>
        <p:nvPr/>
      </p:nvGrpSpPr>
      <p:grpSpPr>
        <a:xfrm>
          <a:off x="0" y="0"/>
          <a:ext cx="0" cy="0"/>
          <a:chOff x="0" y="0"/>
          <a:chExt cx="0" cy="0"/>
        </a:xfrm>
      </p:grpSpPr>
      <p:sp>
        <p:nvSpPr>
          <p:cNvPr id="360" name="Google Shape;360;p55"/>
          <p:cNvSpPr txBox="1"/>
          <p:nvPr>
            <p:ph type="title"/>
          </p:nvPr>
        </p:nvSpPr>
        <p:spPr>
          <a:xfrm>
            <a:off x="643492" y="426919"/>
            <a:ext cx="67575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8E83E4"/>
              </a:buClr>
              <a:buSzPts val="2700"/>
              <a:buFont typeface="Montserrat Medium"/>
              <a:buNone/>
              <a:defRPr sz="2700">
                <a:solidFill>
                  <a:srgbClr val="8E83E4"/>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accent1"/>
              </a:buClr>
              <a:buSzPts val="2700"/>
              <a:buFont typeface="Montserrat Medium"/>
              <a:buNone/>
              <a:defRPr sz="2700">
                <a:solidFill>
                  <a:schemeClr val="accent1"/>
                </a:solidFill>
                <a:latin typeface="Montserrat Medium"/>
                <a:ea typeface="Montserrat Medium"/>
                <a:cs typeface="Montserrat Medium"/>
                <a:sym typeface="Montserrat Medium"/>
              </a:defRPr>
            </a:lvl9pPr>
          </a:lstStyle>
          <a:p/>
        </p:txBody>
      </p:sp>
      <p:sp>
        <p:nvSpPr>
          <p:cNvPr id="361" name="Google Shape;361;p55"/>
          <p:cNvSpPr txBox="1"/>
          <p:nvPr>
            <p:ph idx="1" type="body"/>
          </p:nvPr>
        </p:nvSpPr>
        <p:spPr>
          <a:xfrm>
            <a:off x="643492" y="1442874"/>
            <a:ext cx="6757500" cy="2639700"/>
          </a:xfrm>
          <a:prstGeom prst="rect">
            <a:avLst/>
          </a:prstGeom>
          <a:noFill/>
          <a:ln>
            <a:noFill/>
          </a:ln>
        </p:spPr>
        <p:txBody>
          <a:bodyPr anchorCtr="0" anchor="t" bIns="0" lIns="0" spcFirstLastPara="1" rIns="0" wrap="square" tIns="0">
            <a:noAutofit/>
          </a:bodyPr>
          <a:lstStyle>
            <a:lvl1pPr indent="-304800" lvl="0" marL="457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1pPr>
            <a:lvl2pPr indent="-304800" lvl="1" marL="914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2pPr>
            <a:lvl3pPr indent="-304800" lvl="2" marL="1371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3pPr>
            <a:lvl4pPr indent="-304800" lvl="3" marL="1828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4pPr>
            <a:lvl5pPr indent="-304800" lvl="4" marL="22860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5pPr>
            <a:lvl6pPr indent="-304800" lvl="5" marL="27432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6pPr>
            <a:lvl7pPr indent="-304800" lvl="6" marL="32004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7pPr>
            <a:lvl8pPr indent="-304800" lvl="7" marL="36576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8pPr>
            <a:lvl9pPr indent="-304800" lvl="8" marL="4114800" algn="l">
              <a:lnSpc>
                <a:spcPct val="135000"/>
              </a:lnSpc>
              <a:spcBef>
                <a:spcPts val="400"/>
              </a:spcBef>
              <a:spcAft>
                <a:spcPts val="0"/>
              </a:spcAft>
              <a:buSzPts val="1200"/>
              <a:buFont typeface="Montserrat Light"/>
              <a:buChar char="■"/>
              <a:defRPr>
                <a:latin typeface="Montserrat Light"/>
                <a:ea typeface="Montserrat Light"/>
                <a:cs typeface="Montserrat Light"/>
                <a:sym typeface="Montserrat Light"/>
              </a:defRPr>
            </a:lvl9pPr>
          </a:lstStyle>
          <a:p/>
        </p:txBody>
      </p:sp>
      <p:sp>
        <p:nvSpPr>
          <p:cNvPr id="362" name="Google Shape;362;p55"/>
          <p:cNvSpPr txBox="1"/>
          <p:nvPr>
            <p:ph idx="2" type="subTitle"/>
          </p:nvPr>
        </p:nvSpPr>
        <p:spPr>
          <a:xfrm>
            <a:off x="643492" y="999543"/>
            <a:ext cx="6757500" cy="264600"/>
          </a:xfrm>
          <a:prstGeom prst="rect">
            <a:avLst/>
          </a:prstGeom>
          <a:noFill/>
          <a:ln>
            <a:noFill/>
          </a:ln>
        </p:spPr>
        <p:txBody>
          <a:bodyPr anchorCtr="0" anchor="t" bIns="0" lIns="0" spcFirstLastPara="1" rIns="0" wrap="square" tIns="0">
            <a:noAutofit/>
          </a:bodyPr>
          <a:lstStyle>
            <a:lvl1pPr lvl="0" algn="l">
              <a:lnSpc>
                <a:spcPct val="125000"/>
              </a:lnSpc>
              <a:spcBef>
                <a:spcPts val="400"/>
              </a:spcBef>
              <a:spcAft>
                <a:spcPts val="0"/>
              </a:spcAft>
              <a:buClr>
                <a:schemeClr val="dk2"/>
              </a:buClr>
              <a:buSzPts val="1200"/>
              <a:buNone/>
              <a:defRPr/>
            </a:lvl1pPr>
            <a:lvl2pPr lvl="1" algn="l">
              <a:lnSpc>
                <a:spcPct val="125000"/>
              </a:lnSpc>
              <a:spcBef>
                <a:spcPts val="400"/>
              </a:spcBef>
              <a:spcAft>
                <a:spcPts val="0"/>
              </a:spcAft>
              <a:buClr>
                <a:schemeClr val="accent2"/>
              </a:buClr>
              <a:buSzPts val="1200"/>
              <a:buNone/>
              <a:defRPr>
                <a:solidFill>
                  <a:schemeClr val="accent2"/>
                </a:solidFill>
              </a:defRPr>
            </a:lvl2pPr>
            <a:lvl3pPr lvl="2" algn="l">
              <a:lnSpc>
                <a:spcPct val="125000"/>
              </a:lnSpc>
              <a:spcBef>
                <a:spcPts val="400"/>
              </a:spcBef>
              <a:spcAft>
                <a:spcPts val="0"/>
              </a:spcAft>
              <a:buClr>
                <a:schemeClr val="accent2"/>
              </a:buClr>
              <a:buSzPts val="1200"/>
              <a:buNone/>
              <a:defRPr>
                <a:solidFill>
                  <a:schemeClr val="accent2"/>
                </a:solidFill>
              </a:defRPr>
            </a:lvl3pPr>
            <a:lvl4pPr lvl="3" algn="l">
              <a:lnSpc>
                <a:spcPct val="125000"/>
              </a:lnSpc>
              <a:spcBef>
                <a:spcPts val="400"/>
              </a:spcBef>
              <a:spcAft>
                <a:spcPts val="0"/>
              </a:spcAft>
              <a:buClr>
                <a:schemeClr val="accent2"/>
              </a:buClr>
              <a:buSzPts val="1200"/>
              <a:buNone/>
              <a:defRPr>
                <a:solidFill>
                  <a:schemeClr val="accent2"/>
                </a:solidFill>
              </a:defRPr>
            </a:lvl4pPr>
            <a:lvl5pPr lvl="4" algn="l">
              <a:lnSpc>
                <a:spcPct val="125000"/>
              </a:lnSpc>
              <a:spcBef>
                <a:spcPts val="400"/>
              </a:spcBef>
              <a:spcAft>
                <a:spcPts val="0"/>
              </a:spcAft>
              <a:buClr>
                <a:schemeClr val="accent2"/>
              </a:buClr>
              <a:buSzPts val="1200"/>
              <a:buNone/>
              <a:defRPr>
                <a:solidFill>
                  <a:schemeClr val="accent2"/>
                </a:solidFill>
              </a:defRPr>
            </a:lvl5pPr>
            <a:lvl6pPr lvl="5" algn="l">
              <a:lnSpc>
                <a:spcPct val="125000"/>
              </a:lnSpc>
              <a:spcBef>
                <a:spcPts val="400"/>
              </a:spcBef>
              <a:spcAft>
                <a:spcPts val="0"/>
              </a:spcAft>
              <a:buClr>
                <a:schemeClr val="accent2"/>
              </a:buClr>
              <a:buSzPts val="1200"/>
              <a:buNone/>
              <a:defRPr>
                <a:solidFill>
                  <a:schemeClr val="accent2"/>
                </a:solidFill>
              </a:defRPr>
            </a:lvl6pPr>
            <a:lvl7pPr lvl="6" algn="l">
              <a:lnSpc>
                <a:spcPct val="125000"/>
              </a:lnSpc>
              <a:spcBef>
                <a:spcPts val="400"/>
              </a:spcBef>
              <a:spcAft>
                <a:spcPts val="0"/>
              </a:spcAft>
              <a:buClr>
                <a:schemeClr val="accent2"/>
              </a:buClr>
              <a:buSzPts val="1200"/>
              <a:buNone/>
              <a:defRPr>
                <a:solidFill>
                  <a:schemeClr val="accent2"/>
                </a:solidFill>
              </a:defRPr>
            </a:lvl7pPr>
            <a:lvl8pPr lvl="7" algn="l">
              <a:lnSpc>
                <a:spcPct val="125000"/>
              </a:lnSpc>
              <a:spcBef>
                <a:spcPts val="400"/>
              </a:spcBef>
              <a:spcAft>
                <a:spcPts val="0"/>
              </a:spcAft>
              <a:buClr>
                <a:schemeClr val="accent2"/>
              </a:buClr>
              <a:buSzPts val="1200"/>
              <a:buNone/>
              <a:defRPr>
                <a:solidFill>
                  <a:schemeClr val="accent2"/>
                </a:solidFill>
              </a:defRPr>
            </a:lvl8pPr>
            <a:lvl9pPr lvl="8" algn="l">
              <a:lnSpc>
                <a:spcPct val="125000"/>
              </a:lnSpc>
              <a:spcBef>
                <a:spcPts val="400"/>
              </a:spcBef>
              <a:spcAft>
                <a:spcPts val="400"/>
              </a:spcAft>
              <a:buClr>
                <a:schemeClr val="accent2"/>
              </a:buClr>
              <a:buSzPts val="1200"/>
              <a:buNone/>
              <a:defRPr>
                <a:solidFill>
                  <a:schemeClr val="accent2"/>
                </a:solidFill>
              </a:defRPr>
            </a:lvl9pPr>
          </a:lstStyle>
          <a:p/>
        </p:txBody>
      </p:sp>
      <p:sp>
        <p:nvSpPr>
          <p:cNvPr id="363" name="Google Shape;363;p55"/>
          <p:cNvSpPr txBox="1"/>
          <p:nvPr>
            <p:ph idx="3" type="subTitle"/>
          </p:nvPr>
        </p:nvSpPr>
        <p:spPr>
          <a:xfrm>
            <a:off x="643492" y="4822294"/>
            <a:ext cx="3361200" cy="214800"/>
          </a:xfrm>
          <a:prstGeom prst="rect">
            <a:avLst/>
          </a:prstGeom>
          <a:noFill/>
          <a:ln>
            <a:noFill/>
          </a:ln>
        </p:spPr>
        <p:txBody>
          <a:bodyPr anchorCtr="0" anchor="t" bIns="0" lIns="0" spcFirstLastPara="1" rIns="0" wrap="square" tIns="0">
            <a:normAutofit/>
          </a:bodyPr>
          <a:lstStyle>
            <a:lvl1pPr lvl="0" algn="l">
              <a:lnSpc>
                <a:spcPct val="125000"/>
              </a:lnSpc>
              <a:spcBef>
                <a:spcPts val="400"/>
              </a:spcBef>
              <a:spcAft>
                <a:spcPts val="0"/>
              </a:spcAft>
              <a:buClr>
                <a:schemeClr val="lt1"/>
              </a:buClr>
              <a:buSzPts val="600"/>
              <a:buNone/>
              <a:defRPr sz="600">
                <a:solidFill>
                  <a:schemeClr val="lt1"/>
                </a:solidFill>
              </a:defRPr>
            </a:lvl1pPr>
            <a:lvl2pPr lvl="1" algn="l">
              <a:lnSpc>
                <a:spcPct val="125000"/>
              </a:lnSpc>
              <a:spcBef>
                <a:spcPts val="400"/>
              </a:spcBef>
              <a:spcAft>
                <a:spcPts val="0"/>
              </a:spcAft>
              <a:buSzPts val="1200"/>
              <a:buNone/>
              <a:defRPr/>
            </a:lvl2pPr>
            <a:lvl3pPr lvl="2" algn="l">
              <a:lnSpc>
                <a:spcPct val="125000"/>
              </a:lnSpc>
              <a:spcBef>
                <a:spcPts val="400"/>
              </a:spcBef>
              <a:spcAft>
                <a:spcPts val="0"/>
              </a:spcAft>
              <a:buSzPts val="1200"/>
              <a:buNone/>
              <a:defRPr/>
            </a:lvl3pPr>
            <a:lvl4pPr lvl="3" algn="l">
              <a:lnSpc>
                <a:spcPct val="125000"/>
              </a:lnSpc>
              <a:spcBef>
                <a:spcPts val="400"/>
              </a:spcBef>
              <a:spcAft>
                <a:spcPts val="0"/>
              </a:spcAft>
              <a:buSzPts val="1200"/>
              <a:buNone/>
              <a:defRPr/>
            </a:lvl4pPr>
            <a:lvl5pPr lvl="4" algn="l">
              <a:lnSpc>
                <a:spcPct val="125000"/>
              </a:lnSpc>
              <a:spcBef>
                <a:spcPts val="400"/>
              </a:spcBef>
              <a:spcAft>
                <a:spcPts val="0"/>
              </a:spcAft>
              <a:buSzPts val="1200"/>
              <a:buNone/>
              <a:defRPr/>
            </a:lvl5pPr>
            <a:lvl6pPr lvl="5" algn="l">
              <a:lnSpc>
                <a:spcPct val="125000"/>
              </a:lnSpc>
              <a:spcBef>
                <a:spcPts val="400"/>
              </a:spcBef>
              <a:spcAft>
                <a:spcPts val="0"/>
              </a:spcAft>
              <a:buSzPts val="1200"/>
              <a:buNone/>
              <a:defRPr/>
            </a:lvl6pPr>
            <a:lvl7pPr lvl="6" algn="l">
              <a:lnSpc>
                <a:spcPct val="125000"/>
              </a:lnSpc>
              <a:spcBef>
                <a:spcPts val="400"/>
              </a:spcBef>
              <a:spcAft>
                <a:spcPts val="0"/>
              </a:spcAft>
              <a:buSzPts val="1200"/>
              <a:buNone/>
              <a:defRPr/>
            </a:lvl7pPr>
            <a:lvl8pPr lvl="7" algn="l">
              <a:lnSpc>
                <a:spcPct val="125000"/>
              </a:lnSpc>
              <a:spcBef>
                <a:spcPts val="400"/>
              </a:spcBef>
              <a:spcAft>
                <a:spcPts val="0"/>
              </a:spcAft>
              <a:buSzPts val="1200"/>
              <a:buNone/>
              <a:defRPr/>
            </a:lvl8pPr>
            <a:lvl9pPr lvl="8" algn="l">
              <a:lnSpc>
                <a:spcPct val="125000"/>
              </a:lnSpc>
              <a:spcBef>
                <a:spcPts val="400"/>
              </a:spcBef>
              <a:spcAft>
                <a:spcPts val="400"/>
              </a:spcAft>
              <a:buSzPts val="1200"/>
              <a:buNone/>
              <a:defRPr/>
            </a:lvl9pPr>
          </a:lstStyle>
          <a:p/>
        </p:txBody>
      </p:sp>
      <p:sp>
        <p:nvSpPr>
          <p:cNvPr id="364" name="Google Shape;364;p5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Light"/>
                <a:ea typeface="Montserrat Light"/>
                <a:cs typeface="Montserrat Light"/>
                <a:sym typeface="Montserrat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6.xml"/><Relationship Id="rId22" Type="http://schemas.openxmlformats.org/officeDocument/2006/relationships/slideLayout" Target="../slideLayouts/slideLayout38.xml"/><Relationship Id="rId21" Type="http://schemas.openxmlformats.org/officeDocument/2006/relationships/slideLayout" Target="../slideLayouts/slideLayout37.xml"/><Relationship Id="rId24" Type="http://schemas.openxmlformats.org/officeDocument/2006/relationships/slideLayout" Target="../slideLayouts/slideLayout40.xml"/><Relationship Id="rId23" Type="http://schemas.openxmlformats.org/officeDocument/2006/relationships/slideLayout" Target="../slideLayouts/slideLayout39.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26" Type="http://schemas.openxmlformats.org/officeDocument/2006/relationships/slideLayout" Target="../slideLayouts/slideLayout42.xml"/><Relationship Id="rId25" Type="http://schemas.openxmlformats.org/officeDocument/2006/relationships/slideLayout" Target="../slideLayouts/slideLayout41.xml"/><Relationship Id="rId28" Type="http://schemas.openxmlformats.org/officeDocument/2006/relationships/slideLayout" Target="../slideLayouts/slideLayout44.xml"/><Relationship Id="rId27" Type="http://schemas.openxmlformats.org/officeDocument/2006/relationships/slideLayout" Target="../slideLayouts/slideLayout43.xml"/><Relationship Id="rId5" Type="http://schemas.openxmlformats.org/officeDocument/2006/relationships/slideLayout" Target="../slideLayouts/slideLayout21.xml"/><Relationship Id="rId6" Type="http://schemas.openxmlformats.org/officeDocument/2006/relationships/slideLayout" Target="../slideLayouts/slideLayout22.xml"/><Relationship Id="rId29" Type="http://schemas.openxmlformats.org/officeDocument/2006/relationships/slideLayout" Target="../slideLayouts/slideLayout45.xml"/><Relationship Id="rId7" Type="http://schemas.openxmlformats.org/officeDocument/2006/relationships/slideLayout" Target="../slideLayouts/slideLayout23.xml"/><Relationship Id="rId8" Type="http://schemas.openxmlformats.org/officeDocument/2006/relationships/slideLayout" Target="../slideLayouts/slideLayout24.xml"/><Relationship Id="rId31" Type="http://schemas.openxmlformats.org/officeDocument/2006/relationships/slideLayout" Target="../slideLayouts/slideLayout47.xml"/><Relationship Id="rId30" Type="http://schemas.openxmlformats.org/officeDocument/2006/relationships/slideLayout" Target="../slideLayouts/slideLayout46.xml"/><Relationship Id="rId11" Type="http://schemas.openxmlformats.org/officeDocument/2006/relationships/slideLayout" Target="../slideLayouts/slideLayout27.xml"/><Relationship Id="rId33" Type="http://schemas.openxmlformats.org/officeDocument/2006/relationships/slideLayout" Target="../slideLayouts/slideLayout49.xml"/><Relationship Id="rId10" Type="http://schemas.openxmlformats.org/officeDocument/2006/relationships/slideLayout" Target="../slideLayouts/slideLayout26.xml"/><Relationship Id="rId32" Type="http://schemas.openxmlformats.org/officeDocument/2006/relationships/slideLayout" Target="../slideLayouts/slideLayout48.xml"/><Relationship Id="rId13" Type="http://schemas.openxmlformats.org/officeDocument/2006/relationships/slideLayout" Target="../slideLayouts/slideLayout29.xml"/><Relationship Id="rId35" Type="http://schemas.openxmlformats.org/officeDocument/2006/relationships/slideLayout" Target="../slideLayouts/slideLayout51.xml"/><Relationship Id="rId12" Type="http://schemas.openxmlformats.org/officeDocument/2006/relationships/slideLayout" Target="../slideLayouts/slideLayout28.xml"/><Relationship Id="rId34" Type="http://schemas.openxmlformats.org/officeDocument/2006/relationships/slideLayout" Target="../slideLayouts/slideLayout50.xml"/><Relationship Id="rId15" Type="http://schemas.openxmlformats.org/officeDocument/2006/relationships/slideLayout" Target="../slideLayouts/slideLayout31.xml"/><Relationship Id="rId37" Type="http://schemas.openxmlformats.org/officeDocument/2006/relationships/slideLayout" Target="../slideLayouts/slideLayout53.xml"/><Relationship Id="rId14" Type="http://schemas.openxmlformats.org/officeDocument/2006/relationships/slideLayout" Target="../slideLayouts/slideLayout30.xml"/><Relationship Id="rId36" Type="http://schemas.openxmlformats.org/officeDocument/2006/relationships/slideLayout" Target="../slideLayouts/slideLayout52.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38" Type="http://schemas.openxmlformats.org/officeDocument/2006/relationships/theme" Target="../theme/theme3.xml"/><Relationship Id="rId19" Type="http://schemas.openxmlformats.org/officeDocument/2006/relationships/slideLayout" Target="../slideLayouts/slideLayout35.xml"/><Relationship Id="rId18"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ctr" bIns="0" lIns="0" spcFirstLastPara="1" rIns="0" wrap="square" tIns="0">
            <a:normAutofit/>
          </a:bodyPr>
          <a:lstStyle>
            <a:lvl1pPr lvl="0" marR="0" rtl="0" algn="l">
              <a:lnSpc>
                <a:spcPct val="100000"/>
              </a:lnSpc>
              <a:spcBef>
                <a:spcPts val="0"/>
              </a:spcBef>
              <a:spcAft>
                <a:spcPts val="0"/>
              </a:spcAft>
              <a:buClr>
                <a:srgbClr val="8E83E4"/>
              </a:buClr>
              <a:buSzPts val="3000"/>
              <a:buFont typeface="Montserrat"/>
              <a:buNone/>
              <a:defRPr b="0" i="0" sz="3000" u="none" cap="none" strike="noStrike">
                <a:solidFill>
                  <a:srgbClr val="8E83E4"/>
                </a:solidFill>
                <a:latin typeface="Montserrat"/>
                <a:ea typeface="Montserrat"/>
                <a:cs typeface="Montserrat"/>
                <a:sym typeface="Montserrat"/>
              </a:defRPr>
            </a:lvl1pPr>
            <a:lvl2pPr lvl="1"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0" lIns="0" spcFirstLastPara="1" rIns="0" wrap="square" tIns="0">
            <a:normAutofit/>
          </a:bodyPr>
          <a:lstStyle>
            <a:lvl1pPr indent="-304800" lvl="0" marL="457200" marR="0" rtl="0" algn="l">
              <a:lnSpc>
                <a:spcPct val="125000"/>
              </a:lnSpc>
              <a:spcBef>
                <a:spcPts val="400"/>
              </a:spcBef>
              <a:spcAft>
                <a:spcPts val="0"/>
              </a:spcAft>
              <a:buClr>
                <a:srgbClr val="8E83E4"/>
              </a:buClr>
              <a:buSzPts val="1200"/>
              <a:buFont typeface="Montserrat"/>
              <a:buChar char="■"/>
              <a:defRPr b="0" i="0" sz="1200" u="none" cap="none" strike="noStrike">
                <a:solidFill>
                  <a:schemeClr val="dk2"/>
                </a:solidFill>
                <a:latin typeface="Montserrat"/>
                <a:ea typeface="Montserrat"/>
                <a:cs typeface="Montserrat"/>
                <a:sym typeface="Montserrat"/>
              </a:defRPr>
            </a:lvl1pPr>
            <a:lvl2pPr indent="-304800" lvl="1" marL="9144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2pPr>
            <a:lvl3pPr indent="-304800" lvl="2" marL="1371600" marR="0" rtl="0" algn="l">
              <a:lnSpc>
                <a:spcPct val="125000"/>
              </a:lnSpc>
              <a:spcBef>
                <a:spcPts val="400"/>
              </a:spcBef>
              <a:spcAft>
                <a:spcPts val="0"/>
              </a:spcAft>
              <a:buClr>
                <a:srgbClr val="8E83E4"/>
              </a:buClr>
              <a:buSzPts val="1200"/>
              <a:buFont typeface="Montserrat"/>
              <a:buChar char="■"/>
              <a:defRPr b="0" i="0" sz="1200" u="none" cap="none" strike="noStrike">
                <a:solidFill>
                  <a:schemeClr val="dk2"/>
                </a:solidFill>
                <a:latin typeface="Montserrat"/>
                <a:ea typeface="Montserrat"/>
                <a:cs typeface="Montserrat"/>
                <a:sym typeface="Montserrat"/>
              </a:defRPr>
            </a:lvl3pPr>
            <a:lvl4pPr indent="-304800" lvl="3" marL="18288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4pPr>
            <a:lvl5pPr indent="-304800" lvl="4" marL="22860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5pPr>
            <a:lvl6pPr indent="-304800" lvl="5" marL="27432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6pPr>
            <a:lvl7pPr indent="-304800" lvl="6" marL="32004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7pPr>
            <a:lvl8pPr indent="-304800" lvl="7" marL="36576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8pPr>
            <a:lvl9pPr indent="-304800" lvl="8" marL="4114800" marR="0" rtl="0" algn="l">
              <a:lnSpc>
                <a:spcPct val="125000"/>
              </a:lnSpc>
              <a:spcBef>
                <a:spcPts val="400"/>
              </a:spcBef>
              <a:spcAft>
                <a:spcPts val="40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2" name="Shape 122"/>
        <p:cNvGrpSpPr/>
        <p:nvPr/>
      </p:nvGrpSpPr>
      <p:grpSpPr>
        <a:xfrm>
          <a:off x="0" y="0"/>
          <a:ext cx="0" cy="0"/>
          <a:chOff x="0" y="0"/>
          <a:chExt cx="0" cy="0"/>
        </a:xfrm>
      </p:grpSpPr>
      <p:sp>
        <p:nvSpPr>
          <p:cNvPr id="123" name="Google Shape;123;p18"/>
          <p:cNvSpPr txBox="1"/>
          <p:nvPr>
            <p:ph type="title"/>
          </p:nvPr>
        </p:nvSpPr>
        <p:spPr>
          <a:xfrm>
            <a:off x="311700" y="445025"/>
            <a:ext cx="8520600" cy="572700"/>
          </a:xfrm>
          <a:prstGeom prst="rect">
            <a:avLst/>
          </a:prstGeom>
          <a:noFill/>
          <a:ln>
            <a:noFill/>
          </a:ln>
        </p:spPr>
        <p:txBody>
          <a:bodyPr anchorCtr="0" anchor="ctr" bIns="0" lIns="0" spcFirstLastPara="1" rIns="0" wrap="square" tIns="0">
            <a:normAutofit/>
          </a:bodyPr>
          <a:lstStyle>
            <a:lvl1pPr lvl="0" marR="0" rtl="0" algn="l">
              <a:lnSpc>
                <a:spcPct val="100000"/>
              </a:lnSpc>
              <a:spcBef>
                <a:spcPts val="0"/>
              </a:spcBef>
              <a:spcAft>
                <a:spcPts val="0"/>
              </a:spcAft>
              <a:buClr>
                <a:srgbClr val="8E83E4"/>
              </a:buClr>
              <a:buSzPts val="3000"/>
              <a:buFont typeface="Montserrat"/>
              <a:buNone/>
              <a:defRPr b="0" i="0" sz="3000" u="none" cap="none" strike="noStrike">
                <a:solidFill>
                  <a:srgbClr val="8E83E4"/>
                </a:solidFill>
                <a:latin typeface="Montserrat"/>
                <a:ea typeface="Montserrat"/>
                <a:cs typeface="Montserrat"/>
                <a:sym typeface="Montserrat"/>
              </a:defRPr>
            </a:lvl1pPr>
            <a:lvl2pPr lvl="1"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2pPr>
            <a:lvl3pPr lvl="2"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3pPr>
            <a:lvl4pPr lvl="3"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4pPr>
            <a:lvl5pPr lvl="4"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5pPr>
            <a:lvl6pPr lvl="5"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6pPr>
            <a:lvl7pPr lvl="6"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7pPr>
            <a:lvl8pPr lvl="7"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8pPr>
            <a:lvl9pPr lvl="8" marR="0" rtl="0" algn="l">
              <a:lnSpc>
                <a:spcPct val="100000"/>
              </a:lnSpc>
              <a:spcBef>
                <a:spcPts val="0"/>
              </a:spcBef>
              <a:spcAft>
                <a:spcPts val="0"/>
              </a:spcAft>
              <a:buClr>
                <a:schemeClr val="dk1"/>
              </a:buClr>
              <a:buSzPts val="3000"/>
              <a:buFont typeface="Montserrat"/>
              <a:buNone/>
              <a:defRPr b="0" i="0" sz="3000" u="none" cap="none" strike="noStrike">
                <a:solidFill>
                  <a:schemeClr val="dk1"/>
                </a:solidFill>
                <a:latin typeface="Montserrat"/>
                <a:ea typeface="Montserrat"/>
                <a:cs typeface="Montserrat"/>
                <a:sym typeface="Montserrat"/>
              </a:defRPr>
            </a:lvl9pPr>
          </a:lstStyle>
          <a:p/>
        </p:txBody>
      </p:sp>
      <p:sp>
        <p:nvSpPr>
          <p:cNvPr id="124" name="Google Shape;124;p18"/>
          <p:cNvSpPr txBox="1"/>
          <p:nvPr>
            <p:ph idx="1" type="body"/>
          </p:nvPr>
        </p:nvSpPr>
        <p:spPr>
          <a:xfrm>
            <a:off x="311700" y="1152475"/>
            <a:ext cx="8520600" cy="3416400"/>
          </a:xfrm>
          <a:prstGeom prst="rect">
            <a:avLst/>
          </a:prstGeom>
          <a:noFill/>
          <a:ln>
            <a:noFill/>
          </a:ln>
        </p:spPr>
        <p:txBody>
          <a:bodyPr anchorCtr="0" anchor="t" bIns="0" lIns="0" spcFirstLastPara="1" rIns="0" wrap="square" tIns="0">
            <a:normAutofit/>
          </a:bodyPr>
          <a:lstStyle>
            <a:lvl1pPr indent="-304800" lvl="0" marL="457200" marR="0" rtl="0" algn="l">
              <a:lnSpc>
                <a:spcPct val="125000"/>
              </a:lnSpc>
              <a:spcBef>
                <a:spcPts val="400"/>
              </a:spcBef>
              <a:spcAft>
                <a:spcPts val="0"/>
              </a:spcAft>
              <a:buClr>
                <a:srgbClr val="8E83E4"/>
              </a:buClr>
              <a:buSzPts val="1200"/>
              <a:buFont typeface="Montserrat"/>
              <a:buChar char="■"/>
              <a:defRPr b="0" i="0" sz="1200" u="none" cap="none" strike="noStrike">
                <a:solidFill>
                  <a:schemeClr val="dk2"/>
                </a:solidFill>
                <a:latin typeface="Montserrat"/>
                <a:ea typeface="Montserrat"/>
                <a:cs typeface="Montserrat"/>
                <a:sym typeface="Montserrat"/>
              </a:defRPr>
            </a:lvl1pPr>
            <a:lvl2pPr indent="-304800" lvl="1" marL="9144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2pPr>
            <a:lvl3pPr indent="-304800" lvl="2" marL="1371600" marR="0" rtl="0" algn="l">
              <a:lnSpc>
                <a:spcPct val="125000"/>
              </a:lnSpc>
              <a:spcBef>
                <a:spcPts val="400"/>
              </a:spcBef>
              <a:spcAft>
                <a:spcPts val="0"/>
              </a:spcAft>
              <a:buClr>
                <a:srgbClr val="8E83E4"/>
              </a:buClr>
              <a:buSzPts val="1200"/>
              <a:buFont typeface="Montserrat"/>
              <a:buChar char="■"/>
              <a:defRPr b="0" i="0" sz="1200" u="none" cap="none" strike="noStrike">
                <a:solidFill>
                  <a:schemeClr val="dk2"/>
                </a:solidFill>
                <a:latin typeface="Montserrat"/>
                <a:ea typeface="Montserrat"/>
                <a:cs typeface="Montserrat"/>
                <a:sym typeface="Montserrat"/>
              </a:defRPr>
            </a:lvl3pPr>
            <a:lvl4pPr indent="-304800" lvl="3" marL="18288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4pPr>
            <a:lvl5pPr indent="-304800" lvl="4" marL="22860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5pPr>
            <a:lvl6pPr indent="-304800" lvl="5" marL="27432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6pPr>
            <a:lvl7pPr indent="-304800" lvl="6" marL="32004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7pPr>
            <a:lvl8pPr indent="-304800" lvl="7" marL="3657600" marR="0" rtl="0" algn="l">
              <a:lnSpc>
                <a:spcPct val="125000"/>
              </a:lnSpc>
              <a:spcBef>
                <a:spcPts val="400"/>
              </a:spcBef>
              <a:spcAft>
                <a:spcPts val="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8pPr>
            <a:lvl9pPr indent="-304800" lvl="8" marL="4114800" marR="0" rtl="0" algn="l">
              <a:lnSpc>
                <a:spcPct val="125000"/>
              </a:lnSpc>
              <a:spcBef>
                <a:spcPts val="400"/>
              </a:spcBef>
              <a:spcAft>
                <a:spcPts val="400"/>
              </a:spcAft>
              <a:buClr>
                <a:schemeClr val="dk2"/>
              </a:buClr>
              <a:buSzPts val="1200"/>
              <a:buFont typeface="Montserrat"/>
              <a:buChar char="■"/>
              <a:defRPr b="0" i="0" sz="1200" u="none" cap="none" strike="noStrike">
                <a:solidFill>
                  <a:schemeClr val="dk2"/>
                </a:solidFill>
                <a:latin typeface="Montserrat"/>
                <a:ea typeface="Montserrat"/>
                <a:cs typeface="Montserrat"/>
                <a:sym typeface="Montserrat"/>
              </a:defRPr>
            </a:lvl9pPr>
          </a:lstStyle>
          <a:p/>
        </p:txBody>
      </p:sp>
      <p:sp>
        <p:nvSpPr>
          <p:cNvPr id="125" name="Google Shape;125;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 id="2147483696" r:id="rId33"/>
    <p:sldLayoutId id="2147483697" r:id="rId34"/>
    <p:sldLayoutId id="2147483698" r:id="rId35"/>
    <p:sldLayoutId id="2147483699" r:id="rId36"/>
    <p:sldLayoutId id="2147483700"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 Id="rId3" Type="http://schemas.openxmlformats.org/officeDocument/2006/relationships/image" Target="../media/image30.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xml"/><Relationship Id="rId3" Type="http://schemas.openxmlformats.org/officeDocument/2006/relationships/image" Target="../media/image3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xml"/><Relationship Id="rId3" Type="http://schemas.openxmlformats.org/officeDocument/2006/relationships/image" Target="../media/image3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7.xml"/><Relationship Id="rId3" Type="http://schemas.openxmlformats.org/officeDocument/2006/relationships/image" Target="../media/image3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4.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2.xml"/><Relationship Id="rId3" Type="http://schemas.openxmlformats.org/officeDocument/2006/relationships/image" Target="../media/image3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 Id="rId3" Type="http://schemas.openxmlformats.org/officeDocument/2006/relationships/image" Target="../media/image3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2.xml"/><Relationship Id="rId3" Type="http://schemas.openxmlformats.org/officeDocument/2006/relationships/image" Target="../media/image35.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37.jp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9.xml"/><Relationship Id="rId3" Type="http://schemas.openxmlformats.org/officeDocument/2006/relationships/image" Target="../media/image35.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8" name="Shape 368"/>
        <p:cNvGrpSpPr/>
        <p:nvPr/>
      </p:nvGrpSpPr>
      <p:grpSpPr>
        <a:xfrm>
          <a:off x="0" y="0"/>
          <a:ext cx="0" cy="0"/>
          <a:chOff x="0" y="0"/>
          <a:chExt cx="0" cy="0"/>
        </a:xfrm>
      </p:grpSpPr>
      <p:grpSp>
        <p:nvGrpSpPr>
          <p:cNvPr id="369" name="Google Shape;369;p56"/>
          <p:cNvGrpSpPr/>
          <p:nvPr/>
        </p:nvGrpSpPr>
        <p:grpSpPr>
          <a:xfrm>
            <a:off x="571500" y="381000"/>
            <a:ext cx="8000925" cy="952500"/>
            <a:chOff x="571500" y="381000"/>
            <a:chExt cx="8000925" cy="952500"/>
          </a:xfrm>
        </p:grpSpPr>
        <p:sp>
          <p:nvSpPr>
            <p:cNvPr id="370" name="Google Shape;370;p56"/>
            <p:cNvSpPr/>
            <p:nvPr/>
          </p:nvSpPr>
          <p:spPr>
            <a:xfrm>
              <a:off x="571500" y="381000"/>
              <a:ext cx="50100" cy="9525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56"/>
            <p:cNvSpPr txBox="1"/>
            <p:nvPr/>
          </p:nvSpPr>
          <p:spPr>
            <a:xfrm>
              <a:off x="809625" y="381000"/>
              <a:ext cx="77628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3740">
                  <a:solidFill>
                    <a:srgbClr val="2D2D2D"/>
                  </a:solidFill>
                  <a:latin typeface="Montserrat"/>
                  <a:ea typeface="Montserrat"/>
                  <a:cs typeface="Montserrat"/>
                  <a:sym typeface="Montserrat"/>
                </a:rPr>
                <a:t>Who Dropped the Packet?</a:t>
              </a:r>
              <a:endParaRPr b="1" sz="3740">
                <a:solidFill>
                  <a:srgbClr val="2D2D2D"/>
                </a:solidFill>
                <a:latin typeface="Montserrat"/>
                <a:ea typeface="Montserrat"/>
                <a:cs typeface="Montserrat"/>
                <a:sym typeface="Montserrat"/>
              </a:endParaRPr>
            </a:p>
            <a:p>
              <a:pPr indent="0" lvl="0" marL="0" rtl="0" algn="l">
                <a:spcBef>
                  <a:spcPts val="750"/>
                </a:spcBef>
                <a:spcAft>
                  <a:spcPts val="0"/>
                </a:spcAft>
                <a:buNone/>
              </a:pPr>
              <a:r>
                <a:rPr b="0" lang="en" sz="1530">
                  <a:solidFill>
                    <a:srgbClr val="7B68EE"/>
                  </a:solidFill>
                  <a:latin typeface="Montserrat"/>
                  <a:ea typeface="Montserrat"/>
                  <a:cs typeface="Montserrat"/>
                  <a:sym typeface="Montserrat"/>
                </a:rPr>
                <a:t>Solving K8s Network Mysteries in Real-Time</a:t>
              </a:r>
              <a:endParaRPr b="0" sz="1530">
                <a:solidFill>
                  <a:srgbClr val="7B68EE"/>
                </a:solidFill>
                <a:latin typeface="Montserrat"/>
                <a:ea typeface="Montserrat"/>
                <a:cs typeface="Montserrat"/>
                <a:sym typeface="Montserrat"/>
              </a:endParaRPr>
            </a:p>
          </p:txBody>
        </p:sp>
      </p:grpSp>
      <p:grpSp>
        <p:nvGrpSpPr>
          <p:cNvPr id="372" name="Google Shape;372;p56"/>
          <p:cNvGrpSpPr/>
          <p:nvPr/>
        </p:nvGrpSpPr>
        <p:grpSpPr>
          <a:xfrm>
            <a:off x="571500" y="2063550"/>
            <a:ext cx="3810000" cy="2095500"/>
            <a:chOff x="571500" y="2095500"/>
            <a:chExt cx="3810000" cy="2095500"/>
          </a:xfrm>
        </p:grpSpPr>
        <p:sp>
          <p:nvSpPr>
            <p:cNvPr id="373" name="Google Shape;373;p56"/>
            <p:cNvSpPr/>
            <p:nvPr/>
          </p:nvSpPr>
          <p:spPr>
            <a:xfrm>
              <a:off x="571500" y="2095500"/>
              <a:ext cx="3810000" cy="2095500"/>
            </a:xfrm>
            <a:prstGeom prst="roundRect">
              <a:avLst>
                <a:gd fmla="val 6818" name="adj"/>
              </a:avLst>
            </a:prstGeom>
            <a:solidFill>
              <a:srgbClr val="FFFF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56"/>
            <p:cNvSpPr txBox="1"/>
            <p:nvPr/>
          </p:nvSpPr>
          <p:spPr>
            <a:xfrm>
              <a:off x="762000" y="2286000"/>
              <a:ext cx="34290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2D2D2D"/>
                  </a:solidFill>
                  <a:latin typeface="Montserrat"/>
                  <a:ea typeface="Montserrat"/>
                  <a:cs typeface="Montserrat"/>
                  <a:sym typeface="Montserrat"/>
                </a:rPr>
                <a:t>Neeraj Bhatt</a:t>
              </a:r>
              <a:endParaRPr b="1" sz="2400">
                <a:solidFill>
                  <a:srgbClr val="2D2D2D"/>
                </a:solidFill>
                <a:latin typeface="Montserrat"/>
                <a:ea typeface="Montserrat"/>
                <a:cs typeface="Montserrat"/>
                <a:sym typeface="Montserrat"/>
              </a:endParaRPr>
            </a:p>
            <a:p>
              <a:pPr indent="0" lvl="0" marL="0" rtl="0" algn="l">
                <a:spcBef>
                  <a:spcPts val="1125"/>
                </a:spcBef>
                <a:spcAft>
                  <a:spcPts val="0"/>
                </a:spcAft>
                <a:buNone/>
              </a:pPr>
              <a:r>
                <a:rPr b="0" lang="en" sz="1300">
                  <a:solidFill>
                    <a:srgbClr val="4A4A4A"/>
                  </a:solidFill>
                  <a:latin typeface="Montserrat"/>
                  <a:ea typeface="Montserrat"/>
                  <a:cs typeface="Montserrat"/>
                  <a:sym typeface="Montserrat"/>
                </a:rPr>
                <a:t>Senior Software Engineer, OVN </a:t>
              </a:r>
              <a:r>
                <a:rPr lang="en" sz="1300">
                  <a:solidFill>
                    <a:srgbClr val="4A4A4A"/>
                  </a:solidFill>
                  <a:latin typeface="Montserrat"/>
                  <a:ea typeface="Montserrat"/>
                  <a:cs typeface="Montserrat"/>
                  <a:sym typeface="Montserrat"/>
                </a:rPr>
                <a:t>Engineering</a:t>
              </a:r>
              <a:endParaRPr b="0" sz="1300">
                <a:solidFill>
                  <a:srgbClr val="4A4A4A"/>
                </a:solidFill>
                <a:latin typeface="Montserrat"/>
                <a:ea typeface="Montserrat"/>
                <a:cs typeface="Montserrat"/>
                <a:sym typeface="Montserrat"/>
              </a:endParaRPr>
            </a:p>
            <a:p>
              <a:pPr indent="0" lvl="0" marL="0" rtl="0" algn="l">
                <a:spcBef>
                  <a:spcPts val="375"/>
                </a:spcBef>
                <a:spcAft>
                  <a:spcPts val="0"/>
                </a:spcAft>
                <a:buNone/>
              </a:pPr>
              <a:r>
                <a:rPr b="0" lang="en" sz="1300">
                  <a:solidFill>
                    <a:srgbClr val="4A4A4A"/>
                  </a:solidFill>
                  <a:latin typeface="Montserrat"/>
                  <a:ea typeface="Montserrat"/>
                  <a:cs typeface="Montserrat"/>
                  <a:sym typeface="Montserrat"/>
                </a:rPr>
                <a:t>Red Hat India</a:t>
              </a:r>
              <a:endParaRPr b="0" sz="1300">
                <a:solidFill>
                  <a:srgbClr val="4A4A4A"/>
                </a:solidFill>
                <a:latin typeface="Montserrat"/>
                <a:ea typeface="Montserrat"/>
                <a:cs typeface="Montserrat"/>
                <a:sym typeface="Montserrat"/>
              </a:endParaRPr>
            </a:p>
          </p:txBody>
        </p:sp>
        <p:sp>
          <p:nvSpPr>
            <p:cNvPr id="375" name="Google Shape;375;p56"/>
            <p:cNvSpPr/>
            <p:nvPr/>
          </p:nvSpPr>
          <p:spPr>
            <a:xfrm>
              <a:off x="762000" y="3619500"/>
              <a:ext cx="3429000" cy="381000"/>
            </a:xfrm>
            <a:prstGeom prst="roundRect">
              <a:avLst>
                <a:gd fmla="val 50000" name="adj"/>
              </a:avLst>
            </a:prstGeom>
            <a:solidFill>
              <a:srgbClr val="F1F0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56"/>
            <p:cNvSpPr txBox="1"/>
            <p:nvPr/>
          </p:nvSpPr>
          <p:spPr>
            <a:xfrm>
              <a:off x="696925" y="3665100"/>
              <a:ext cx="3429000" cy="289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7B68EE"/>
                  </a:solidFill>
                  <a:latin typeface="Montserrat"/>
                  <a:ea typeface="Montserrat"/>
                  <a:cs typeface="Montserrat"/>
                  <a:sym typeface="Montserrat"/>
                </a:rPr>
                <a:t>DevConf.CZ 2026 </a:t>
              </a:r>
              <a:endParaRPr b="1" sz="1200">
                <a:solidFill>
                  <a:srgbClr val="7B68EE"/>
                </a:solidFill>
                <a:latin typeface="Montserrat"/>
                <a:ea typeface="Montserrat"/>
                <a:cs typeface="Montserrat"/>
                <a:sym typeface="Montserrat"/>
              </a:endParaRPr>
            </a:p>
          </p:txBody>
        </p:sp>
      </p:grpSp>
      <p:grpSp>
        <p:nvGrpSpPr>
          <p:cNvPr id="377" name="Google Shape;377;p56"/>
          <p:cNvGrpSpPr/>
          <p:nvPr/>
        </p:nvGrpSpPr>
        <p:grpSpPr>
          <a:xfrm>
            <a:off x="5524500" y="2000250"/>
            <a:ext cx="2286000" cy="2286000"/>
            <a:chOff x="5524500" y="2000250"/>
            <a:chExt cx="2286000" cy="2286000"/>
          </a:xfrm>
        </p:grpSpPr>
        <p:sp>
          <p:nvSpPr>
            <p:cNvPr id="378" name="Google Shape;378;p56"/>
            <p:cNvSpPr/>
            <p:nvPr/>
          </p:nvSpPr>
          <p:spPr>
            <a:xfrm>
              <a:off x="5524500" y="2000250"/>
              <a:ext cx="2286000" cy="2286000"/>
            </a:xfrm>
            <a:prstGeom prst="ellipse">
              <a:avLst/>
            </a:prstGeom>
            <a:solidFill>
              <a:srgbClr val="7B68EE">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56"/>
            <p:cNvSpPr txBox="1"/>
            <p:nvPr/>
          </p:nvSpPr>
          <p:spPr>
            <a:xfrm>
              <a:off x="5715000" y="2366010"/>
              <a:ext cx="1905000" cy="1905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2000">
                  <a:solidFill>
                    <a:srgbClr val="7B68EE"/>
                  </a:solidFill>
                  <a:latin typeface="Material Icons"/>
                  <a:ea typeface="Material Icons"/>
                  <a:cs typeface="Material Icons"/>
                  <a:sym typeface="Material Icons"/>
                </a:rPr>
                <a:t>troubleshoot</a:t>
              </a:r>
              <a:endParaRPr sz="12000">
                <a:solidFill>
                  <a:srgbClr val="7B68EE"/>
                </a:solidFill>
                <a:latin typeface="Material Icons"/>
                <a:ea typeface="Material Icons"/>
                <a:cs typeface="Material Icons"/>
                <a:sym typeface="Material Icons"/>
              </a:endParaRPr>
            </a:p>
          </p:txBody>
        </p:sp>
      </p:grpSp>
      <p:sp>
        <p:nvSpPr>
          <p:cNvPr id="380" name="Google Shape;380;p56"/>
          <p:cNvSpPr/>
          <p:nvPr/>
        </p:nvSpPr>
        <p:spPr>
          <a:xfrm>
            <a:off x="0" y="4572000"/>
            <a:ext cx="9144000" cy="571500"/>
          </a:xfrm>
          <a:prstGeom prst="rect">
            <a:avLst/>
          </a:prstGeom>
          <a:solidFill>
            <a:srgbClr val="8E83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81" name="Google Shape;381;p56"/>
          <p:cNvPicPr preferRelativeResize="0"/>
          <p:nvPr/>
        </p:nvPicPr>
        <p:blipFill rotWithShape="1">
          <a:blip r:embed="rId4">
            <a:alphaModFix/>
          </a:blip>
          <a:srcRect b="110" l="0" r="0" t="100"/>
          <a:stretch/>
        </p:blipFill>
        <p:spPr>
          <a:xfrm>
            <a:off x="8458900" y="4615650"/>
            <a:ext cx="468600" cy="484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7"/>
          <p:cNvSpPr/>
          <p:nvPr/>
        </p:nvSpPr>
        <p:spPr>
          <a:xfrm>
            <a:off x="250000" y="380000"/>
            <a:ext cx="50100" cy="500100"/>
          </a:xfrm>
          <a:prstGeom prst="rect">
            <a:avLst/>
          </a:prstGeom>
          <a:solidFill>
            <a:srgbClr val="7B68E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57"/>
          <p:cNvSpPr txBox="1"/>
          <p:nvPr/>
        </p:nvSpPr>
        <p:spPr>
          <a:xfrm>
            <a:off x="400000" y="350000"/>
            <a:ext cx="780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2D2D2D"/>
                </a:solidFill>
                <a:latin typeface="Montserrat SemiBold"/>
                <a:ea typeface="Montserrat SemiBold"/>
                <a:cs typeface="Montserrat SemiBold"/>
                <a:sym typeface="Montserrat SemiBold"/>
              </a:rPr>
              <a:t>About Me</a:t>
            </a:r>
            <a:endParaRPr/>
          </a:p>
        </p:txBody>
      </p:sp>
      <p:grpSp>
        <p:nvGrpSpPr>
          <p:cNvPr id="388" name="Google Shape;388;p57"/>
          <p:cNvGrpSpPr/>
          <p:nvPr/>
        </p:nvGrpSpPr>
        <p:grpSpPr>
          <a:xfrm>
            <a:off x="600000" y="1000001"/>
            <a:ext cx="3619500" cy="3048000"/>
            <a:chOff x="600000" y="1000001"/>
            <a:chExt cx="3619500" cy="3048000"/>
          </a:xfrm>
        </p:grpSpPr>
        <p:sp>
          <p:nvSpPr>
            <p:cNvPr id="389" name="Google Shape;389;p57"/>
            <p:cNvSpPr/>
            <p:nvPr/>
          </p:nvSpPr>
          <p:spPr>
            <a:xfrm>
              <a:off x="600000" y="1000001"/>
              <a:ext cx="3619500" cy="3048000"/>
            </a:xfrm>
            <a:prstGeom prst="roundRect">
              <a:avLst>
                <a:gd fmla="val 375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57"/>
            <p:cNvSpPr txBox="1"/>
            <p:nvPr/>
          </p:nvSpPr>
          <p:spPr>
            <a:xfrm>
              <a:off x="790500" y="1190501"/>
              <a:ext cx="32385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7B68EE"/>
                  </a:solidFill>
                  <a:latin typeface="Montserrat"/>
                  <a:ea typeface="Montserrat"/>
                  <a:cs typeface="Montserrat"/>
                  <a:sym typeface="Montserrat"/>
                </a:rPr>
                <a:t>Neeraj Bhatt</a:t>
              </a:r>
              <a:endParaRPr b="1" sz="20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100">
                  <a:solidFill>
                    <a:srgbClr val="2D2D2D"/>
                  </a:solidFill>
                  <a:latin typeface="Montserrat"/>
                  <a:ea typeface="Montserrat"/>
                  <a:cs typeface="Montserrat"/>
                  <a:sym typeface="Montserrat"/>
                </a:rPr>
                <a:t>Senior Software Engineer, OVN Core Development at Red Hat</a:t>
              </a:r>
              <a:endParaRPr b="0" sz="1100">
                <a:solidFill>
                  <a:srgbClr val="2D2D2D"/>
                </a:solidFill>
                <a:latin typeface="Montserrat"/>
                <a:ea typeface="Montserrat"/>
                <a:cs typeface="Montserrat"/>
                <a:sym typeface="Montserrat"/>
              </a:endParaRPr>
            </a:p>
            <a:p>
              <a:pPr indent="-298450" lvl="0" marL="457200" rtl="0" algn="l">
                <a:spcBef>
                  <a:spcPts val="1800"/>
                </a:spcBef>
                <a:spcAft>
                  <a:spcPts val="0"/>
                </a:spcAft>
                <a:buClr>
                  <a:srgbClr val="4A4A4A"/>
                </a:buClr>
                <a:buSzPts val="1100"/>
                <a:buFont typeface="Montserrat"/>
                <a:buChar char="●"/>
              </a:pPr>
              <a:r>
                <a:rPr b="0" lang="en" sz="1100">
                  <a:solidFill>
                    <a:srgbClr val="4A4A4A"/>
                  </a:solidFill>
                  <a:latin typeface="Montserrat"/>
                  <a:ea typeface="Montserrat"/>
                  <a:cs typeface="Montserrat"/>
                  <a:sym typeface="Montserrat"/>
                </a:rPr>
                <a:t>10+ years of OpenShift networking experience</a:t>
              </a:r>
              <a:endParaRPr b="0" sz="1100">
                <a:solidFill>
                  <a:srgbClr val="4A4A4A"/>
                </a:solidFill>
                <a:latin typeface="Montserrat"/>
                <a:ea typeface="Montserrat"/>
                <a:cs typeface="Montserrat"/>
                <a:sym typeface="Montserrat"/>
              </a:endParaRPr>
            </a:p>
            <a:p>
              <a:pPr indent="-298450" lvl="0" marL="457200" rtl="0" algn="l">
                <a:spcBef>
                  <a:spcPts val="900"/>
                </a:spcBef>
                <a:spcAft>
                  <a:spcPts val="0"/>
                </a:spcAft>
                <a:buClr>
                  <a:srgbClr val="4A4A4A"/>
                </a:buClr>
                <a:buSzPts val="1100"/>
                <a:buFont typeface="Montserrat"/>
                <a:buChar char="●"/>
              </a:pPr>
              <a:r>
                <a:rPr b="0" lang="en" sz="1100">
                  <a:solidFill>
                    <a:srgbClr val="4A4A4A"/>
                  </a:solidFill>
                  <a:latin typeface="Montserrat"/>
                  <a:ea typeface="Montserrat"/>
                  <a:cs typeface="Montserrat"/>
                  <a:sym typeface="Montserrat"/>
                </a:rPr>
                <a:t>Previously in OCP networking support — thousands of sosreports analyzed</a:t>
              </a:r>
              <a:endParaRPr b="0" sz="1100">
                <a:solidFill>
                  <a:srgbClr val="4A4A4A"/>
                </a:solidFill>
                <a:latin typeface="Montserrat"/>
                <a:ea typeface="Montserrat"/>
                <a:cs typeface="Montserrat"/>
                <a:sym typeface="Montserrat"/>
              </a:endParaRPr>
            </a:p>
            <a:p>
              <a:pPr indent="-298450" lvl="0" marL="457200" rtl="0" algn="l">
                <a:spcBef>
                  <a:spcPts val="900"/>
                </a:spcBef>
                <a:spcAft>
                  <a:spcPts val="900"/>
                </a:spcAft>
                <a:buClr>
                  <a:srgbClr val="4A4A4A"/>
                </a:buClr>
                <a:buSzPts val="1100"/>
                <a:buFont typeface="Montserrat"/>
                <a:buChar char="●"/>
              </a:pPr>
              <a:r>
                <a:rPr b="0" lang="en" sz="1100">
                  <a:solidFill>
                    <a:srgbClr val="4A4A4A"/>
                  </a:solidFill>
                  <a:latin typeface="Montserrat"/>
                  <a:ea typeface="Montserrat"/>
                  <a:cs typeface="Montserrat"/>
                  <a:sym typeface="Montserrat"/>
                </a:rPr>
                <a:t>Now contributing to OVN-Kubernetes upstream development</a:t>
              </a:r>
              <a:endParaRPr b="0" sz="1100">
                <a:solidFill>
                  <a:srgbClr val="4A4A4A"/>
                </a:solidFill>
                <a:latin typeface="Montserrat"/>
                <a:ea typeface="Montserrat"/>
                <a:cs typeface="Montserrat"/>
                <a:sym typeface="Montserrat"/>
              </a:endParaRPr>
            </a:p>
          </p:txBody>
        </p:sp>
      </p:grpSp>
      <p:grpSp>
        <p:nvGrpSpPr>
          <p:cNvPr id="391" name="Google Shape;391;p57"/>
          <p:cNvGrpSpPr/>
          <p:nvPr/>
        </p:nvGrpSpPr>
        <p:grpSpPr>
          <a:xfrm>
            <a:off x="4476750" y="2000250"/>
            <a:ext cx="4095900" cy="1047900"/>
            <a:chOff x="4476750" y="2000250"/>
            <a:chExt cx="4095900" cy="1047900"/>
          </a:xfrm>
        </p:grpSpPr>
        <p:sp>
          <p:nvSpPr>
            <p:cNvPr id="392" name="Google Shape;392;p57"/>
            <p:cNvSpPr/>
            <p:nvPr/>
          </p:nvSpPr>
          <p:spPr>
            <a:xfrm>
              <a:off x="4476750" y="2000250"/>
              <a:ext cx="4095900" cy="1047900"/>
            </a:xfrm>
            <a:prstGeom prst="roundRect">
              <a:avLst>
                <a:gd fmla="val 10909" name="adj"/>
              </a:avLst>
            </a:prstGeom>
            <a:solidFill>
              <a:srgbClr val="E8F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57"/>
            <p:cNvSpPr txBox="1"/>
            <p:nvPr/>
          </p:nvSpPr>
          <p:spPr>
            <a:xfrm>
              <a:off x="4667250" y="2190750"/>
              <a:ext cx="37149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i="1" lang="en" sz="1400">
                  <a:solidFill>
                    <a:srgbClr val="2E7D32"/>
                  </a:solidFill>
                  <a:latin typeface="Montserrat"/>
                  <a:ea typeface="Montserrat"/>
                  <a:cs typeface="Montserrat"/>
                  <a:sym typeface="Montserrat"/>
                </a:rPr>
                <a:t>"I've seen every way a packet can disappear."</a:t>
              </a:r>
              <a:endParaRPr b="1" i="1" sz="1400">
                <a:solidFill>
                  <a:srgbClr val="2E7D32"/>
                </a:solidFill>
                <a:latin typeface="Montserrat"/>
                <a:ea typeface="Montserrat"/>
                <a:cs typeface="Montserrat"/>
                <a:sym typeface="Montserrat"/>
              </a:endParaRPr>
            </a:p>
          </p:txBody>
        </p:sp>
      </p:grpSp>
      <p:sp>
        <p:nvSpPr>
          <p:cNvPr id="394" name="Google Shape;394;p57"/>
          <p:cNvSpPr txBox="1"/>
          <p:nvPr/>
        </p:nvSpPr>
        <p:spPr>
          <a:xfrm>
            <a:off x="6048375" y="1087631"/>
            <a:ext cx="9525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6000">
                <a:solidFill>
                  <a:srgbClr val="7B68EE"/>
                </a:solidFill>
                <a:latin typeface="Material Icons"/>
                <a:ea typeface="Material Icons"/>
                <a:cs typeface="Material Icons"/>
                <a:sym typeface="Material Icons"/>
              </a:rPr>
              <a:t>account_circle</a:t>
            </a:r>
            <a:endParaRPr sz="6000">
              <a:solidFill>
                <a:srgbClr val="7B68EE"/>
              </a:solidFill>
              <a:latin typeface="Material Icons"/>
              <a:ea typeface="Material Icons"/>
              <a:cs typeface="Material Icons"/>
              <a:sym typeface="Material Ico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8" name="Shape 398"/>
        <p:cNvGrpSpPr/>
        <p:nvPr/>
      </p:nvGrpSpPr>
      <p:grpSpPr>
        <a:xfrm>
          <a:off x="0" y="0"/>
          <a:ext cx="0" cy="0"/>
          <a:chOff x="0" y="0"/>
          <a:chExt cx="0" cy="0"/>
        </a:xfrm>
      </p:grpSpPr>
      <p:sp>
        <p:nvSpPr>
          <p:cNvPr id="399" name="Google Shape;399;p58"/>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sp>
        <p:nvSpPr>
          <p:cNvPr id="400" name="Google Shape;400;p58"/>
          <p:cNvSpPr/>
          <p:nvPr/>
        </p:nvSpPr>
        <p:spPr>
          <a:xfrm>
            <a:off x="0" y="0"/>
            <a:ext cx="9144000" cy="699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01" name="Google Shape;401;p58"/>
          <p:cNvPicPr preferRelativeResize="0"/>
          <p:nvPr/>
        </p:nvPicPr>
        <p:blipFill rotWithShape="1">
          <a:blip r:embed="rId4">
            <a:alphaModFix/>
          </a:blip>
          <a:srcRect b="0" l="0" r="0" t="0"/>
          <a:stretch/>
        </p:blipFill>
        <p:spPr>
          <a:xfrm>
            <a:off x="7991468" y="4501355"/>
            <a:ext cx="553002" cy="572625"/>
          </a:xfrm>
          <a:prstGeom prst="rect">
            <a:avLst/>
          </a:prstGeom>
          <a:noFill/>
          <a:ln>
            <a:noFill/>
          </a:ln>
        </p:spPr>
      </p:pic>
      <p:sp>
        <p:nvSpPr>
          <p:cNvPr id="402" name="Google Shape;402;p58"/>
          <p:cNvSpPr/>
          <p:nvPr/>
        </p:nvSpPr>
        <p:spPr>
          <a:xfrm>
            <a:off x="-19936" y="4346553"/>
            <a:ext cx="9183900" cy="882300"/>
          </a:xfrm>
          <a:prstGeom prst="rect">
            <a:avLst/>
          </a:prstGeom>
          <a:solidFill>
            <a:srgbClr val="8E83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03" name="Google Shape;403;p58"/>
          <p:cNvPicPr preferRelativeResize="0"/>
          <p:nvPr/>
        </p:nvPicPr>
        <p:blipFill rotWithShape="1">
          <a:blip r:embed="rId4">
            <a:alphaModFix/>
          </a:blip>
          <a:srcRect b="0" l="0" r="0" t="0"/>
          <a:stretch/>
        </p:blipFill>
        <p:spPr>
          <a:xfrm>
            <a:off x="7991465" y="4501353"/>
            <a:ext cx="552900" cy="572700"/>
          </a:xfrm>
          <a:prstGeom prst="rect">
            <a:avLst/>
          </a:prstGeom>
          <a:noFill/>
          <a:ln>
            <a:noFill/>
          </a:ln>
        </p:spPr>
      </p:pic>
      <p:grpSp>
        <p:nvGrpSpPr>
          <p:cNvPr id="404" name="Google Shape;404;p58"/>
          <p:cNvGrpSpPr/>
          <p:nvPr/>
        </p:nvGrpSpPr>
        <p:grpSpPr>
          <a:xfrm>
            <a:off x="250000" y="320000"/>
            <a:ext cx="7950001" cy="500100"/>
            <a:chOff x="250000" y="320000"/>
            <a:chExt cx="7950001" cy="500100"/>
          </a:xfrm>
        </p:grpSpPr>
        <p:sp>
          <p:nvSpPr>
            <p:cNvPr id="405" name="Google Shape;405;p58"/>
            <p:cNvSpPr/>
            <p:nvPr/>
          </p:nvSpPr>
          <p:spPr>
            <a:xfrm>
              <a:off x="250000" y="350000"/>
              <a:ext cx="45000" cy="4500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6" name="Google Shape;406;p58"/>
            <p:cNvSpPr txBox="1"/>
            <p:nvPr/>
          </p:nvSpPr>
          <p:spPr>
            <a:xfrm>
              <a:off x="400000" y="320000"/>
              <a:ext cx="7800000" cy="5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2D2D2D"/>
                  </a:solidFill>
                  <a:latin typeface="Montserrat"/>
                  <a:ea typeface="Montserrat"/>
                  <a:cs typeface="Montserrat"/>
                  <a:sym typeface="Montserrat"/>
                </a:rPr>
                <a:t>Kubernetes Networking is Complex</a:t>
              </a:r>
              <a:endParaRPr b="1" sz="2400">
                <a:solidFill>
                  <a:srgbClr val="2D2D2D"/>
                </a:solidFill>
                <a:latin typeface="Montserrat"/>
                <a:ea typeface="Montserrat"/>
                <a:cs typeface="Montserrat"/>
                <a:sym typeface="Montserrat"/>
              </a:endParaRPr>
            </a:p>
          </p:txBody>
        </p:sp>
      </p:grpSp>
      <p:grpSp>
        <p:nvGrpSpPr>
          <p:cNvPr id="407" name="Google Shape;407;p58"/>
          <p:cNvGrpSpPr/>
          <p:nvPr/>
        </p:nvGrpSpPr>
        <p:grpSpPr>
          <a:xfrm>
            <a:off x="476250" y="1047750"/>
            <a:ext cx="3952800" cy="2190900"/>
            <a:chOff x="476250" y="1047750"/>
            <a:chExt cx="3952800" cy="2190900"/>
          </a:xfrm>
        </p:grpSpPr>
        <p:sp>
          <p:nvSpPr>
            <p:cNvPr id="408" name="Google Shape;408;p58"/>
            <p:cNvSpPr/>
            <p:nvPr/>
          </p:nvSpPr>
          <p:spPr>
            <a:xfrm>
              <a:off x="476250" y="1047750"/>
              <a:ext cx="3952800" cy="2190900"/>
            </a:xfrm>
            <a:prstGeom prst="roundRect">
              <a:avLst>
                <a:gd fmla="val 5217"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58"/>
            <p:cNvSpPr txBox="1"/>
            <p:nvPr/>
          </p:nvSpPr>
          <p:spPr>
            <a:xfrm>
              <a:off x="666750" y="1190625"/>
              <a:ext cx="35718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A production cluster has many layers:</a:t>
              </a:r>
              <a:endParaRPr b="1" sz="1300">
                <a:solidFill>
                  <a:srgbClr val="7B68EE"/>
                </a:solidFill>
                <a:latin typeface="Montserrat"/>
                <a:ea typeface="Montserrat"/>
                <a:cs typeface="Montserrat"/>
                <a:sym typeface="Montserrat"/>
              </a:endParaRPr>
            </a:p>
            <a:p>
              <a:pPr indent="0" lvl="0" marL="0" rtl="0" algn="l">
                <a:spcBef>
                  <a:spcPts val="900"/>
                </a:spcBef>
                <a:spcAft>
                  <a:spcPts val="0"/>
                </a:spcAft>
                <a:buNone/>
              </a:pPr>
              <a:r>
                <a:rPr b="1" lang="en" sz="1000">
                  <a:solidFill>
                    <a:srgbClr val="2D2D2D"/>
                  </a:solidFill>
                  <a:latin typeface="Montserrat"/>
                  <a:ea typeface="Montserrat"/>
                  <a:cs typeface="Montserrat"/>
                  <a:sym typeface="Montserrat"/>
                </a:rPr>
                <a:t>Pod network:</a:t>
              </a:r>
              <a:r>
                <a:rPr lang="en" sz="1000">
                  <a:solidFill>
                    <a:srgbClr val="2D2D2D"/>
                  </a:solidFill>
                  <a:latin typeface="Montserrat"/>
                  <a:ea typeface="Montserrat"/>
                  <a:cs typeface="Montserrat"/>
                  <a:sym typeface="Montserrat"/>
                </a:rPr>
                <a:t> veth pairs, OVN switches</a:t>
              </a:r>
              <a:endParaRPr sz="1000">
                <a:solidFill>
                  <a:srgbClr val="2D2D2D"/>
                </a:solidFill>
                <a:latin typeface="Montserrat"/>
                <a:ea typeface="Montserrat"/>
                <a:cs typeface="Montserrat"/>
                <a:sym typeface="Montserrat"/>
              </a:endParaRPr>
            </a:p>
            <a:p>
              <a:pPr indent="0" lvl="0" marL="0" rtl="0" algn="l">
                <a:spcBef>
                  <a:spcPts val="600"/>
                </a:spcBef>
                <a:spcAft>
                  <a:spcPts val="0"/>
                </a:spcAft>
                <a:buNone/>
              </a:pPr>
              <a:r>
                <a:rPr b="1" lang="en" sz="1000">
                  <a:solidFill>
                    <a:srgbClr val="2D2D2D"/>
                  </a:solidFill>
                  <a:latin typeface="Montserrat"/>
                  <a:ea typeface="Montserrat"/>
                  <a:cs typeface="Montserrat"/>
                  <a:sym typeface="Montserrat"/>
                </a:rPr>
                <a:t>Service network:</a:t>
              </a:r>
              <a:r>
                <a:rPr lang="en" sz="1000">
                  <a:solidFill>
                    <a:srgbClr val="2D2D2D"/>
                  </a:solidFill>
                  <a:latin typeface="Montserrat"/>
                  <a:ea typeface="Montserrat"/>
                  <a:cs typeface="Montserrat"/>
                  <a:sym typeface="Montserrat"/>
                </a:rPr>
                <a:t> ClusterIP, Load Balancing</a:t>
              </a:r>
              <a:endParaRPr sz="1000">
                <a:solidFill>
                  <a:srgbClr val="2D2D2D"/>
                </a:solidFill>
                <a:latin typeface="Montserrat"/>
                <a:ea typeface="Montserrat"/>
                <a:cs typeface="Montserrat"/>
                <a:sym typeface="Montserrat"/>
              </a:endParaRPr>
            </a:p>
            <a:p>
              <a:pPr indent="0" lvl="0" marL="0" rtl="0" algn="l">
                <a:spcBef>
                  <a:spcPts val="600"/>
                </a:spcBef>
                <a:spcAft>
                  <a:spcPts val="0"/>
                </a:spcAft>
                <a:buNone/>
              </a:pPr>
              <a:r>
                <a:rPr b="1" lang="en" sz="1000">
                  <a:solidFill>
                    <a:srgbClr val="2D2D2D"/>
                  </a:solidFill>
                  <a:latin typeface="Montserrat"/>
                  <a:ea typeface="Montserrat"/>
                  <a:cs typeface="Montserrat"/>
                  <a:sym typeface="Montserrat"/>
                </a:rPr>
                <a:t>Overlay network:</a:t>
              </a:r>
              <a:r>
                <a:rPr lang="en" sz="1000">
                  <a:solidFill>
                    <a:srgbClr val="2D2D2D"/>
                  </a:solidFill>
                  <a:latin typeface="Montserrat"/>
                  <a:ea typeface="Montserrat"/>
                  <a:cs typeface="Montserrat"/>
                  <a:sym typeface="Montserrat"/>
                </a:rPr>
                <a:t> Geneve tunnels</a:t>
              </a:r>
              <a:endParaRPr sz="1000">
                <a:solidFill>
                  <a:srgbClr val="2D2D2D"/>
                </a:solidFill>
                <a:latin typeface="Montserrat"/>
                <a:ea typeface="Montserrat"/>
                <a:cs typeface="Montserrat"/>
                <a:sym typeface="Montserrat"/>
              </a:endParaRPr>
            </a:p>
            <a:p>
              <a:pPr indent="0" lvl="0" marL="0" rtl="0" algn="l">
                <a:spcBef>
                  <a:spcPts val="600"/>
                </a:spcBef>
                <a:spcAft>
                  <a:spcPts val="0"/>
                </a:spcAft>
                <a:buNone/>
              </a:pPr>
              <a:r>
                <a:rPr b="1" lang="en" sz="1000">
                  <a:solidFill>
                    <a:srgbClr val="2D2D2D"/>
                  </a:solidFill>
                  <a:latin typeface="Montserrat"/>
                  <a:ea typeface="Montserrat"/>
                  <a:cs typeface="Montserrat"/>
                  <a:sym typeface="Montserrat"/>
                </a:rPr>
                <a:t>Policies:</a:t>
              </a:r>
              <a:r>
                <a:rPr lang="en" sz="1000">
                  <a:solidFill>
                    <a:srgbClr val="2D2D2D"/>
                  </a:solidFill>
                  <a:latin typeface="Montserrat"/>
                  <a:ea typeface="Montserrat"/>
                  <a:cs typeface="Montserrat"/>
                  <a:sym typeface="Montserrat"/>
                </a:rPr>
                <a:t> OVN ACLs, conntrack zones</a:t>
              </a:r>
              <a:endParaRPr sz="1000">
                <a:solidFill>
                  <a:srgbClr val="2D2D2D"/>
                </a:solidFill>
                <a:latin typeface="Montserrat"/>
                <a:ea typeface="Montserrat"/>
                <a:cs typeface="Montserrat"/>
                <a:sym typeface="Montserrat"/>
              </a:endParaRPr>
            </a:p>
            <a:p>
              <a:pPr indent="0" lvl="0" marL="0" rtl="0" algn="l">
                <a:spcBef>
                  <a:spcPts val="600"/>
                </a:spcBef>
                <a:spcAft>
                  <a:spcPts val="0"/>
                </a:spcAft>
                <a:buNone/>
              </a:pPr>
              <a:r>
                <a:rPr b="1" lang="en" sz="1000">
                  <a:solidFill>
                    <a:srgbClr val="2D2D2D"/>
                  </a:solidFill>
                  <a:latin typeface="Montserrat"/>
                  <a:ea typeface="Montserrat"/>
                  <a:cs typeface="Montserrat"/>
                  <a:sym typeface="Montserrat"/>
                </a:rPr>
                <a:t>DNS:</a:t>
              </a:r>
              <a:r>
                <a:rPr lang="en" sz="1000">
                  <a:solidFill>
                    <a:srgbClr val="2D2D2D"/>
                  </a:solidFill>
                  <a:latin typeface="Montserrat"/>
                  <a:ea typeface="Montserrat"/>
                  <a:cs typeface="Montserrat"/>
                  <a:sym typeface="Montserrat"/>
                </a:rPr>
                <a:t> CoreDNS, service discovery</a:t>
              </a:r>
              <a:endParaRPr sz="1000">
                <a:solidFill>
                  <a:srgbClr val="2D2D2D"/>
                </a:solidFill>
                <a:latin typeface="Montserrat"/>
                <a:ea typeface="Montserrat"/>
                <a:cs typeface="Montserrat"/>
                <a:sym typeface="Montserrat"/>
              </a:endParaRPr>
            </a:p>
          </p:txBody>
        </p:sp>
      </p:grpSp>
      <p:grpSp>
        <p:nvGrpSpPr>
          <p:cNvPr id="410" name="Google Shape;410;p58"/>
          <p:cNvGrpSpPr/>
          <p:nvPr/>
        </p:nvGrpSpPr>
        <p:grpSpPr>
          <a:xfrm>
            <a:off x="4714875" y="1047750"/>
            <a:ext cx="3952800" cy="2190900"/>
            <a:chOff x="4714875" y="1047750"/>
            <a:chExt cx="3952800" cy="2190900"/>
          </a:xfrm>
        </p:grpSpPr>
        <p:sp>
          <p:nvSpPr>
            <p:cNvPr id="411" name="Google Shape;411;p58"/>
            <p:cNvSpPr/>
            <p:nvPr/>
          </p:nvSpPr>
          <p:spPr>
            <a:xfrm>
              <a:off x="4714875" y="1047750"/>
              <a:ext cx="3952800" cy="2190900"/>
            </a:xfrm>
            <a:prstGeom prst="roundRect">
              <a:avLst>
                <a:gd fmla="val 5217"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58"/>
            <p:cNvSpPr txBox="1"/>
            <p:nvPr/>
          </p:nvSpPr>
          <p:spPr>
            <a:xfrm>
              <a:off x="4905375" y="1190625"/>
              <a:ext cx="35718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A single HTTP request touches:</a:t>
              </a:r>
              <a:endParaRPr b="1" sz="1300">
                <a:solidFill>
                  <a:srgbClr val="7B68EE"/>
                </a:solidFill>
                <a:latin typeface="Montserrat"/>
                <a:ea typeface="Montserrat"/>
                <a:cs typeface="Montserrat"/>
                <a:sym typeface="Montserrat"/>
              </a:endParaRPr>
            </a:p>
            <a:p>
              <a:pPr indent="0" lvl="0" marL="0" rtl="0" algn="l">
                <a:spcBef>
                  <a:spcPts val="900"/>
                </a:spcBef>
                <a:spcAft>
                  <a:spcPts val="0"/>
                </a:spcAft>
                <a:buNone/>
              </a:pPr>
              <a:r>
                <a:rPr lang="en" sz="900">
                  <a:solidFill>
                    <a:srgbClr val="444444"/>
                  </a:solidFill>
                  <a:highlight>
                    <a:srgbClr val="EEEEEE"/>
                  </a:highlight>
                  <a:latin typeface="Courier New"/>
                  <a:ea typeface="Courier New"/>
                  <a:cs typeface="Courier New"/>
                  <a:sym typeface="Courier New"/>
                </a:rPr>
                <a:t>Pod veth → br-int → OVN switch → OVN router → DNAT</a:t>
              </a:r>
              <a:endParaRPr sz="900">
                <a:solidFill>
                  <a:srgbClr val="444444"/>
                </a:solidFill>
                <a:highlight>
                  <a:srgbClr val="EEEEEE"/>
                </a:highlight>
                <a:latin typeface="Courier New"/>
                <a:ea typeface="Courier New"/>
                <a:cs typeface="Courier New"/>
                <a:sym typeface="Courier New"/>
              </a:endParaRPr>
            </a:p>
            <a:p>
              <a:pPr indent="0" lvl="0" marL="0" rtl="0" algn="l">
                <a:spcBef>
                  <a:spcPts val="600"/>
                </a:spcBef>
                <a:spcAft>
                  <a:spcPts val="0"/>
                </a:spcAft>
                <a:buNone/>
              </a:pPr>
              <a:r>
                <a:rPr lang="en" sz="900">
                  <a:solidFill>
                    <a:srgbClr val="444444"/>
                  </a:solidFill>
                  <a:highlight>
                    <a:srgbClr val="EEEEEE"/>
                  </a:highlight>
                  <a:latin typeface="Courier New"/>
                  <a:ea typeface="Courier New"/>
                  <a:cs typeface="Courier New"/>
                  <a:sym typeface="Courier New"/>
                </a:rPr>
                <a:t>→ Geneve encap → dest node → de-encap → dest pod</a:t>
              </a:r>
              <a:endParaRPr sz="900">
                <a:solidFill>
                  <a:srgbClr val="444444"/>
                </a:solidFill>
                <a:highlight>
                  <a:srgbClr val="EEEEEE"/>
                </a:highlight>
                <a:latin typeface="Courier New"/>
                <a:ea typeface="Courier New"/>
                <a:cs typeface="Courier New"/>
                <a:sym typeface="Courier New"/>
              </a:endParaRPr>
            </a:p>
            <a:p>
              <a:pPr indent="0" lvl="0" marL="0" rtl="0" algn="l">
                <a:spcBef>
                  <a:spcPts val="600"/>
                </a:spcBef>
                <a:spcAft>
                  <a:spcPts val="0"/>
                </a:spcAft>
                <a:buNone/>
              </a:pPr>
              <a:r>
                <a:rPr b="0" lang="en" sz="1000">
                  <a:solidFill>
                    <a:srgbClr val="2D2D2D"/>
                  </a:solidFill>
                  <a:latin typeface="Montserrat"/>
                  <a:ea typeface="Montserrat"/>
                  <a:cs typeface="Montserrat"/>
                  <a:sym typeface="Montserrat"/>
                </a:rPr>
                <a:t>+ conntrack &amp; NetworkPolicy at </a:t>
              </a:r>
              <a:r>
                <a:rPr b="1" lang="en" sz="1000">
                  <a:solidFill>
                    <a:srgbClr val="2D2D2D"/>
                  </a:solidFill>
                  <a:latin typeface="Montserrat"/>
                  <a:ea typeface="Montserrat"/>
                  <a:cs typeface="Montserrat"/>
                  <a:sym typeface="Montserrat"/>
                </a:rPr>
                <a:t>every hop</a:t>
              </a:r>
              <a:endParaRPr b="0" sz="1000">
                <a:solidFill>
                  <a:srgbClr val="2D2D2D"/>
                </a:solidFill>
                <a:latin typeface="Montserrat"/>
                <a:ea typeface="Montserrat"/>
                <a:cs typeface="Montserrat"/>
                <a:sym typeface="Montserrat"/>
              </a:endParaRPr>
            </a:p>
          </p:txBody>
        </p:sp>
      </p:grpSp>
      <p:grpSp>
        <p:nvGrpSpPr>
          <p:cNvPr id="413" name="Google Shape;413;p58"/>
          <p:cNvGrpSpPr/>
          <p:nvPr/>
        </p:nvGrpSpPr>
        <p:grpSpPr>
          <a:xfrm>
            <a:off x="476250" y="3429000"/>
            <a:ext cx="8191500" cy="666900"/>
            <a:chOff x="476250" y="3429000"/>
            <a:chExt cx="8191500" cy="666900"/>
          </a:xfrm>
        </p:grpSpPr>
        <p:sp>
          <p:nvSpPr>
            <p:cNvPr id="414" name="Google Shape;414;p58"/>
            <p:cNvSpPr/>
            <p:nvPr/>
          </p:nvSpPr>
          <p:spPr>
            <a:xfrm>
              <a:off x="476250" y="3429000"/>
              <a:ext cx="8191500" cy="666900"/>
            </a:xfrm>
            <a:prstGeom prst="roundRect">
              <a:avLst>
                <a:gd fmla="val 11428" name="adj"/>
              </a:avLst>
            </a:prstGeom>
            <a:solidFill>
              <a:srgbClr val="FDED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58"/>
            <p:cNvSpPr txBox="1"/>
            <p:nvPr/>
          </p:nvSpPr>
          <p:spPr>
            <a:xfrm>
              <a:off x="666750" y="3429000"/>
              <a:ext cx="7810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C62828"/>
                  </a:solidFill>
                  <a:latin typeface="Montserrat"/>
                  <a:ea typeface="Montserrat"/>
                  <a:cs typeface="Montserrat"/>
                  <a:sym typeface="Montserrat"/>
                </a:rPr>
                <a:t>A packet can drop silently at </a:t>
              </a:r>
              <a:r>
                <a:rPr b="1" lang="en" sz="1200" u="sng">
                  <a:solidFill>
                    <a:srgbClr val="C62828"/>
                  </a:solidFill>
                  <a:latin typeface="Montserrat"/>
                  <a:ea typeface="Montserrat"/>
                  <a:cs typeface="Montserrat"/>
                  <a:sym typeface="Montserrat"/>
                </a:rPr>
                <a:t>ANY</a:t>
              </a:r>
              <a:r>
                <a:rPr b="1" lang="en" sz="1200">
                  <a:solidFill>
                    <a:srgbClr val="C62828"/>
                  </a:solidFill>
                  <a:latin typeface="Montserrat"/>
                  <a:ea typeface="Montserrat"/>
                  <a:cs typeface="Montserrat"/>
                  <a:sym typeface="Montserrat"/>
                </a:rPr>
                <a:t> of these layers.</a:t>
              </a:r>
              <a:endParaRPr b="1" sz="1200">
                <a:solidFill>
                  <a:srgbClr val="C62828"/>
                </a:solidFill>
                <a:latin typeface="Montserrat"/>
                <a:ea typeface="Montserrat"/>
                <a:cs typeface="Montserrat"/>
                <a:sym typeface="Montserrat"/>
              </a:endParaRPr>
            </a:p>
            <a:p>
              <a:pPr indent="0" lvl="0" marL="0" rtl="0" algn="ctr">
                <a:spcBef>
                  <a:spcPts val="300"/>
                </a:spcBef>
                <a:spcAft>
                  <a:spcPts val="0"/>
                </a:spcAft>
                <a:buNone/>
              </a:pPr>
              <a:r>
                <a:rPr b="0" lang="en" sz="1100">
                  <a:solidFill>
                    <a:srgbClr val="C62828"/>
                  </a:solidFill>
                  <a:latin typeface="Montserrat"/>
                  <a:ea typeface="Montserrat"/>
                  <a:cs typeface="Montserrat"/>
                  <a:sym typeface="Montserrat"/>
                </a:rPr>
                <a:t>The error is always just: </a:t>
              </a:r>
              <a:r>
                <a:rPr b="0" lang="en" sz="1100">
                  <a:solidFill>
                    <a:srgbClr val="C62828"/>
                  </a:solidFill>
                  <a:highlight>
                    <a:srgbClr val="F8D7DA"/>
                  </a:highlight>
                  <a:latin typeface="Courier New"/>
                  <a:ea typeface="Courier New"/>
                  <a:cs typeface="Courier New"/>
                  <a:sym typeface="Courier New"/>
                </a:rPr>
                <a:t>'connection timed out.'</a:t>
              </a:r>
              <a:endParaRPr b="0" sz="1100">
                <a:solidFill>
                  <a:srgbClr val="C62828"/>
                </a:solidFill>
                <a:latin typeface="Montserrat"/>
                <a:ea typeface="Montserrat"/>
                <a:cs typeface="Montserrat"/>
                <a:sym typeface="Montserra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p59"/>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421" name="Google Shape;421;p59"/>
          <p:cNvPicPr preferRelativeResize="0"/>
          <p:nvPr/>
        </p:nvPicPr>
        <p:blipFill rotWithShape="1">
          <a:blip r:embed="rId4">
            <a:alphaModFix/>
          </a:blip>
          <a:srcRect b="0" l="0" r="0" t="0"/>
          <a:stretch/>
        </p:blipFill>
        <p:spPr>
          <a:xfrm>
            <a:off x="7991468" y="4501355"/>
            <a:ext cx="553002" cy="572625"/>
          </a:xfrm>
          <a:prstGeom prst="rect">
            <a:avLst/>
          </a:prstGeom>
          <a:noFill/>
          <a:ln>
            <a:noFill/>
          </a:ln>
        </p:spPr>
      </p:pic>
      <p:sp>
        <p:nvSpPr>
          <p:cNvPr id="422" name="Google Shape;422;p59"/>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23" name="Google Shape;423;p59"/>
          <p:cNvPicPr preferRelativeResize="0"/>
          <p:nvPr/>
        </p:nvPicPr>
        <p:blipFill rotWithShape="1">
          <a:blip r:embed="rId4">
            <a:alphaModFix/>
          </a:blip>
          <a:srcRect b="0" l="0" r="0" t="0"/>
          <a:stretch/>
        </p:blipFill>
        <p:spPr>
          <a:xfrm>
            <a:off x="7991465" y="4501353"/>
            <a:ext cx="552900" cy="572700"/>
          </a:xfrm>
          <a:prstGeom prst="rect">
            <a:avLst/>
          </a:prstGeom>
          <a:noFill/>
          <a:ln>
            <a:noFill/>
          </a:ln>
        </p:spPr>
      </p:pic>
      <p:sp>
        <p:nvSpPr>
          <p:cNvPr id="424" name="Google Shape;424;p59"/>
          <p:cNvSpPr txBox="1"/>
          <p:nvPr/>
        </p:nvSpPr>
        <p:spPr>
          <a:xfrm>
            <a:off x="400000" y="320000"/>
            <a:ext cx="780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2D2D2D"/>
                </a:solidFill>
                <a:latin typeface="Montserrat SemiBold"/>
                <a:ea typeface="Montserrat SemiBold"/>
                <a:cs typeface="Montserrat SemiBold"/>
                <a:sym typeface="Montserrat SemiBold"/>
              </a:rPr>
              <a:t>What You See When It Breaks</a:t>
            </a:r>
            <a:endParaRPr/>
          </a:p>
        </p:txBody>
      </p:sp>
      <p:grpSp>
        <p:nvGrpSpPr>
          <p:cNvPr id="425" name="Google Shape;425;p59"/>
          <p:cNvGrpSpPr/>
          <p:nvPr/>
        </p:nvGrpSpPr>
        <p:grpSpPr>
          <a:xfrm>
            <a:off x="476250" y="1047750"/>
            <a:ext cx="3952800" cy="2190900"/>
            <a:chOff x="476250" y="1047750"/>
            <a:chExt cx="3952800" cy="2190900"/>
          </a:xfrm>
        </p:grpSpPr>
        <p:sp>
          <p:nvSpPr>
            <p:cNvPr id="426" name="Google Shape;426;p59"/>
            <p:cNvSpPr/>
            <p:nvPr/>
          </p:nvSpPr>
          <p:spPr>
            <a:xfrm>
              <a:off x="476250" y="1047750"/>
              <a:ext cx="3952800" cy="2190900"/>
            </a:xfrm>
            <a:prstGeom prst="roundRect">
              <a:avLst>
                <a:gd fmla="val 5217"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59"/>
            <p:cNvSpPr txBox="1"/>
            <p:nvPr/>
          </p:nvSpPr>
          <p:spPr>
            <a:xfrm>
              <a:off x="666750" y="1190625"/>
              <a:ext cx="3571800" cy="1905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Application symptoms (misleading):</a:t>
              </a:r>
              <a:endParaRPr b="1" sz="1300">
                <a:solidFill>
                  <a:srgbClr val="7B68EE"/>
                </a:solidFill>
                <a:latin typeface="Montserrat"/>
                <a:ea typeface="Montserrat"/>
                <a:cs typeface="Montserrat"/>
                <a:sym typeface="Montserrat"/>
              </a:endParaRPr>
            </a:p>
            <a:p>
              <a:pPr indent="0" lvl="0" marL="0" rtl="0" algn="l">
                <a:spcBef>
                  <a:spcPts val="900"/>
                </a:spcBef>
                <a:spcAft>
                  <a:spcPts val="0"/>
                </a:spcAft>
                <a:buNone/>
              </a:pPr>
              <a:r>
                <a:rPr b="1" lang="en" sz="1000">
                  <a:solidFill>
                    <a:srgbClr val="C62828"/>
                  </a:solidFill>
                  <a:latin typeface="Montserrat"/>
                  <a:ea typeface="Montserrat"/>
                  <a:cs typeface="Montserrat"/>
                  <a:sym typeface="Montserrat"/>
                </a:rPr>
                <a:t>'connection timed out'</a:t>
              </a:r>
              <a:endParaRPr b="1" sz="1000">
                <a:solidFill>
                  <a:srgbClr val="C62828"/>
                </a:solidFill>
                <a:latin typeface="Montserrat"/>
                <a:ea typeface="Montserrat"/>
                <a:cs typeface="Montserrat"/>
                <a:sym typeface="Montserrat"/>
              </a:endParaRPr>
            </a:p>
            <a:p>
              <a:pPr indent="0" lvl="0" marL="0" rtl="0" algn="l">
                <a:spcBef>
                  <a:spcPts val="600"/>
                </a:spcBef>
                <a:spcAft>
                  <a:spcPts val="0"/>
                </a:spcAft>
                <a:buNone/>
              </a:pPr>
              <a:r>
                <a:rPr b="0" lang="en" sz="900">
                  <a:solidFill>
                    <a:srgbClr val="2D2D2D"/>
                  </a:solidFill>
                  <a:latin typeface="Montserrat"/>
                  <a:ea typeface="Montserrat"/>
                  <a:cs typeface="Montserrat"/>
                  <a:sym typeface="Montserrat"/>
                </a:rPr>
                <a:t>is it DNS? routing? policy? conntrack?</a:t>
              </a:r>
              <a:endParaRPr b="0" sz="900">
                <a:solidFill>
                  <a:srgbClr val="2D2D2D"/>
                </a:solidFill>
                <a:latin typeface="Montserrat"/>
                <a:ea typeface="Montserrat"/>
                <a:cs typeface="Montserrat"/>
                <a:sym typeface="Montserrat"/>
              </a:endParaRPr>
            </a:p>
            <a:p>
              <a:pPr indent="0" lvl="0" marL="0" rtl="0" algn="l">
                <a:spcBef>
                  <a:spcPts val="900"/>
                </a:spcBef>
                <a:spcAft>
                  <a:spcPts val="0"/>
                </a:spcAft>
                <a:buNone/>
              </a:pPr>
              <a:r>
                <a:rPr b="1" lang="en" sz="1000">
                  <a:solidFill>
                    <a:srgbClr val="C62828"/>
                  </a:solidFill>
                  <a:latin typeface="Montserrat"/>
                  <a:ea typeface="Montserrat"/>
                  <a:cs typeface="Montserrat"/>
                  <a:sym typeface="Montserrat"/>
                </a:rPr>
                <a:t>'connection refused'</a:t>
              </a:r>
              <a:endParaRPr b="1" sz="1000">
                <a:solidFill>
                  <a:srgbClr val="C62828"/>
                </a:solidFill>
                <a:latin typeface="Montserrat"/>
                <a:ea typeface="Montserrat"/>
                <a:cs typeface="Montserrat"/>
                <a:sym typeface="Montserrat"/>
              </a:endParaRPr>
            </a:p>
            <a:p>
              <a:pPr indent="0" lvl="0" marL="0" rtl="0" algn="l">
                <a:spcBef>
                  <a:spcPts val="600"/>
                </a:spcBef>
                <a:spcAft>
                  <a:spcPts val="0"/>
                </a:spcAft>
                <a:buNone/>
              </a:pPr>
              <a:r>
                <a:rPr b="0" lang="en" sz="900">
                  <a:solidFill>
                    <a:srgbClr val="2D2D2D"/>
                  </a:solidFill>
                  <a:latin typeface="Montserrat"/>
                  <a:ea typeface="Montserrat"/>
                  <a:cs typeface="Montserrat"/>
                  <a:sym typeface="Montserrat"/>
                </a:rPr>
                <a:t>is the pod down? or is DNS broken?</a:t>
              </a:r>
              <a:endParaRPr b="0" sz="900">
                <a:solidFill>
                  <a:srgbClr val="2D2D2D"/>
                </a:solidFill>
                <a:latin typeface="Montserrat"/>
                <a:ea typeface="Montserrat"/>
                <a:cs typeface="Montserrat"/>
                <a:sym typeface="Montserrat"/>
              </a:endParaRPr>
            </a:p>
            <a:p>
              <a:pPr indent="0" lvl="0" marL="0" rtl="0" algn="l">
                <a:spcBef>
                  <a:spcPts val="900"/>
                </a:spcBef>
                <a:spcAft>
                  <a:spcPts val="0"/>
                </a:spcAft>
                <a:buNone/>
              </a:pPr>
              <a:r>
                <a:rPr b="1" lang="en" sz="1000">
                  <a:solidFill>
                    <a:srgbClr val="C62828"/>
                  </a:solidFill>
                  <a:latin typeface="Montserrat"/>
                  <a:ea typeface="Montserrat"/>
                  <a:cs typeface="Montserrat"/>
                  <a:sym typeface="Montserrat"/>
                </a:rPr>
                <a:t>'intermittent 502 errors'</a:t>
              </a:r>
              <a:endParaRPr b="1" sz="1000">
                <a:solidFill>
                  <a:srgbClr val="C62828"/>
                </a:solidFill>
                <a:latin typeface="Montserrat"/>
                <a:ea typeface="Montserrat"/>
                <a:cs typeface="Montserrat"/>
                <a:sym typeface="Montserrat"/>
              </a:endParaRPr>
            </a:p>
            <a:p>
              <a:pPr indent="0" lvl="0" marL="0" rtl="0" algn="l">
                <a:spcBef>
                  <a:spcPts val="600"/>
                </a:spcBef>
                <a:spcAft>
                  <a:spcPts val="0"/>
                </a:spcAft>
                <a:buNone/>
              </a:pPr>
              <a:r>
                <a:rPr b="0" lang="en" sz="900">
                  <a:solidFill>
                    <a:srgbClr val="2D2D2D"/>
                  </a:solidFill>
                  <a:latin typeface="Montserrat"/>
                  <a:ea typeface="Montserrat"/>
                  <a:cs typeface="Montserrat"/>
                  <a:sym typeface="Montserrat"/>
                </a:rPr>
                <a:t>depends on node, time, or payload size?</a:t>
              </a:r>
              <a:endParaRPr b="0" sz="900">
                <a:solidFill>
                  <a:srgbClr val="2D2D2D"/>
                </a:solidFill>
                <a:latin typeface="Montserrat"/>
                <a:ea typeface="Montserrat"/>
                <a:cs typeface="Montserrat"/>
                <a:sym typeface="Montserrat"/>
              </a:endParaRPr>
            </a:p>
          </p:txBody>
        </p:sp>
      </p:grpSp>
      <p:grpSp>
        <p:nvGrpSpPr>
          <p:cNvPr id="428" name="Google Shape;428;p59"/>
          <p:cNvGrpSpPr/>
          <p:nvPr/>
        </p:nvGrpSpPr>
        <p:grpSpPr>
          <a:xfrm>
            <a:off x="4714875" y="1047750"/>
            <a:ext cx="3952800" cy="2190900"/>
            <a:chOff x="4714875" y="1047750"/>
            <a:chExt cx="3952800" cy="2190900"/>
          </a:xfrm>
        </p:grpSpPr>
        <p:sp>
          <p:nvSpPr>
            <p:cNvPr id="429" name="Google Shape;429;p59"/>
            <p:cNvSpPr/>
            <p:nvPr/>
          </p:nvSpPr>
          <p:spPr>
            <a:xfrm>
              <a:off x="4714875" y="1047750"/>
              <a:ext cx="3952800" cy="2190900"/>
            </a:xfrm>
            <a:prstGeom prst="roundRect">
              <a:avLst>
                <a:gd fmla="val 5217"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59"/>
            <p:cNvSpPr txBox="1"/>
            <p:nvPr/>
          </p:nvSpPr>
          <p:spPr>
            <a:xfrm>
              <a:off x="4905375" y="1190625"/>
              <a:ext cx="3571800" cy="1905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What you check first:</a:t>
              </a:r>
              <a:endParaRPr b="1" sz="1300">
                <a:solidFill>
                  <a:srgbClr val="7B68EE"/>
                </a:solidFill>
                <a:latin typeface="Montserrat"/>
                <a:ea typeface="Montserrat"/>
                <a:cs typeface="Montserrat"/>
                <a:sym typeface="Montserrat"/>
              </a:endParaRPr>
            </a:p>
            <a:p>
              <a:pPr indent="0" lvl="0" marL="0" rtl="0" algn="l">
                <a:spcBef>
                  <a:spcPts val="900"/>
                </a:spcBef>
                <a:spcAft>
                  <a:spcPts val="0"/>
                </a:spcAft>
                <a:buNone/>
              </a:pPr>
              <a:r>
                <a:rPr b="1" lang="en" sz="1000">
                  <a:solidFill>
                    <a:srgbClr val="2D2D2D"/>
                  </a:solidFill>
                  <a:highlight>
                    <a:srgbClr val="EEEEEE"/>
                  </a:highlight>
                  <a:latin typeface="Courier New"/>
                  <a:ea typeface="Courier New"/>
                  <a:cs typeface="Courier New"/>
                  <a:sym typeface="Courier New"/>
                </a:rPr>
                <a:t>oc get pods</a:t>
              </a:r>
              <a:r>
                <a:rPr b="0" lang="en" sz="1000">
                  <a:solidFill>
                    <a:srgbClr val="2D2D2D"/>
                  </a:solidFill>
                  <a:latin typeface="Montserrat"/>
                  <a:ea typeface="Montserrat"/>
                  <a:cs typeface="Montserrat"/>
                  <a:sym typeface="Montserrat"/>
                </a:rPr>
                <a:t> — Running, Ready 1/1 ✓</a:t>
              </a:r>
              <a:endParaRPr b="0" sz="1000">
                <a:solidFill>
                  <a:srgbClr val="2D2D2D"/>
                </a:solidFill>
                <a:latin typeface="Montserrat"/>
                <a:ea typeface="Montserrat"/>
                <a:cs typeface="Montserrat"/>
                <a:sym typeface="Montserrat"/>
              </a:endParaRPr>
            </a:p>
            <a:p>
              <a:pPr indent="0" lvl="0" marL="0" rtl="0" algn="l">
                <a:spcBef>
                  <a:spcPts val="600"/>
                </a:spcBef>
                <a:spcAft>
                  <a:spcPts val="0"/>
                </a:spcAft>
                <a:buNone/>
              </a:pPr>
              <a:r>
                <a:rPr b="1" lang="en" sz="1000">
                  <a:solidFill>
                    <a:srgbClr val="2D2D2D"/>
                  </a:solidFill>
                  <a:highlight>
                    <a:srgbClr val="EEEEEE"/>
                  </a:highlight>
                  <a:latin typeface="Courier New"/>
                  <a:ea typeface="Courier New"/>
                  <a:cs typeface="Courier New"/>
                  <a:sym typeface="Courier New"/>
                </a:rPr>
                <a:t>oc get endpoints</a:t>
              </a:r>
              <a:r>
                <a:rPr b="0" lang="en" sz="1000">
                  <a:solidFill>
                    <a:srgbClr val="2D2D2D"/>
                  </a:solidFill>
                  <a:latin typeface="Montserrat"/>
                  <a:ea typeface="Montserrat"/>
                  <a:cs typeface="Montserrat"/>
                  <a:sym typeface="Montserrat"/>
                </a:rPr>
                <a:t> — exists ✓</a:t>
              </a:r>
              <a:endParaRPr b="0" sz="1000">
                <a:solidFill>
                  <a:srgbClr val="2D2D2D"/>
                </a:solidFill>
                <a:latin typeface="Montserrat"/>
                <a:ea typeface="Montserrat"/>
                <a:cs typeface="Montserrat"/>
                <a:sym typeface="Montserrat"/>
              </a:endParaRPr>
            </a:p>
            <a:p>
              <a:pPr indent="0" lvl="0" marL="0" rtl="0" algn="l">
                <a:spcBef>
                  <a:spcPts val="600"/>
                </a:spcBef>
                <a:spcAft>
                  <a:spcPts val="0"/>
                </a:spcAft>
                <a:buNone/>
              </a:pPr>
              <a:r>
                <a:rPr b="1" lang="en" sz="1000">
                  <a:solidFill>
                    <a:srgbClr val="2D2D2D"/>
                  </a:solidFill>
                  <a:highlight>
                    <a:srgbClr val="EEEEEE"/>
                  </a:highlight>
                  <a:latin typeface="Courier New"/>
                  <a:ea typeface="Courier New"/>
                  <a:cs typeface="Courier New"/>
                  <a:sym typeface="Courier New"/>
                </a:rPr>
                <a:t>oc get svc</a:t>
              </a:r>
              <a:r>
                <a:rPr b="0" lang="en" sz="1000">
                  <a:solidFill>
                    <a:srgbClr val="2D2D2D"/>
                  </a:solidFill>
                  <a:latin typeface="Montserrat"/>
                  <a:ea typeface="Montserrat"/>
                  <a:cs typeface="Montserrat"/>
                  <a:sym typeface="Montserrat"/>
                </a:rPr>
                <a:t> — service exists ✓</a:t>
              </a:r>
              <a:endParaRPr b="0" sz="1000">
                <a:solidFill>
                  <a:srgbClr val="2D2D2D"/>
                </a:solidFill>
                <a:latin typeface="Montserrat"/>
                <a:ea typeface="Montserrat"/>
                <a:cs typeface="Montserrat"/>
                <a:sym typeface="Montserrat"/>
              </a:endParaRPr>
            </a:p>
            <a:p>
              <a:pPr indent="0" lvl="0" marL="0" rtl="0" algn="l">
                <a:spcBef>
                  <a:spcPts val="600"/>
                </a:spcBef>
                <a:spcAft>
                  <a:spcPts val="0"/>
                </a:spcAft>
                <a:buNone/>
              </a:pPr>
              <a:r>
                <a:rPr b="1" lang="en" sz="1000">
                  <a:solidFill>
                    <a:srgbClr val="2D2D2D"/>
                  </a:solidFill>
                  <a:highlight>
                    <a:srgbClr val="EEEEEE"/>
                  </a:highlight>
                  <a:latin typeface="Courier New"/>
                  <a:ea typeface="Courier New"/>
                  <a:cs typeface="Courier New"/>
                  <a:sym typeface="Courier New"/>
                </a:rPr>
                <a:t>oc logs</a:t>
              </a:r>
              <a:r>
                <a:rPr b="0" lang="en" sz="1000">
                  <a:solidFill>
                    <a:srgbClr val="2D2D2D"/>
                  </a:solidFill>
                  <a:latin typeface="Montserrat"/>
                  <a:ea typeface="Montserrat"/>
                  <a:cs typeface="Montserrat"/>
                  <a:sym typeface="Montserrat"/>
                </a:rPr>
                <a:t> — app says 'timeout' (not helpful)</a:t>
              </a:r>
              <a:endParaRPr b="0" sz="1000">
                <a:solidFill>
                  <a:srgbClr val="2D2D2D"/>
                </a:solidFill>
                <a:latin typeface="Montserrat"/>
                <a:ea typeface="Montserrat"/>
                <a:cs typeface="Montserrat"/>
                <a:sym typeface="Montserrat"/>
              </a:endParaRPr>
            </a:p>
          </p:txBody>
        </p:sp>
      </p:grpSp>
      <p:grpSp>
        <p:nvGrpSpPr>
          <p:cNvPr id="431" name="Google Shape;431;p59"/>
          <p:cNvGrpSpPr/>
          <p:nvPr/>
        </p:nvGrpSpPr>
        <p:grpSpPr>
          <a:xfrm>
            <a:off x="476250" y="3429000"/>
            <a:ext cx="8191500" cy="666900"/>
            <a:chOff x="476250" y="3429000"/>
            <a:chExt cx="8191500" cy="666900"/>
          </a:xfrm>
        </p:grpSpPr>
        <p:sp>
          <p:nvSpPr>
            <p:cNvPr id="432" name="Google Shape;432;p59"/>
            <p:cNvSpPr/>
            <p:nvPr/>
          </p:nvSpPr>
          <p:spPr>
            <a:xfrm>
              <a:off x="476250" y="3429000"/>
              <a:ext cx="8191500" cy="666900"/>
            </a:xfrm>
            <a:prstGeom prst="roundRect">
              <a:avLst>
                <a:gd fmla="val 11426" name="adj"/>
              </a:avLst>
            </a:prstGeom>
            <a:solidFill>
              <a:srgbClr val="FDED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59"/>
            <p:cNvSpPr txBox="1"/>
            <p:nvPr/>
          </p:nvSpPr>
          <p:spPr>
            <a:xfrm>
              <a:off x="666750" y="3429000"/>
              <a:ext cx="7810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C62828"/>
                  </a:solidFill>
                  <a:latin typeface="Montserrat"/>
                  <a:ea typeface="Montserrat"/>
                  <a:cs typeface="Montserrat"/>
                  <a:sym typeface="Montserrat"/>
                </a:rPr>
                <a:t>The gap: everything LOOKS fine, but packets vanish.</a:t>
              </a:r>
              <a:endParaRPr b="1" sz="1400">
                <a:solidFill>
                  <a:srgbClr val="C62828"/>
                </a:solidFill>
                <a:latin typeface="Montserrat"/>
                <a:ea typeface="Montserrat"/>
                <a:cs typeface="Montserrat"/>
                <a:sym typeface="Montserrat"/>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0"/>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439" name="Google Shape;439;p60"/>
          <p:cNvPicPr preferRelativeResize="0"/>
          <p:nvPr/>
        </p:nvPicPr>
        <p:blipFill rotWithShape="1">
          <a:blip r:embed="rId3">
            <a:alphaModFix/>
          </a:blip>
          <a:srcRect b="0" l="0" r="0" t="0"/>
          <a:stretch/>
        </p:blipFill>
        <p:spPr>
          <a:xfrm>
            <a:off x="7991468" y="4501355"/>
            <a:ext cx="553002" cy="572625"/>
          </a:xfrm>
          <a:prstGeom prst="rect">
            <a:avLst/>
          </a:prstGeom>
          <a:noFill/>
          <a:ln>
            <a:noFill/>
          </a:ln>
        </p:spPr>
      </p:pic>
      <p:sp>
        <p:nvSpPr>
          <p:cNvPr id="440" name="Google Shape;440;p60"/>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60"/>
          <p:cNvSpPr txBox="1"/>
          <p:nvPr/>
        </p:nvSpPr>
        <p:spPr>
          <a:xfrm>
            <a:off x="400000" y="320000"/>
            <a:ext cx="780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2D2D2D"/>
                </a:solidFill>
                <a:latin typeface="Montserrat SemiBold"/>
                <a:ea typeface="Montserrat SemiBold"/>
                <a:cs typeface="Montserrat SemiBold"/>
                <a:sym typeface="Montserrat SemiBold"/>
              </a:rPr>
              <a:t>Traditional Tools — What They CAN and CAN'T Do</a:t>
            </a:r>
            <a:endParaRPr/>
          </a:p>
        </p:txBody>
      </p:sp>
      <p:grpSp>
        <p:nvGrpSpPr>
          <p:cNvPr id="442" name="Google Shape;442;p60"/>
          <p:cNvGrpSpPr/>
          <p:nvPr/>
        </p:nvGrpSpPr>
        <p:grpSpPr>
          <a:xfrm>
            <a:off x="599980" y="1000125"/>
            <a:ext cx="7496270" cy="2238525"/>
            <a:chOff x="599980" y="1000125"/>
            <a:chExt cx="7496270" cy="2238525"/>
          </a:xfrm>
        </p:grpSpPr>
        <p:sp>
          <p:nvSpPr>
            <p:cNvPr id="443" name="Google Shape;443;p60"/>
            <p:cNvSpPr/>
            <p:nvPr/>
          </p:nvSpPr>
          <p:spPr>
            <a:xfrm>
              <a:off x="599980" y="1000125"/>
              <a:ext cx="3619500" cy="1047900"/>
            </a:xfrm>
            <a:prstGeom prst="roundRect">
              <a:avLst>
                <a:gd fmla="val 7272"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60"/>
            <p:cNvSpPr txBox="1"/>
            <p:nvPr/>
          </p:nvSpPr>
          <p:spPr>
            <a:xfrm>
              <a:off x="695230" y="1095375"/>
              <a:ext cx="3429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37474F"/>
                  </a:solidFill>
                  <a:latin typeface="Courier New"/>
                  <a:ea typeface="Courier New"/>
                  <a:cs typeface="Courier New"/>
                  <a:sym typeface="Courier New"/>
                </a:rPr>
                <a:t>tcpdump -i any port 5000</a:t>
              </a:r>
              <a:endParaRPr b="1" sz="1000">
                <a:solidFill>
                  <a:srgbClr val="37474F"/>
                </a:solidFill>
                <a:latin typeface="Courier New"/>
                <a:ea typeface="Courier New"/>
                <a:cs typeface="Courier New"/>
                <a:sym typeface="Courier New"/>
              </a:endParaRPr>
            </a:p>
            <a:p>
              <a:pPr indent="0" lvl="0" marL="0" rtl="0" algn="l">
                <a:spcBef>
                  <a:spcPts val="600"/>
                </a:spcBef>
                <a:spcAft>
                  <a:spcPts val="0"/>
                </a:spcAft>
                <a:buNone/>
              </a:pPr>
              <a:r>
                <a:rPr b="0" lang="en" sz="1100">
                  <a:solidFill>
                    <a:srgbClr val="2D2D2D"/>
                  </a:solidFill>
                  <a:latin typeface="Montserrat"/>
                  <a:ea typeface="Montserrat"/>
                  <a:cs typeface="Montserrat"/>
                  <a:sym typeface="Montserrat"/>
                </a:rPr>
                <a:t>Sees packets on ONE interface. Cannot see kernel-internal drops.</a:t>
              </a:r>
              <a:endParaRPr b="0" sz="1100">
                <a:solidFill>
                  <a:srgbClr val="2D2D2D"/>
                </a:solidFill>
                <a:latin typeface="Montserrat"/>
                <a:ea typeface="Montserrat"/>
                <a:cs typeface="Montserrat"/>
                <a:sym typeface="Montserrat"/>
              </a:endParaRPr>
            </a:p>
          </p:txBody>
        </p:sp>
        <p:sp>
          <p:nvSpPr>
            <p:cNvPr id="445" name="Google Shape;445;p60"/>
            <p:cNvSpPr/>
            <p:nvPr/>
          </p:nvSpPr>
          <p:spPr>
            <a:xfrm>
              <a:off x="4476750" y="1000125"/>
              <a:ext cx="3619500" cy="1047900"/>
            </a:xfrm>
            <a:prstGeom prst="roundRect">
              <a:avLst>
                <a:gd fmla="val 7272"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60"/>
            <p:cNvSpPr txBox="1"/>
            <p:nvPr/>
          </p:nvSpPr>
          <p:spPr>
            <a:xfrm>
              <a:off x="4572000" y="1095375"/>
              <a:ext cx="3429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37474F"/>
                  </a:solidFill>
                  <a:latin typeface="Courier New"/>
                  <a:ea typeface="Courier New"/>
                  <a:cs typeface="Courier New"/>
                  <a:sym typeface="Courier New"/>
                </a:rPr>
                <a:t>conntrack -S / conntrack -L</a:t>
              </a:r>
              <a:endParaRPr b="1" sz="1000">
                <a:solidFill>
                  <a:srgbClr val="37474F"/>
                </a:solidFill>
                <a:latin typeface="Courier New"/>
                <a:ea typeface="Courier New"/>
                <a:cs typeface="Courier New"/>
                <a:sym typeface="Courier New"/>
              </a:endParaRPr>
            </a:p>
            <a:p>
              <a:pPr indent="0" lvl="0" marL="0" rtl="0" algn="l">
                <a:spcBef>
                  <a:spcPts val="600"/>
                </a:spcBef>
                <a:spcAft>
                  <a:spcPts val="0"/>
                </a:spcAft>
                <a:buNone/>
              </a:pPr>
              <a:r>
                <a:rPr b="0" lang="en" sz="1100">
                  <a:solidFill>
                    <a:srgbClr val="2D2D2D"/>
                  </a:solidFill>
                  <a:latin typeface="Montserrat"/>
                  <a:ea typeface="Montserrat"/>
                  <a:cs typeface="Montserrat"/>
                  <a:sym typeface="Montserrat"/>
                </a:rPr>
                <a:t>Shows counters and entries. No per-pod, per-flow attribution.</a:t>
              </a:r>
              <a:endParaRPr b="0" sz="1100">
                <a:solidFill>
                  <a:srgbClr val="2D2D2D"/>
                </a:solidFill>
                <a:latin typeface="Montserrat"/>
                <a:ea typeface="Montserrat"/>
                <a:cs typeface="Montserrat"/>
                <a:sym typeface="Montserrat"/>
              </a:endParaRPr>
            </a:p>
          </p:txBody>
        </p:sp>
        <p:sp>
          <p:nvSpPr>
            <p:cNvPr id="447" name="Google Shape;447;p60"/>
            <p:cNvSpPr/>
            <p:nvPr/>
          </p:nvSpPr>
          <p:spPr>
            <a:xfrm>
              <a:off x="599980" y="2190750"/>
              <a:ext cx="3619500" cy="1047900"/>
            </a:xfrm>
            <a:prstGeom prst="roundRect">
              <a:avLst>
                <a:gd fmla="val 7272"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8" name="Google Shape;448;p60"/>
            <p:cNvSpPr txBox="1"/>
            <p:nvPr/>
          </p:nvSpPr>
          <p:spPr>
            <a:xfrm>
              <a:off x="695230" y="2286000"/>
              <a:ext cx="3429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37474F"/>
                  </a:solidFill>
                  <a:latin typeface="Courier New"/>
                  <a:ea typeface="Courier New"/>
                  <a:cs typeface="Courier New"/>
                  <a:sym typeface="Courier New"/>
                </a:rPr>
                <a:t>ovn-trace / ovs-appctl ...</a:t>
              </a:r>
              <a:endParaRPr b="1" sz="1000">
                <a:solidFill>
                  <a:srgbClr val="37474F"/>
                </a:solidFill>
                <a:latin typeface="Courier New"/>
                <a:ea typeface="Courier New"/>
                <a:cs typeface="Courier New"/>
                <a:sym typeface="Courier New"/>
              </a:endParaRPr>
            </a:p>
            <a:p>
              <a:pPr indent="0" lvl="0" marL="0" rtl="0" algn="l">
                <a:spcBef>
                  <a:spcPts val="600"/>
                </a:spcBef>
                <a:spcAft>
                  <a:spcPts val="0"/>
                </a:spcAft>
                <a:buNone/>
              </a:pPr>
              <a:r>
                <a:rPr b="0" lang="en" sz="1100">
                  <a:solidFill>
                    <a:srgbClr val="2D2D2D"/>
                  </a:solidFill>
                  <a:latin typeface="Montserrat"/>
                  <a:ea typeface="Montserrat"/>
                  <a:cs typeface="Montserrat"/>
                  <a:sym typeface="Montserrat"/>
                </a:rPr>
                <a:t>Simulates the pipeline. Cannot simulate conntrack STATE.</a:t>
              </a:r>
              <a:endParaRPr b="0" sz="1100">
                <a:solidFill>
                  <a:srgbClr val="2D2D2D"/>
                </a:solidFill>
                <a:latin typeface="Montserrat"/>
                <a:ea typeface="Montserrat"/>
                <a:cs typeface="Montserrat"/>
                <a:sym typeface="Montserrat"/>
              </a:endParaRPr>
            </a:p>
          </p:txBody>
        </p:sp>
        <p:sp>
          <p:nvSpPr>
            <p:cNvPr id="449" name="Google Shape;449;p60"/>
            <p:cNvSpPr/>
            <p:nvPr/>
          </p:nvSpPr>
          <p:spPr>
            <a:xfrm>
              <a:off x="4476750" y="2190750"/>
              <a:ext cx="3619500" cy="1047900"/>
            </a:xfrm>
            <a:prstGeom prst="roundRect">
              <a:avLst>
                <a:gd fmla="val 7272"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60"/>
            <p:cNvSpPr txBox="1"/>
            <p:nvPr/>
          </p:nvSpPr>
          <p:spPr>
            <a:xfrm>
              <a:off x="4572000" y="2286000"/>
              <a:ext cx="3429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37474F"/>
                  </a:solidFill>
                  <a:latin typeface="Courier New"/>
                  <a:ea typeface="Courier New"/>
                  <a:cs typeface="Courier New"/>
                  <a:sym typeface="Courier New"/>
                </a:rPr>
                <a:t>ovs-ofctl dump-flows br-int</a:t>
              </a:r>
              <a:endParaRPr b="1" sz="1000">
                <a:solidFill>
                  <a:srgbClr val="37474F"/>
                </a:solidFill>
                <a:latin typeface="Courier New"/>
                <a:ea typeface="Courier New"/>
                <a:cs typeface="Courier New"/>
                <a:sym typeface="Courier New"/>
              </a:endParaRPr>
            </a:p>
            <a:p>
              <a:pPr indent="0" lvl="0" marL="0" rtl="0" algn="l">
                <a:spcBef>
                  <a:spcPts val="600"/>
                </a:spcBef>
                <a:spcAft>
                  <a:spcPts val="0"/>
                </a:spcAft>
                <a:buNone/>
              </a:pPr>
              <a:r>
                <a:rPr b="0" lang="en" sz="1100">
                  <a:solidFill>
                    <a:srgbClr val="2D2D2D"/>
                  </a:solidFill>
                  <a:latin typeface="Montserrat"/>
                  <a:ea typeface="Montserrat"/>
                  <a:cs typeface="Montserrat"/>
                  <a:sym typeface="Montserrat"/>
                </a:rPr>
                <a:t>500+ rules. Which one is relevant? Manual analysis.</a:t>
              </a:r>
              <a:endParaRPr b="0" sz="1100">
                <a:solidFill>
                  <a:srgbClr val="2D2D2D"/>
                </a:solidFill>
                <a:latin typeface="Montserrat"/>
                <a:ea typeface="Montserrat"/>
                <a:cs typeface="Montserrat"/>
                <a:sym typeface="Montserrat"/>
              </a:endParaRPr>
            </a:p>
          </p:txBody>
        </p:sp>
      </p:grpSp>
      <p:grpSp>
        <p:nvGrpSpPr>
          <p:cNvPr id="451" name="Google Shape;451;p60"/>
          <p:cNvGrpSpPr/>
          <p:nvPr/>
        </p:nvGrpSpPr>
        <p:grpSpPr>
          <a:xfrm>
            <a:off x="599980" y="3476625"/>
            <a:ext cx="7500000" cy="619200"/>
            <a:chOff x="599980" y="3476625"/>
            <a:chExt cx="7500000" cy="619200"/>
          </a:xfrm>
        </p:grpSpPr>
        <p:sp>
          <p:nvSpPr>
            <p:cNvPr id="452" name="Google Shape;452;p60"/>
            <p:cNvSpPr/>
            <p:nvPr/>
          </p:nvSpPr>
          <p:spPr>
            <a:xfrm>
              <a:off x="599980" y="3476625"/>
              <a:ext cx="7500000" cy="619200"/>
            </a:xfrm>
            <a:prstGeom prst="roundRect">
              <a:avLst>
                <a:gd fmla="val 12307" name="adj"/>
              </a:avLst>
            </a:prstGeom>
            <a:solidFill>
              <a:srgbClr val="FDED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60"/>
            <p:cNvSpPr txBox="1"/>
            <p:nvPr/>
          </p:nvSpPr>
          <p:spPr>
            <a:xfrm>
              <a:off x="790480" y="3476625"/>
              <a:ext cx="7119000" cy="619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C62828"/>
                  </a:solidFill>
                  <a:latin typeface="Montserrat"/>
                  <a:ea typeface="Montserrat"/>
                  <a:cs typeface="Montserrat"/>
                  <a:sym typeface="Montserrat"/>
                </a:rPr>
                <a:t>The Blind Spot:</a:t>
              </a:r>
              <a:endParaRPr b="1" sz="1200">
                <a:solidFill>
                  <a:srgbClr val="C62828"/>
                </a:solidFill>
                <a:latin typeface="Montserrat"/>
                <a:ea typeface="Montserrat"/>
                <a:cs typeface="Montserrat"/>
                <a:sym typeface="Montserrat"/>
              </a:endParaRPr>
            </a:p>
            <a:p>
              <a:pPr indent="0" lvl="0" marL="0" rtl="0" algn="ctr">
                <a:spcBef>
                  <a:spcPts val="300"/>
                </a:spcBef>
                <a:spcAft>
                  <a:spcPts val="0"/>
                </a:spcAft>
                <a:buNone/>
              </a:pPr>
              <a:r>
                <a:rPr b="0" lang="en" sz="1100">
                  <a:solidFill>
                    <a:srgbClr val="C62828"/>
                  </a:solidFill>
                  <a:latin typeface="Montserrat"/>
                  <a:ea typeface="Montserrat"/>
                  <a:cs typeface="Montserrat"/>
                  <a:sym typeface="Montserrat"/>
                </a:rPr>
                <a:t>None of these tools can tell you: </a:t>
              </a:r>
              <a:r>
                <a:rPr b="0" lang="en" sz="1100">
                  <a:solidFill>
                    <a:srgbClr val="C62828"/>
                  </a:solidFill>
                  <a:highlight>
                    <a:srgbClr val="F8D7DA"/>
                  </a:highlight>
                  <a:latin typeface="Courier New"/>
                  <a:ea typeface="Courier New"/>
                  <a:cs typeface="Courier New"/>
                  <a:sym typeface="Courier New"/>
                </a:rPr>
                <a:t>'this packet was dropped by conntrack at this time, from this pod.'</a:t>
              </a:r>
              <a:endParaRPr b="0" sz="1100">
                <a:solidFill>
                  <a:srgbClr val="C62828"/>
                </a:solidFill>
                <a:latin typeface="Montserrat"/>
                <a:ea typeface="Montserrat"/>
                <a:cs typeface="Montserrat"/>
                <a:sym typeface="Montserra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7" name="Shape 457"/>
        <p:cNvGrpSpPr/>
        <p:nvPr/>
      </p:nvGrpSpPr>
      <p:grpSpPr>
        <a:xfrm>
          <a:off x="0" y="0"/>
          <a:ext cx="0" cy="0"/>
          <a:chOff x="0" y="0"/>
          <a:chExt cx="0" cy="0"/>
        </a:xfrm>
      </p:grpSpPr>
      <p:grpSp>
        <p:nvGrpSpPr>
          <p:cNvPr id="458" name="Google Shape;458;p61"/>
          <p:cNvGrpSpPr/>
          <p:nvPr/>
        </p:nvGrpSpPr>
        <p:grpSpPr>
          <a:xfrm>
            <a:off x="381000" y="952500"/>
            <a:ext cx="4095900" cy="1428900"/>
            <a:chOff x="381000" y="952500"/>
            <a:chExt cx="4095900" cy="1428900"/>
          </a:xfrm>
        </p:grpSpPr>
        <p:sp>
          <p:nvSpPr>
            <p:cNvPr id="459" name="Google Shape;459;p61"/>
            <p:cNvSpPr/>
            <p:nvPr/>
          </p:nvSpPr>
          <p:spPr>
            <a:xfrm>
              <a:off x="381000" y="952500"/>
              <a:ext cx="4095900" cy="1428900"/>
            </a:xfrm>
            <a:prstGeom prst="roundRect">
              <a:avLst>
                <a:gd fmla="val 800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p61"/>
            <p:cNvSpPr txBox="1"/>
            <p:nvPr/>
          </p:nvSpPr>
          <p:spPr>
            <a:xfrm>
              <a:off x="523875" y="1047750"/>
              <a:ext cx="38100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7B68EE"/>
                  </a:solidFill>
                  <a:latin typeface="Montserrat"/>
                  <a:ea typeface="Montserrat"/>
                  <a:cs typeface="Montserrat"/>
                  <a:sym typeface="Montserrat"/>
                </a:rPr>
                <a:t>What is eBPF?</a:t>
              </a:r>
              <a:endParaRPr b="1" sz="14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100">
                  <a:solidFill>
                    <a:srgbClr val="2D2D2D"/>
                  </a:solidFill>
                  <a:latin typeface="Montserrat SemiBold"/>
                  <a:ea typeface="Montserrat SemiBold"/>
                  <a:cs typeface="Montserrat SemiBold"/>
                  <a:sym typeface="Montserrat SemiBold"/>
                </a:rPr>
                <a:t>Extended Berkeley Packet Filter</a:t>
              </a:r>
              <a:endParaRPr b="0" sz="1100">
                <a:solidFill>
                  <a:srgbClr val="2D2D2D"/>
                </a:solidFill>
                <a:latin typeface="Montserrat SemiBold"/>
                <a:ea typeface="Montserrat SemiBold"/>
                <a:cs typeface="Montserrat SemiBold"/>
                <a:sym typeface="Montserrat SemiBold"/>
              </a:endParaRPr>
            </a:p>
            <a:p>
              <a:pPr indent="0" lvl="0" marL="0" rtl="0" algn="l">
                <a:spcBef>
                  <a:spcPts val="300"/>
                </a:spcBef>
                <a:spcAft>
                  <a:spcPts val="0"/>
                </a:spcAft>
                <a:buNone/>
              </a:pPr>
              <a:r>
                <a:rPr b="0" lang="en" sz="1000">
                  <a:solidFill>
                    <a:srgbClr val="4A4A4A"/>
                  </a:solidFill>
                  <a:latin typeface="Montserrat"/>
                  <a:ea typeface="Montserrat"/>
                  <a:cs typeface="Montserrat"/>
                  <a:sym typeface="Montserrat"/>
                </a:rPr>
                <a:t>• Safe programs running INSIDE the Linux kernel</a:t>
              </a:r>
              <a:endParaRPr b="0" sz="1000">
                <a:solidFill>
                  <a:srgbClr val="4A4A4A"/>
                </a:solidFill>
                <a:latin typeface="Montserrat"/>
                <a:ea typeface="Montserrat"/>
                <a:cs typeface="Montserrat"/>
                <a:sym typeface="Montserrat"/>
              </a:endParaRPr>
            </a:p>
            <a:p>
              <a:pPr indent="0" lvl="0" marL="0" rtl="0" algn="l">
                <a:spcBef>
                  <a:spcPts val="300"/>
                </a:spcBef>
                <a:spcAft>
                  <a:spcPts val="0"/>
                </a:spcAft>
                <a:buNone/>
              </a:pPr>
              <a:r>
                <a:rPr b="0" lang="en" sz="1000">
                  <a:solidFill>
                    <a:srgbClr val="4A4A4A"/>
                  </a:solidFill>
                  <a:latin typeface="Montserrat"/>
                  <a:ea typeface="Montserrat"/>
                  <a:cs typeface="Montserrat"/>
                  <a:sym typeface="Montserrat"/>
                </a:rPr>
                <a:t>• No kernel module, no reboot, no app changes</a:t>
              </a:r>
              <a:endParaRPr b="0" sz="1000">
                <a:solidFill>
                  <a:srgbClr val="4A4A4A"/>
                </a:solidFill>
                <a:latin typeface="Montserrat"/>
                <a:ea typeface="Montserrat"/>
                <a:cs typeface="Montserrat"/>
                <a:sym typeface="Montserrat"/>
              </a:endParaRPr>
            </a:p>
          </p:txBody>
        </p:sp>
      </p:grpSp>
      <p:grpSp>
        <p:nvGrpSpPr>
          <p:cNvPr id="461" name="Google Shape;461;p61"/>
          <p:cNvGrpSpPr/>
          <p:nvPr/>
        </p:nvGrpSpPr>
        <p:grpSpPr>
          <a:xfrm>
            <a:off x="4667250" y="952500"/>
            <a:ext cx="4095900" cy="2190900"/>
            <a:chOff x="4667250" y="952500"/>
            <a:chExt cx="4095900" cy="2190900"/>
          </a:xfrm>
        </p:grpSpPr>
        <p:sp>
          <p:nvSpPr>
            <p:cNvPr id="462" name="Google Shape;462;p61"/>
            <p:cNvSpPr/>
            <p:nvPr/>
          </p:nvSpPr>
          <p:spPr>
            <a:xfrm>
              <a:off x="4667250" y="952500"/>
              <a:ext cx="4095900" cy="2190900"/>
            </a:xfrm>
            <a:prstGeom prst="roundRect">
              <a:avLst>
                <a:gd fmla="val 5217" name="adj"/>
              </a:avLst>
            </a:prstGeom>
            <a:solidFill>
              <a:srgbClr val="F0FDF4"/>
            </a:solidFill>
            <a:ln cap="flat" cmpd="sng" w="9525">
              <a:solidFill>
                <a:srgbClr val="DCFC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61"/>
            <p:cNvSpPr txBox="1"/>
            <p:nvPr/>
          </p:nvSpPr>
          <p:spPr>
            <a:xfrm>
              <a:off x="4810125" y="1047750"/>
              <a:ext cx="38100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95">
                  <a:solidFill>
                    <a:srgbClr val="166534"/>
                  </a:solidFill>
                  <a:latin typeface="Montserrat"/>
                  <a:ea typeface="Montserrat"/>
                  <a:cs typeface="Montserrat"/>
                  <a:sym typeface="Montserrat"/>
                </a:rPr>
                <a:t>Unique Capabilities</a:t>
              </a:r>
              <a:endParaRPr b="1" sz="1295">
                <a:solidFill>
                  <a:srgbClr val="166534"/>
                </a:solidFill>
                <a:latin typeface="Montserrat"/>
                <a:ea typeface="Montserrat"/>
                <a:cs typeface="Montserrat"/>
                <a:sym typeface="Montserrat"/>
              </a:endParaRPr>
            </a:p>
            <a:p>
              <a:pPr indent="-287338" lvl="0" marL="457200" rtl="0" algn="l">
                <a:spcBef>
                  <a:spcPts val="900"/>
                </a:spcBef>
                <a:spcAft>
                  <a:spcPts val="0"/>
                </a:spcAft>
                <a:buClr>
                  <a:srgbClr val="14532D"/>
                </a:buClr>
                <a:buSzPts val="925"/>
                <a:buFont typeface="Montserrat"/>
                <a:buChar char="●"/>
              </a:pPr>
              <a:r>
                <a:rPr b="0" lang="en" sz="925">
                  <a:solidFill>
                    <a:srgbClr val="14532D"/>
                  </a:solidFill>
                  <a:latin typeface="Montserrat SemiBold"/>
                  <a:ea typeface="Montserrat SemiBold"/>
                  <a:cs typeface="Montserrat SemiBold"/>
                  <a:sym typeface="Montserrat SemiBold"/>
                </a:rPr>
                <a:t>Attach to TC hook: </a:t>
              </a:r>
              <a:r>
                <a:rPr b="0" lang="en" sz="925">
                  <a:solidFill>
                    <a:srgbClr val="166534"/>
                  </a:solidFill>
                  <a:latin typeface="Montserrat"/>
                  <a:ea typeface="Montserrat"/>
                  <a:cs typeface="Montserrat"/>
                  <a:sym typeface="Montserrat"/>
                </a:rPr>
                <a:t>Visibility across every interface and node.</a:t>
              </a:r>
              <a:endParaRPr b="0" sz="925">
                <a:solidFill>
                  <a:srgbClr val="14532D"/>
                </a:solidFill>
                <a:latin typeface="Montserrat SemiBold"/>
                <a:ea typeface="Montserrat SemiBold"/>
                <a:cs typeface="Montserrat SemiBold"/>
                <a:sym typeface="Montserrat SemiBold"/>
              </a:endParaRPr>
            </a:p>
            <a:p>
              <a:pPr indent="-287338" lvl="0" marL="457200" rtl="0" algn="l">
                <a:spcBef>
                  <a:spcPts val="600"/>
                </a:spcBef>
                <a:spcAft>
                  <a:spcPts val="0"/>
                </a:spcAft>
                <a:buClr>
                  <a:srgbClr val="14532D"/>
                </a:buClr>
                <a:buSzPts val="925"/>
                <a:buFont typeface="Montserrat"/>
                <a:buChar char="●"/>
              </a:pPr>
              <a:r>
                <a:rPr b="0" lang="en" sz="925">
                  <a:solidFill>
                    <a:srgbClr val="14532D"/>
                  </a:solidFill>
                  <a:latin typeface="Montserrat SemiBold"/>
                  <a:ea typeface="Montserrat SemiBold"/>
                  <a:cs typeface="Montserrat SemiBold"/>
                  <a:sym typeface="Montserrat SemiBold"/>
                </a:rPr>
                <a:t>kfree_skb tracepoint: </a:t>
              </a:r>
              <a:r>
                <a:rPr b="0" lang="en" sz="925">
                  <a:solidFill>
                    <a:srgbClr val="166534"/>
                  </a:solidFill>
                  <a:latin typeface="Montserrat"/>
                  <a:ea typeface="Montserrat"/>
                  <a:cs typeface="Montserrat"/>
                  <a:sym typeface="Montserrat"/>
                </a:rPr>
                <a:t>Fires exactly when the kernel DROPS a packet.</a:t>
              </a:r>
              <a:endParaRPr b="0" sz="925">
                <a:solidFill>
                  <a:srgbClr val="14532D"/>
                </a:solidFill>
                <a:latin typeface="Montserrat SemiBold"/>
                <a:ea typeface="Montserrat SemiBold"/>
                <a:cs typeface="Montserrat SemiBold"/>
                <a:sym typeface="Montserrat SemiBold"/>
              </a:endParaRPr>
            </a:p>
            <a:p>
              <a:pPr indent="-287338" lvl="0" marL="457200" rtl="0" algn="l">
                <a:spcBef>
                  <a:spcPts val="600"/>
                </a:spcBef>
                <a:spcAft>
                  <a:spcPts val="0"/>
                </a:spcAft>
                <a:buClr>
                  <a:srgbClr val="14532D"/>
                </a:buClr>
                <a:buSzPts val="925"/>
                <a:buFont typeface="Montserrat"/>
                <a:buChar char="●"/>
              </a:pPr>
              <a:r>
                <a:rPr b="0" lang="en" sz="925">
                  <a:solidFill>
                    <a:srgbClr val="14532D"/>
                  </a:solidFill>
                  <a:latin typeface="Montserrat SemiBold"/>
                  <a:ea typeface="Montserrat SemiBold"/>
                  <a:cs typeface="Montserrat SemiBold"/>
                  <a:sym typeface="Montserrat SemiBold"/>
                </a:rPr>
                <a:t>Exact Drop Reason: </a:t>
              </a:r>
              <a:r>
                <a:rPr b="0" lang="en" sz="925">
                  <a:solidFill>
                    <a:srgbClr val="166534"/>
                  </a:solidFill>
                  <a:latin typeface="Montserrat"/>
                  <a:ea typeface="Montserrat"/>
                  <a:cs typeface="Montserrat"/>
                  <a:sym typeface="Montserrat"/>
                </a:rPr>
                <a:t>Reports NetworkPolicy, CT_INVALID, etc.</a:t>
              </a:r>
              <a:endParaRPr b="0" sz="925">
                <a:solidFill>
                  <a:srgbClr val="14532D"/>
                </a:solidFill>
                <a:latin typeface="Montserrat SemiBold"/>
                <a:ea typeface="Montserrat SemiBold"/>
                <a:cs typeface="Montserrat SemiBold"/>
                <a:sym typeface="Montserrat SemiBold"/>
              </a:endParaRPr>
            </a:p>
            <a:p>
              <a:pPr indent="-287338" lvl="0" marL="457200" rtl="0" algn="l">
                <a:spcBef>
                  <a:spcPts val="600"/>
                </a:spcBef>
                <a:spcAft>
                  <a:spcPts val="0"/>
                </a:spcAft>
                <a:buClr>
                  <a:srgbClr val="14532D"/>
                </a:buClr>
                <a:buSzPts val="925"/>
                <a:buFont typeface="Montserrat"/>
                <a:buChar char="●"/>
              </a:pPr>
              <a:r>
                <a:rPr b="0" lang="en" sz="925">
                  <a:solidFill>
                    <a:srgbClr val="14532D"/>
                  </a:solidFill>
                  <a:latin typeface="Montserrat SemiBold"/>
                  <a:ea typeface="Montserrat SemiBold"/>
                  <a:cs typeface="Montserrat SemiBold"/>
                  <a:sym typeface="Montserrat SemiBold"/>
                </a:rPr>
                <a:t>Metadata Extraction: </a:t>
              </a:r>
              <a:r>
                <a:rPr b="0" lang="en" sz="925">
                  <a:solidFill>
                    <a:srgbClr val="166534"/>
                  </a:solidFill>
                  <a:latin typeface="Montserrat"/>
                  <a:ea typeface="Montserrat"/>
                  <a:cs typeface="Montserrat"/>
                  <a:sym typeface="Montserrat"/>
                </a:rPr>
                <a:t>Captures ~100 bytes/packet without full payload.</a:t>
              </a:r>
              <a:endParaRPr b="0" sz="925">
                <a:solidFill>
                  <a:srgbClr val="14532D"/>
                </a:solidFill>
                <a:latin typeface="Montserrat SemiBold"/>
                <a:ea typeface="Montserrat SemiBold"/>
                <a:cs typeface="Montserrat SemiBold"/>
                <a:sym typeface="Montserrat SemiBold"/>
              </a:endParaRPr>
            </a:p>
            <a:p>
              <a:pPr indent="-287338" lvl="0" marL="457200" rtl="0" algn="l">
                <a:spcBef>
                  <a:spcPts val="600"/>
                </a:spcBef>
                <a:spcAft>
                  <a:spcPts val="0"/>
                </a:spcAft>
                <a:buClr>
                  <a:srgbClr val="14532D"/>
                </a:buClr>
                <a:buSzPts val="925"/>
                <a:buFont typeface="Montserrat"/>
                <a:buChar char="●"/>
              </a:pPr>
              <a:r>
                <a:rPr b="0" lang="en" sz="925">
                  <a:solidFill>
                    <a:srgbClr val="14532D"/>
                  </a:solidFill>
                  <a:latin typeface="Montserrat SemiBold"/>
                  <a:ea typeface="Montserrat SemiBold"/>
                  <a:cs typeface="Montserrat SemiBold"/>
                  <a:sym typeface="Montserrat SemiBold"/>
                </a:rPr>
                <a:t>Always-on: </a:t>
              </a:r>
              <a:r>
                <a:rPr b="0" lang="en" sz="925">
                  <a:solidFill>
                    <a:srgbClr val="166534"/>
                  </a:solidFill>
                  <a:latin typeface="Montserrat"/>
                  <a:ea typeface="Montserrat"/>
                  <a:cs typeface="Montserrat"/>
                  <a:sym typeface="Montserrat"/>
                </a:rPr>
                <a:t>Minimal overhead (~0.08 CPU total across 6 nodes at 3K flows/s; scales with cluster size).</a:t>
              </a:r>
              <a:endParaRPr b="0" sz="925">
                <a:solidFill>
                  <a:srgbClr val="14532D"/>
                </a:solidFill>
                <a:latin typeface="Montserrat SemiBold"/>
                <a:ea typeface="Montserrat SemiBold"/>
                <a:cs typeface="Montserrat SemiBold"/>
                <a:sym typeface="Montserrat SemiBold"/>
              </a:endParaRPr>
            </a:p>
          </p:txBody>
        </p:sp>
      </p:grpSp>
      <p:grpSp>
        <p:nvGrpSpPr>
          <p:cNvPr id="464" name="Google Shape;464;p61"/>
          <p:cNvGrpSpPr/>
          <p:nvPr/>
        </p:nvGrpSpPr>
        <p:grpSpPr>
          <a:xfrm>
            <a:off x="381000" y="2571750"/>
            <a:ext cx="4095900" cy="571500"/>
            <a:chOff x="381000" y="2571750"/>
            <a:chExt cx="4095900" cy="571500"/>
          </a:xfrm>
        </p:grpSpPr>
        <p:sp>
          <p:nvSpPr>
            <p:cNvPr id="465" name="Google Shape;465;p61"/>
            <p:cNvSpPr/>
            <p:nvPr/>
          </p:nvSpPr>
          <p:spPr>
            <a:xfrm>
              <a:off x="381000" y="2571750"/>
              <a:ext cx="4095900" cy="571500"/>
            </a:xfrm>
            <a:prstGeom prst="roundRect">
              <a:avLst>
                <a:gd fmla="val 13333" name="adj"/>
              </a:avLst>
            </a:prstGeom>
            <a:solidFill>
              <a:srgbClr val="E0F2FE"/>
            </a:solidFill>
            <a:ln cap="flat" cmpd="sng" w="9525">
              <a:solidFill>
                <a:srgbClr val="BAE6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61"/>
            <p:cNvSpPr txBox="1"/>
            <p:nvPr/>
          </p:nvSpPr>
          <p:spPr>
            <a:xfrm>
              <a:off x="523875" y="2619375"/>
              <a:ext cx="381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0369A1"/>
                  </a:solidFill>
                  <a:latin typeface="Montserrat SemiBold"/>
                  <a:ea typeface="Montserrat SemiBold"/>
                  <a:cs typeface="Montserrat SemiBold"/>
                  <a:sym typeface="Montserrat SemiBold"/>
                </a:rPr>
                <a:t>Safety First: </a:t>
              </a:r>
              <a:r>
                <a:rPr b="0" lang="en" sz="1000">
                  <a:solidFill>
                    <a:srgbClr val="0369A1"/>
                  </a:solidFill>
                  <a:latin typeface="Montserrat"/>
                  <a:ea typeface="Montserrat"/>
                  <a:cs typeface="Montserrat"/>
                  <a:sym typeface="Montserrat"/>
                </a:rPr>
                <a:t>The eBPF verifier ensures programs can't crash the kernel.</a:t>
              </a:r>
              <a:endParaRPr b="0" sz="1000">
                <a:solidFill>
                  <a:srgbClr val="0369A1"/>
                </a:solidFill>
                <a:latin typeface="Montserrat SemiBold"/>
                <a:ea typeface="Montserrat SemiBold"/>
                <a:cs typeface="Montserrat SemiBold"/>
                <a:sym typeface="Montserrat SemiBold"/>
              </a:endParaRPr>
            </a:p>
          </p:txBody>
        </p:sp>
      </p:grpSp>
      <p:sp>
        <p:nvSpPr>
          <p:cNvPr id="467" name="Google Shape;467;p61"/>
          <p:cNvSpPr/>
          <p:nvPr/>
        </p:nvSpPr>
        <p:spPr>
          <a:xfrm>
            <a:off x="250000" y="285750"/>
            <a:ext cx="45000" cy="4500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61"/>
          <p:cNvSpPr txBox="1"/>
          <p:nvPr/>
        </p:nvSpPr>
        <p:spPr>
          <a:xfrm>
            <a:off x="400000" y="255746"/>
            <a:ext cx="7800000" cy="500100"/>
          </a:xfrm>
          <a:prstGeom prst="rect">
            <a:avLst/>
          </a:prstGeom>
          <a:solidFill>
            <a:srgbClr val="000000">
              <a:alpha val="0"/>
            </a:srgbClr>
          </a:solidFill>
          <a:ln>
            <a:noFill/>
          </a:ln>
        </p:spPr>
        <p:txBody>
          <a:bodyPr anchorCtr="0" anchor="ctr" bIns="0" lIns="91425" spcFirstLastPara="1" rIns="0" wrap="square" tIns="0">
            <a:noAutofit/>
          </a:bodyPr>
          <a:lstStyle/>
          <a:p>
            <a:pPr indent="0" lvl="0" marL="0" rtl="0" algn="l">
              <a:spcBef>
                <a:spcPts val="0"/>
              </a:spcBef>
              <a:spcAft>
                <a:spcPts val="0"/>
              </a:spcAft>
              <a:buNone/>
            </a:pPr>
            <a:r>
              <a:rPr b="1" lang="en" sz="2200">
                <a:solidFill>
                  <a:srgbClr val="2D2D2D"/>
                </a:solidFill>
                <a:latin typeface="Montserrat"/>
                <a:ea typeface="Montserrat"/>
                <a:cs typeface="Montserrat"/>
                <a:sym typeface="Montserrat"/>
              </a:rPr>
              <a:t>Enter eBPF — Visibility INSIDE the Kernel</a:t>
            </a:r>
            <a:endParaRPr b="1" sz="2200">
              <a:solidFill>
                <a:srgbClr val="2D2D2D"/>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2" name="Shape 472"/>
        <p:cNvGrpSpPr/>
        <p:nvPr/>
      </p:nvGrpSpPr>
      <p:grpSpPr>
        <a:xfrm>
          <a:off x="0" y="0"/>
          <a:ext cx="0" cy="0"/>
          <a:chOff x="0" y="0"/>
          <a:chExt cx="0" cy="0"/>
        </a:xfrm>
      </p:grpSpPr>
      <p:sp>
        <p:nvSpPr>
          <p:cNvPr id="473" name="Google Shape;473;p62"/>
          <p:cNvSpPr/>
          <p:nvPr/>
        </p:nvSpPr>
        <p:spPr>
          <a:xfrm>
            <a:off x="-19936" y="4346553"/>
            <a:ext cx="9183900" cy="882300"/>
          </a:xfrm>
          <a:prstGeom prst="rect">
            <a:avLst/>
          </a:prstGeom>
          <a:solidFill>
            <a:srgbClr val="8E83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74" name="Google Shape;474;p62"/>
          <p:cNvPicPr preferRelativeResize="0"/>
          <p:nvPr/>
        </p:nvPicPr>
        <p:blipFill rotWithShape="1">
          <a:blip r:embed="rId4">
            <a:alphaModFix/>
          </a:blip>
          <a:srcRect b="0" l="0" r="0" t="0"/>
          <a:stretch/>
        </p:blipFill>
        <p:spPr>
          <a:xfrm>
            <a:off x="7991465" y="4501353"/>
            <a:ext cx="552900" cy="572700"/>
          </a:xfrm>
          <a:prstGeom prst="rect">
            <a:avLst/>
          </a:prstGeom>
          <a:noFill/>
          <a:ln>
            <a:noFill/>
          </a:ln>
        </p:spPr>
      </p:pic>
      <p:sp>
        <p:nvSpPr>
          <p:cNvPr id="475" name="Google Shape;475;p62"/>
          <p:cNvSpPr/>
          <p:nvPr/>
        </p:nvSpPr>
        <p:spPr>
          <a:xfrm>
            <a:off x="250000" y="380000"/>
            <a:ext cx="50100" cy="500100"/>
          </a:xfrm>
          <a:prstGeom prst="rect">
            <a:avLst/>
          </a:prstGeom>
          <a:solidFill>
            <a:srgbClr val="7B68EE"/>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62"/>
          <p:cNvSpPr txBox="1"/>
          <p:nvPr/>
        </p:nvSpPr>
        <p:spPr>
          <a:xfrm>
            <a:off x="400000" y="350000"/>
            <a:ext cx="7800000" cy="369300"/>
          </a:xfrm>
          <a:prstGeom prst="rect">
            <a:avLst/>
          </a:prstGeom>
          <a:solidFill>
            <a:srgbClr val="000000">
              <a:alpha val="0"/>
            </a:srgbClr>
          </a:solidFill>
          <a:ln>
            <a:noFill/>
          </a:ln>
        </p:spPr>
        <p:txBody>
          <a:bodyPr anchorCtr="0" anchor="ctr" bIns="0" lIns="95250" spcFirstLastPara="1" rIns="0" wrap="square" tIns="0">
            <a:spAutoFit/>
          </a:bodyPr>
          <a:lstStyle/>
          <a:p>
            <a:pPr indent="0" lvl="0" marL="0" rtl="0" algn="l">
              <a:spcBef>
                <a:spcPts val="0"/>
              </a:spcBef>
              <a:spcAft>
                <a:spcPts val="0"/>
              </a:spcAft>
              <a:buNone/>
            </a:pPr>
            <a:r>
              <a:rPr b="1" lang="en" sz="2400">
                <a:solidFill>
                  <a:srgbClr val="2D2D2D"/>
                </a:solidFill>
                <a:latin typeface="Montserrat"/>
                <a:ea typeface="Montserrat"/>
                <a:cs typeface="Montserrat"/>
                <a:sym typeface="Montserrat"/>
              </a:rPr>
              <a:t>Network Observability Operator Architecture</a:t>
            </a:r>
            <a:endParaRPr b="1" sz="2400">
              <a:solidFill>
                <a:srgbClr val="2D2D2D"/>
              </a:solidFill>
              <a:latin typeface="Montserrat"/>
              <a:ea typeface="Montserrat"/>
              <a:cs typeface="Montserrat"/>
              <a:sym typeface="Montserrat"/>
            </a:endParaRPr>
          </a:p>
        </p:txBody>
      </p:sp>
      <p:grpSp>
        <p:nvGrpSpPr>
          <p:cNvPr id="477" name="Google Shape;477;p62"/>
          <p:cNvGrpSpPr/>
          <p:nvPr/>
        </p:nvGrpSpPr>
        <p:grpSpPr>
          <a:xfrm>
            <a:off x="600075" y="1000125"/>
            <a:ext cx="4572000" cy="3048000"/>
            <a:chOff x="600075" y="1000125"/>
            <a:chExt cx="4572000" cy="3048000"/>
          </a:xfrm>
        </p:grpSpPr>
        <p:sp>
          <p:nvSpPr>
            <p:cNvPr id="478" name="Google Shape;478;p62"/>
            <p:cNvSpPr/>
            <p:nvPr/>
          </p:nvSpPr>
          <p:spPr>
            <a:xfrm>
              <a:off x="600075" y="1000125"/>
              <a:ext cx="4572000" cy="3048000"/>
            </a:xfrm>
            <a:prstGeom prst="roundRect">
              <a:avLst>
                <a:gd fmla="val 375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62"/>
            <p:cNvSpPr txBox="1"/>
            <p:nvPr/>
          </p:nvSpPr>
          <p:spPr>
            <a:xfrm>
              <a:off x="790575" y="1190625"/>
              <a:ext cx="41910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7B68EE"/>
                  </a:solidFill>
                  <a:latin typeface="Montserrat"/>
                  <a:ea typeface="Montserrat"/>
                  <a:cs typeface="Montserrat"/>
                  <a:sym typeface="Montserrat"/>
                </a:rPr>
                <a:t>Data Pipeline (bottom to top)</a:t>
              </a:r>
              <a:endParaRPr b="1" sz="1400">
                <a:solidFill>
                  <a:srgbClr val="7B68EE"/>
                </a:solidFill>
                <a:latin typeface="Montserrat"/>
                <a:ea typeface="Montserrat"/>
                <a:cs typeface="Montserrat"/>
                <a:sym typeface="Montserrat"/>
              </a:endParaRPr>
            </a:p>
            <a:p>
              <a:pPr indent="0" lvl="0" marL="0" rtl="0" algn="l">
                <a:spcBef>
                  <a:spcPts val="1500"/>
                </a:spcBef>
                <a:spcAft>
                  <a:spcPts val="0"/>
                </a:spcAft>
                <a:buNone/>
              </a:pPr>
              <a:r>
                <a:rPr b="1" lang="en" sz="1100">
                  <a:solidFill>
                    <a:srgbClr val="2D2D2D"/>
                  </a:solidFill>
                  <a:latin typeface="Montserrat"/>
                  <a:ea typeface="Montserrat"/>
                  <a:cs typeface="Montserrat"/>
                  <a:sym typeface="Montserrat"/>
                </a:rPr>
                <a:t>OCP Console</a:t>
              </a:r>
              <a:endParaRPr b="1" sz="1100">
                <a:solidFill>
                  <a:srgbClr val="2D2D2D"/>
                </a:solidFill>
                <a:latin typeface="Montserrat"/>
                <a:ea typeface="Montserrat"/>
                <a:cs typeface="Montserrat"/>
                <a:sym typeface="Montserrat"/>
              </a:endParaRPr>
            </a:p>
            <a:p>
              <a:pPr indent="0" lvl="0" marL="0" rtl="0" algn="l">
                <a:spcBef>
                  <a:spcPts val="0"/>
                </a:spcBef>
                <a:spcAft>
                  <a:spcPts val="0"/>
                </a:spcAft>
                <a:buNone/>
              </a:pPr>
              <a:r>
                <a:rPr lang="en" sz="900">
                  <a:solidFill>
                    <a:srgbClr val="616161"/>
                  </a:solidFill>
                  <a:latin typeface="Montserrat"/>
                  <a:ea typeface="Montserrat"/>
                  <a:cs typeface="Montserrat"/>
                  <a:sym typeface="Montserrat"/>
                </a:rPr>
                <a:t>Observe -&gt; Network Traffic</a:t>
              </a:r>
              <a:endParaRPr sz="900">
                <a:solidFill>
                  <a:srgbClr val="616161"/>
                </a:solidFill>
                <a:latin typeface="Montserrat"/>
                <a:ea typeface="Montserrat"/>
                <a:cs typeface="Montserrat"/>
                <a:sym typeface="Montserrat"/>
              </a:endParaRPr>
            </a:p>
            <a:p>
              <a:pPr indent="0" lvl="0" marL="0" rtl="0" algn="l">
                <a:spcBef>
                  <a:spcPts val="900"/>
                </a:spcBef>
                <a:spcAft>
                  <a:spcPts val="0"/>
                </a:spcAft>
                <a:buNone/>
              </a:pPr>
              <a:r>
                <a:rPr b="1" lang="en" sz="1100">
                  <a:solidFill>
                    <a:srgbClr val="2D2D2D"/>
                  </a:solidFill>
                  <a:latin typeface="Montserrat"/>
                  <a:ea typeface="Montserrat"/>
                  <a:cs typeface="Montserrat"/>
                  <a:sym typeface="Montserrat"/>
                </a:rPr>
                <a:t>Loki</a:t>
              </a:r>
              <a:endParaRPr b="1" sz="1100">
                <a:solidFill>
                  <a:srgbClr val="2D2D2D"/>
                </a:solidFill>
                <a:latin typeface="Montserrat"/>
                <a:ea typeface="Montserrat"/>
                <a:cs typeface="Montserrat"/>
                <a:sym typeface="Montserrat"/>
              </a:endParaRPr>
            </a:p>
            <a:p>
              <a:pPr indent="0" lvl="0" marL="0" rtl="0" algn="l">
                <a:spcBef>
                  <a:spcPts val="0"/>
                </a:spcBef>
                <a:spcAft>
                  <a:spcPts val="0"/>
                </a:spcAft>
                <a:buNone/>
              </a:pPr>
              <a:r>
                <a:rPr lang="en" sz="900">
                  <a:solidFill>
                    <a:srgbClr val="616161"/>
                  </a:solidFill>
                  <a:latin typeface="Montserrat"/>
                  <a:ea typeface="Montserrat"/>
                  <a:cs typeface="Montserrat"/>
                  <a:sym typeface="Montserrat"/>
                </a:rPr>
                <a:t>Stores enriched flow logs</a:t>
              </a:r>
              <a:endParaRPr sz="900">
                <a:solidFill>
                  <a:srgbClr val="616161"/>
                </a:solidFill>
                <a:latin typeface="Montserrat"/>
                <a:ea typeface="Montserrat"/>
                <a:cs typeface="Montserrat"/>
                <a:sym typeface="Montserrat"/>
              </a:endParaRPr>
            </a:p>
            <a:p>
              <a:pPr indent="0" lvl="0" marL="0" rtl="0" algn="l">
                <a:spcBef>
                  <a:spcPts val="900"/>
                </a:spcBef>
                <a:spcAft>
                  <a:spcPts val="0"/>
                </a:spcAft>
                <a:buNone/>
              </a:pPr>
              <a:r>
                <a:rPr b="1" lang="en" sz="1100">
                  <a:solidFill>
                    <a:srgbClr val="2D2D2D"/>
                  </a:solidFill>
                  <a:latin typeface="Montserrat"/>
                  <a:ea typeface="Montserrat"/>
                  <a:cs typeface="Montserrat"/>
                  <a:sym typeface="Montserrat"/>
                </a:rPr>
                <a:t>flowlogs-pipeline</a:t>
              </a:r>
              <a:endParaRPr b="1" sz="1100">
                <a:solidFill>
                  <a:srgbClr val="2D2D2D"/>
                </a:solidFill>
                <a:latin typeface="Montserrat"/>
                <a:ea typeface="Montserrat"/>
                <a:cs typeface="Montserrat"/>
                <a:sym typeface="Montserrat"/>
              </a:endParaRPr>
            </a:p>
            <a:p>
              <a:pPr indent="0" lvl="0" marL="0" rtl="0" algn="l">
                <a:spcBef>
                  <a:spcPts val="0"/>
                </a:spcBef>
                <a:spcAft>
                  <a:spcPts val="0"/>
                </a:spcAft>
                <a:buNone/>
              </a:pPr>
              <a:r>
                <a:rPr lang="en" sz="900">
                  <a:solidFill>
                    <a:srgbClr val="616161"/>
                  </a:solidFill>
                  <a:latin typeface="Montserrat"/>
                  <a:ea typeface="Montserrat"/>
                  <a:cs typeface="Montserrat"/>
                  <a:sym typeface="Montserrat"/>
                </a:rPr>
                <a:t>Collects and e</a:t>
              </a:r>
              <a:r>
                <a:rPr lang="en" sz="900">
                  <a:solidFill>
                    <a:srgbClr val="616161"/>
                  </a:solidFill>
                  <a:latin typeface="Montserrat"/>
                  <a:ea typeface="Montserrat"/>
                  <a:cs typeface="Montserrat"/>
                  <a:sym typeface="Montserrat"/>
                </a:rPr>
                <a:t>nriches IPs to pod names + namespaces</a:t>
              </a:r>
              <a:endParaRPr sz="900">
                <a:solidFill>
                  <a:srgbClr val="616161"/>
                </a:solidFill>
                <a:latin typeface="Montserrat"/>
                <a:ea typeface="Montserrat"/>
                <a:cs typeface="Montserrat"/>
                <a:sym typeface="Montserrat"/>
              </a:endParaRPr>
            </a:p>
            <a:p>
              <a:pPr indent="0" lvl="0" marL="0" rtl="0" algn="l">
                <a:spcBef>
                  <a:spcPts val="900"/>
                </a:spcBef>
                <a:spcAft>
                  <a:spcPts val="0"/>
                </a:spcAft>
                <a:buNone/>
              </a:pPr>
              <a:r>
                <a:rPr b="1" lang="en" sz="1100">
                  <a:solidFill>
                    <a:srgbClr val="2D2D2D"/>
                  </a:solidFill>
                  <a:latin typeface="Montserrat"/>
                  <a:ea typeface="Montserrat"/>
                  <a:cs typeface="Montserrat"/>
                  <a:sym typeface="Montserrat"/>
                </a:rPr>
                <a:t>eBPF Agent</a:t>
              </a:r>
              <a:endParaRPr b="1" sz="1100">
                <a:solidFill>
                  <a:srgbClr val="2D2D2D"/>
                </a:solidFill>
                <a:latin typeface="Montserrat"/>
                <a:ea typeface="Montserrat"/>
                <a:cs typeface="Montserrat"/>
                <a:sym typeface="Montserrat"/>
              </a:endParaRPr>
            </a:p>
            <a:p>
              <a:pPr indent="0" lvl="0" marL="0" rtl="0" algn="l">
                <a:spcBef>
                  <a:spcPts val="0"/>
                </a:spcBef>
                <a:spcAft>
                  <a:spcPts val="0"/>
                </a:spcAft>
                <a:buNone/>
              </a:pPr>
              <a:r>
                <a:rPr lang="en" sz="900">
                  <a:solidFill>
                    <a:srgbClr val="616161"/>
                  </a:solidFill>
                  <a:latin typeface="Montserrat"/>
                  <a:ea typeface="Montserrat"/>
                  <a:cs typeface="Montserrat"/>
                  <a:sym typeface="Montserrat"/>
                </a:rPr>
                <a:t>DaemonSet — one pod per node</a:t>
              </a:r>
              <a:endParaRPr sz="900">
                <a:solidFill>
                  <a:srgbClr val="616161"/>
                </a:solidFill>
                <a:latin typeface="Montserrat"/>
                <a:ea typeface="Montserrat"/>
                <a:cs typeface="Montserrat"/>
                <a:sym typeface="Montserrat"/>
              </a:endParaRPr>
            </a:p>
            <a:p>
              <a:pPr indent="0" lvl="0" marL="0" rtl="0" algn="l">
                <a:spcBef>
                  <a:spcPts val="900"/>
                </a:spcBef>
                <a:spcAft>
                  <a:spcPts val="0"/>
                </a:spcAft>
                <a:buNone/>
              </a:pPr>
              <a:r>
                <a:rPr b="1" lang="en" sz="1100">
                  <a:solidFill>
                    <a:srgbClr val="2D2D2D"/>
                  </a:solidFill>
                  <a:latin typeface="Montserrat"/>
                  <a:ea typeface="Montserrat"/>
                  <a:cs typeface="Montserrat"/>
                  <a:sym typeface="Montserrat"/>
                </a:rPr>
                <a:t>Linux Kernel</a:t>
              </a:r>
              <a:endParaRPr b="1" sz="1100">
                <a:solidFill>
                  <a:srgbClr val="2D2D2D"/>
                </a:solidFill>
                <a:latin typeface="Montserrat"/>
                <a:ea typeface="Montserrat"/>
                <a:cs typeface="Montserrat"/>
                <a:sym typeface="Montserrat"/>
              </a:endParaRPr>
            </a:p>
            <a:p>
              <a:pPr indent="0" lvl="0" marL="0" rtl="0" algn="l">
                <a:spcBef>
                  <a:spcPts val="0"/>
                </a:spcBef>
                <a:spcAft>
                  <a:spcPts val="0"/>
                </a:spcAft>
                <a:buNone/>
              </a:pPr>
              <a:r>
                <a:rPr lang="en" sz="900">
                  <a:solidFill>
                    <a:srgbClr val="616161"/>
                  </a:solidFill>
                  <a:latin typeface="Montserrat"/>
                  <a:ea typeface="Montserrat"/>
                  <a:cs typeface="Montserrat"/>
                  <a:sym typeface="Montserrat"/>
                </a:rPr>
                <a:t>TC hook + kfree_skb tracepoint</a:t>
              </a:r>
              <a:endParaRPr sz="900">
                <a:solidFill>
                  <a:srgbClr val="616161"/>
                </a:solidFill>
                <a:latin typeface="Montserrat"/>
                <a:ea typeface="Montserrat"/>
                <a:cs typeface="Montserrat"/>
                <a:sym typeface="Montserrat"/>
              </a:endParaRPr>
            </a:p>
          </p:txBody>
        </p:sp>
      </p:grpSp>
      <p:grpSp>
        <p:nvGrpSpPr>
          <p:cNvPr id="480" name="Google Shape;480;p62"/>
          <p:cNvGrpSpPr/>
          <p:nvPr/>
        </p:nvGrpSpPr>
        <p:grpSpPr>
          <a:xfrm>
            <a:off x="5362575" y="1000125"/>
            <a:ext cx="3143400" cy="3048000"/>
            <a:chOff x="5362575" y="1000125"/>
            <a:chExt cx="3143400" cy="3048000"/>
          </a:xfrm>
        </p:grpSpPr>
        <p:sp>
          <p:nvSpPr>
            <p:cNvPr id="481" name="Google Shape;481;p62"/>
            <p:cNvSpPr/>
            <p:nvPr/>
          </p:nvSpPr>
          <p:spPr>
            <a:xfrm>
              <a:off x="5362575" y="1000125"/>
              <a:ext cx="3143400" cy="3048000"/>
            </a:xfrm>
            <a:prstGeom prst="roundRect">
              <a:avLst>
                <a:gd fmla="val 3750" name="adj"/>
              </a:avLst>
            </a:prstGeom>
            <a:solidFill>
              <a:srgbClr val="E8F5E9"/>
            </a:solidFill>
            <a:ln cap="flat" cmpd="sng" w="9525">
              <a:solidFill>
                <a:srgbClr val="DCEDC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62"/>
            <p:cNvSpPr txBox="1"/>
            <p:nvPr/>
          </p:nvSpPr>
          <p:spPr>
            <a:xfrm>
              <a:off x="5553075" y="1190625"/>
              <a:ext cx="2762400" cy="2667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3600">
                  <a:solidFill>
                    <a:srgbClr val="2E7D32"/>
                  </a:solidFill>
                  <a:latin typeface="Material Icons"/>
                  <a:ea typeface="Material Icons"/>
                  <a:cs typeface="Material Icons"/>
                  <a:sym typeface="Material Icons"/>
                </a:rPr>
                <a:t>description</a:t>
              </a:r>
              <a:endParaRPr sz="3600">
                <a:solidFill>
                  <a:srgbClr val="2E7D32"/>
                </a:solidFill>
                <a:latin typeface="Material Icons"/>
                <a:ea typeface="Material Icons"/>
                <a:cs typeface="Material Icons"/>
                <a:sym typeface="Material Icons"/>
              </a:endParaRPr>
            </a:p>
            <a:p>
              <a:pPr indent="0" lvl="0" marL="0" rtl="0" algn="ctr">
                <a:spcBef>
                  <a:spcPts val="1125"/>
                </a:spcBef>
                <a:spcAft>
                  <a:spcPts val="0"/>
                </a:spcAft>
                <a:buNone/>
              </a:pPr>
              <a:r>
                <a:rPr b="1" lang="en" sz="1600">
                  <a:solidFill>
                    <a:srgbClr val="2E7D32"/>
                  </a:solidFill>
                  <a:latin typeface="Montserrat"/>
                  <a:ea typeface="Montserrat"/>
                  <a:cs typeface="Montserrat"/>
                  <a:sym typeface="Montserrat"/>
                </a:rPr>
                <a:t>Zero Code Required</a:t>
              </a:r>
              <a:endParaRPr b="1" sz="1600">
                <a:solidFill>
                  <a:srgbClr val="2E7D32"/>
                </a:solidFill>
                <a:latin typeface="Montserrat"/>
                <a:ea typeface="Montserrat"/>
                <a:cs typeface="Montserrat"/>
                <a:sym typeface="Montserrat"/>
              </a:endParaRPr>
            </a:p>
            <a:p>
              <a:pPr indent="0" lvl="0" marL="0" rtl="0" algn="ctr">
                <a:spcBef>
                  <a:spcPts val="1125"/>
                </a:spcBef>
                <a:spcAft>
                  <a:spcPts val="0"/>
                </a:spcAft>
                <a:buNone/>
              </a:pPr>
              <a:r>
                <a:rPr b="0" lang="en" sz="1100">
                  <a:solidFill>
                    <a:srgbClr val="2D2D2D"/>
                  </a:solidFill>
                  <a:latin typeface="Montserrat Medium"/>
                  <a:ea typeface="Montserrat Medium"/>
                  <a:cs typeface="Montserrat Medium"/>
                  <a:sym typeface="Montserrat Medium"/>
                </a:rPr>
                <a:t>You configure </a:t>
              </a:r>
              <a:r>
                <a:rPr b="1" lang="en" sz="1100">
                  <a:solidFill>
                    <a:srgbClr val="2D2D2D"/>
                  </a:solidFill>
                  <a:latin typeface="Montserrat"/>
                  <a:ea typeface="Montserrat"/>
                  <a:cs typeface="Montserrat"/>
                  <a:sym typeface="Montserrat"/>
                </a:rPr>
                <a:t>ONE YAML</a:t>
              </a:r>
              <a:r>
                <a:rPr b="0" lang="en" sz="1100">
                  <a:solidFill>
                    <a:srgbClr val="2D2D2D"/>
                  </a:solidFill>
                  <a:latin typeface="Montserrat Medium"/>
                  <a:ea typeface="Montserrat Medium"/>
                  <a:cs typeface="Montserrat Medium"/>
                  <a:sym typeface="Montserrat Medium"/>
                </a:rPr>
                <a:t> (FlowCollector CR).</a:t>
              </a:r>
              <a:endParaRPr b="0" sz="1100">
                <a:solidFill>
                  <a:srgbClr val="2D2D2D"/>
                </a:solidFill>
                <a:latin typeface="Montserrat Medium"/>
                <a:ea typeface="Montserrat Medium"/>
                <a:cs typeface="Montserrat Medium"/>
                <a:sym typeface="Montserrat Medium"/>
              </a:endParaRPr>
            </a:p>
            <a:p>
              <a:pPr indent="0" lvl="0" marL="0" rtl="0" algn="ctr">
                <a:spcBef>
                  <a:spcPts val="750"/>
                </a:spcBef>
                <a:spcAft>
                  <a:spcPts val="0"/>
                </a:spcAft>
                <a:buNone/>
              </a:pPr>
              <a:r>
                <a:rPr b="0" lang="en" sz="1100">
                  <a:solidFill>
                    <a:srgbClr val="2D2D2D"/>
                  </a:solidFill>
                  <a:latin typeface="Montserrat Medium"/>
                  <a:ea typeface="Montserrat Medium"/>
                  <a:cs typeface="Montserrat Medium"/>
                  <a:sym typeface="Montserrat Medium"/>
                </a:rPr>
                <a:t>You do </a:t>
              </a:r>
              <a:r>
                <a:rPr b="1" lang="en" sz="1100">
                  <a:solidFill>
                    <a:srgbClr val="C62828"/>
                  </a:solidFill>
                  <a:latin typeface="Montserrat"/>
                  <a:ea typeface="Montserrat"/>
                  <a:cs typeface="Montserrat"/>
                  <a:sym typeface="Montserrat"/>
                </a:rPr>
                <a:t>NOT</a:t>
              </a:r>
              <a:r>
                <a:rPr b="0" lang="en" sz="1100">
                  <a:solidFill>
                    <a:srgbClr val="2D2D2D"/>
                  </a:solidFill>
                  <a:latin typeface="Montserrat Medium"/>
                  <a:ea typeface="Montserrat Medium"/>
                  <a:cs typeface="Montserrat Medium"/>
                  <a:sym typeface="Montserrat Medium"/>
                </a:rPr>
                <a:t> write eBPF code.</a:t>
              </a:r>
              <a:endParaRPr b="0" sz="1100">
                <a:solidFill>
                  <a:srgbClr val="2D2D2D"/>
                </a:solidFill>
                <a:latin typeface="Montserrat Medium"/>
                <a:ea typeface="Montserrat Medium"/>
                <a:cs typeface="Montserrat Medium"/>
                <a:sym typeface="Montserrat Medium"/>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3"/>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488" name="Google Shape;488;p63"/>
          <p:cNvPicPr preferRelativeResize="0"/>
          <p:nvPr/>
        </p:nvPicPr>
        <p:blipFill rotWithShape="1">
          <a:blip r:embed="rId3">
            <a:alphaModFix/>
          </a:blip>
          <a:srcRect b="0" l="0" r="0" t="0"/>
          <a:stretch/>
        </p:blipFill>
        <p:spPr>
          <a:xfrm>
            <a:off x="7991468" y="4501355"/>
            <a:ext cx="553002" cy="572625"/>
          </a:xfrm>
          <a:prstGeom prst="rect">
            <a:avLst/>
          </a:prstGeom>
          <a:noFill/>
          <a:ln>
            <a:noFill/>
          </a:ln>
        </p:spPr>
      </p:pic>
      <p:sp>
        <p:nvSpPr>
          <p:cNvPr id="489" name="Google Shape;489;p63"/>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63"/>
          <p:cNvSpPr txBox="1"/>
          <p:nvPr/>
        </p:nvSpPr>
        <p:spPr>
          <a:xfrm>
            <a:off x="400000" y="320000"/>
            <a:ext cx="780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2D2D2D"/>
                </a:solidFill>
                <a:latin typeface="Montserrat SemiBold"/>
                <a:ea typeface="Montserrat SemiBold"/>
                <a:cs typeface="Montserrat SemiBold"/>
                <a:sym typeface="Montserrat SemiBold"/>
              </a:rPr>
              <a:t>Network Observability Operator — Architecture</a:t>
            </a:r>
            <a:endParaRPr/>
          </a:p>
        </p:txBody>
      </p:sp>
      <p:grpSp>
        <p:nvGrpSpPr>
          <p:cNvPr id="491" name="Google Shape;491;p63"/>
          <p:cNvGrpSpPr/>
          <p:nvPr/>
        </p:nvGrpSpPr>
        <p:grpSpPr>
          <a:xfrm>
            <a:off x="600075" y="1000125"/>
            <a:ext cx="7496325" cy="2095650"/>
            <a:chOff x="600075" y="1000125"/>
            <a:chExt cx="7496325" cy="2095650"/>
          </a:xfrm>
        </p:grpSpPr>
        <p:sp>
          <p:nvSpPr>
            <p:cNvPr id="492" name="Google Shape;492;p63"/>
            <p:cNvSpPr/>
            <p:nvPr/>
          </p:nvSpPr>
          <p:spPr>
            <a:xfrm>
              <a:off x="600075" y="1000125"/>
              <a:ext cx="2381400" cy="1047900"/>
            </a:xfrm>
            <a:prstGeom prst="roundRect">
              <a:avLst>
                <a:gd fmla="val 7272"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63"/>
            <p:cNvSpPr txBox="1"/>
            <p:nvPr/>
          </p:nvSpPr>
          <p:spPr>
            <a:xfrm>
              <a:off x="600075" y="1000125"/>
              <a:ext cx="2381400" cy="10479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1. Linux Kernel</a:t>
              </a:r>
              <a:endParaRPr b="1" sz="1100">
                <a:solidFill>
                  <a:srgbClr val="7B68EE"/>
                </a:solidFill>
                <a:latin typeface="Montserrat"/>
                <a:ea typeface="Montserrat"/>
                <a:cs typeface="Montserrat"/>
                <a:sym typeface="Montserrat"/>
              </a:endParaRPr>
            </a:p>
            <a:p>
              <a:pPr indent="0" lvl="0" marL="0" rtl="0" algn="l">
                <a:spcBef>
                  <a:spcPts val="375"/>
                </a:spcBef>
                <a:spcAft>
                  <a:spcPts val="0"/>
                </a:spcAft>
                <a:buNone/>
              </a:pPr>
              <a:r>
                <a:rPr lang="en" sz="900">
                  <a:solidFill>
                    <a:srgbClr val="2D2D2D"/>
                  </a:solidFill>
                  <a:latin typeface="Montserrat"/>
                  <a:ea typeface="Montserrat"/>
                  <a:cs typeface="Montserrat"/>
                  <a:sym typeface="Montserrat"/>
                </a:rPr>
                <a:t>TC hook + kfree_skb. eBPF captures metadata (IP, port, drops, DNS).</a:t>
              </a:r>
              <a:endParaRPr sz="900">
                <a:solidFill>
                  <a:srgbClr val="2D2D2D"/>
                </a:solidFill>
                <a:latin typeface="Montserrat"/>
                <a:ea typeface="Montserrat"/>
                <a:cs typeface="Montserrat"/>
                <a:sym typeface="Montserrat"/>
              </a:endParaRPr>
            </a:p>
          </p:txBody>
        </p:sp>
        <p:sp>
          <p:nvSpPr>
            <p:cNvPr id="494" name="Google Shape;494;p63"/>
            <p:cNvSpPr/>
            <p:nvPr/>
          </p:nvSpPr>
          <p:spPr>
            <a:xfrm>
              <a:off x="3152775" y="1000125"/>
              <a:ext cx="2381400" cy="1047900"/>
            </a:xfrm>
            <a:prstGeom prst="roundRect">
              <a:avLst>
                <a:gd fmla="val 7272"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5" name="Google Shape;495;p63"/>
            <p:cNvSpPr txBox="1"/>
            <p:nvPr/>
          </p:nvSpPr>
          <p:spPr>
            <a:xfrm>
              <a:off x="3152775" y="1000125"/>
              <a:ext cx="2381400" cy="10479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2. eBPF Agent</a:t>
              </a:r>
              <a:endParaRPr b="1" sz="1100">
                <a:solidFill>
                  <a:srgbClr val="7B68EE"/>
                </a:solidFill>
                <a:latin typeface="Montserrat"/>
                <a:ea typeface="Montserrat"/>
                <a:cs typeface="Montserrat"/>
                <a:sym typeface="Montserrat"/>
              </a:endParaRPr>
            </a:p>
            <a:p>
              <a:pPr indent="0" lvl="0" marL="0" rtl="0" algn="l">
                <a:spcBef>
                  <a:spcPts val="375"/>
                </a:spcBef>
                <a:spcAft>
                  <a:spcPts val="0"/>
                </a:spcAft>
                <a:buNone/>
              </a:pPr>
              <a:r>
                <a:rPr lang="en" sz="900">
                  <a:solidFill>
                    <a:srgbClr val="2D2D2D"/>
                  </a:solidFill>
                  <a:latin typeface="Montserrat"/>
                  <a:ea typeface="Montserrat"/>
                  <a:cs typeface="Montserrat"/>
                  <a:sym typeface="Montserrat"/>
                </a:rPr>
                <a:t>DaemonSet reads flow records from kernel ring buffer.</a:t>
              </a:r>
              <a:endParaRPr sz="900">
                <a:solidFill>
                  <a:srgbClr val="2D2D2D"/>
                </a:solidFill>
                <a:latin typeface="Montserrat"/>
                <a:ea typeface="Montserrat"/>
                <a:cs typeface="Montserrat"/>
                <a:sym typeface="Montserrat"/>
              </a:endParaRPr>
            </a:p>
          </p:txBody>
        </p:sp>
        <p:sp>
          <p:nvSpPr>
            <p:cNvPr id="496" name="Google Shape;496;p63"/>
            <p:cNvSpPr/>
            <p:nvPr/>
          </p:nvSpPr>
          <p:spPr>
            <a:xfrm>
              <a:off x="5715000" y="1000125"/>
              <a:ext cx="2381400" cy="1047900"/>
            </a:xfrm>
            <a:prstGeom prst="roundRect">
              <a:avLst>
                <a:gd fmla="val 7272"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7" name="Google Shape;497;p63"/>
            <p:cNvSpPr txBox="1"/>
            <p:nvPr/>
          </p:nvSpPr>
          <p:spPr>
            <a:xfrm>
              <a:off x="5715000" y="1000125"/>
              <a:ext cx="2381400" cy="10479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3. flowlogs-pipeline</a:t>
              </a:r>
              <a:endParaRPr b="1" sz="1100">
                <a:solidFill>
                  <a:srgbClr val="7B68EE"/>
                </a:solidFill>
                <a:latin typeface="Montserrat"/>
                <a:ea typeface="Montserrat"/>
                <a:cs typeface="Montserrat"/>
                <a:sym typeface="Montserrat"/>
              </a:endParaRPr>
            </a:p>
            <a:p>
              <a:pPr indent="0" lvl="0" marL="0" rtl="0" algn="l">
                <a:spcBef>
                  <a:spcPts val="375"/>
                </a:spcBef>
                <a:spcAft>
                  <a:spcPts val="0"/>
                </a:spcAft>
                <a:buNone/>
              </a:pPr>
              <a:r>
                <a:rPr lang="en" sz="900">
                  <a:solidFill>
                    <a:srgbClr val="2D2D2D"/>
                  </a:solidFill>
                  <a:latin typeface="Montserrat"/>
                  <a:ea typeface="Montserrat"/>
                  <a:cs typeface="Montserrat"/>
                  <a:sym typeface="Montserrat"/>
                </a:rPr>
                <a:t>Enriches raw IPs with K8s context (pod, namespace, node).</a:t>
              </a:r>
              <a:endParaRPr sz="900">
                <a:solidFill>
                  <a:srgbClr val="2D2D2D"/>
                </a:solidFill>
                <a:latin typeface="Montserrat"/>
                <a:ea typeface="Montserrat"/>
                <a:cs typeface="Montserrat"/>
                <a:sym typeface="Montserrat"/>
              </a:endParaRPr>
            </a:p>
          </p:txBody>
        </p:sp>
        <p:sp>
          <p:nvSpPr>
            <p:cNvPr id="498" name="Google Shape;498;p63"/>
            <p:cNvSpPr/>
            <p:nvPr/>
          </p:nvSpPr>
          <p:spPr>
            <a:xfrm>
              <a:off x="600075" y="2238375"/>
              <a:ext cx="3714900" cy="857400"/>
            </a:xfrm>
            <a:prstGeom prst="roundRect">
              <a:avLst>
                <a:gd fmla="val 8888"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63"/>
            <p:cNvSpPr txBox="1"/>
            <p:nvPr/>
          </p:nvSpPr>
          <p:spPr>
            <a:xfrm>
              <a:off x="600075" y="2238375"/>
              <a:ext cx="3714900" cy="8574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4. Loki Storage</a:t>
              </a:r>
              <a:endParaRPr b="1" sz="1100">
                <a:solidFill>
                  <a:srgbClr val="7B68EE"/>
                </a:solidFill>
                <a:latin typeface="Montserrat"/>
                <a:ea typeface="Montserrat"/>
                <a:cs typeface="Montserrat"/>
                <a:sym typeface="Montserrat"/>
              </a:endParaRPr>
            </a:p>
            <a:p>
              <a:pPr indent="0" lvl="0" marL="0" rtl="0" algn="l">
                <a:spcBef>
                  <a:spcPts val="375"/>
                </a:spcBef>
                <a:spcAft>
                  <a:spcPts val="0"/>
                </a:spcAft>
                <a:buNone/>
              </a:pPr>
              <a:r>
                <a:rPr lang="en" sz="900">
                  <a:solidFill>
                    <a:srgbClr val="2D2D2D"/>
                  </a:solidFill>
                  <a:latin typeface="Montserrat"/>
                  <a:ea typeface="Montserrat"/>
                  <a:cs typeface="Montserrat"/>
                  <a:sym typeface="Montserrat"/>
                </a:rPr>
                <a:t>Stores enriched flow logs for efficient querying and analysis.</a:t>
              </a:r>
              <a:endParaRPr sz="900">
                <a:solidFill>
                  <a:srgbClr val="2D2D2D"/>
                </a:solidFill>
                <a:latin typeface="Montserrat"/>
                <a:ea typeface="Montserrat"/>
                <a:cs typeface="Montserrat"/>
                <a:sym typeface="Montserrat"/>
              </a:endParaRPr>
            </a:p>
          </p:txBody>
        </p:sp>
        <p:sp>
          <p:nvSpPr>
            <p:cNvPr id="500" name="Google Shape;500;p63"/>
            <p:cNvSpPr/>
            <p:nvPr/>
          </p:nvSpPr>
          <p:spPr>
            <a:xfrm>
              <a:off x="4505325" y="2238375"/>
              <a:ext cx="3591000" cy="857400"/>
            </a:xfrm>
            <a:prstGeom prst="roundRect">
              <a:avLst>
                <a:gd fmla="val 8888"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63"/>
            <p:cNvSpPr txBox="1"/>
            <p:nvPr/>
          </p:nvSpPr>
          <p:spPr>
            <a:xfrm>
              <a:off x="4505325" y="2238375"/>
              <a:ext cx="3591000" cy="857400"/>
            </a:xfrm>
            <a:prstGeom prst="rect">
              <a:avLst/>
            </a:prstGeom>
            <a:no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5. OCP Console</a:t>
              </a:r>
              <a:endParaRPr b="1" sz="1100">
                <a:solidFill>
                  <a:srgbClr val="7B68EE"/>
                </a:solidFill>
                <a:latin typeface="Montserrat"/>
                <a:ea typeface="Montserrat"/>
                <a:cs typeface="Montserrat"/>
                <a:sym typeface="Montserrat"/>
              </a:endParaRPr>
            </a:p>
            <a:p>
              <a:pPr indent="0" lvl="0" marL="0" rtl="0" algn="l">
                <a:spcBef>
                  <a:spcPts val="375"/>
                </a:spcBef>
                <a:spcAft>
                  <a:spcPts val="0"/>
                </a:spcAft>
                <a:buNone/>
              </a:pPr>
              <a:r>
                <a:rPr lang="en" sz="900">
                  <a:solidFill>
                    <a:srgbClr val="2D2D2D"/>
                  </a:solidFill>
                  <a:latin typeface="Montserrat"/>
                  <a:ea typeface="Montserrat"/>
                  <a:cs typeface="Montserrat"/>
                  <a:sym typeface="Montserrat"/>
                </a:rPr>
                <a:t>Observe → Network Traffic. Visual dashboard for insights.</a:t>
              </a:r>
              <a:endParaRPr sz="900">
                <a:solidFill>
                  <a:srgbClr val="2D2D2D"/>
                </a:solidFill>
                <a:latin typeface="Montserrat"/>
                <a:ea typeface="Montserrat"/>
                <a:cs typeface="Montserrat"/>
                <a:sym typeface="Montserrat"/>
              </a:endParaRPr>
            </a:p>
          </p:txBody>
        </p:sp>
      </p:grpSp>
      <p:grpSp>
        <p:nvGrpSpPr>
          <p:cNvPr id="502" name="Google Shape;502;p63"/>
          <p:cNvGrpSpPr/>
          <p:nvPr/>
        </p:nvGrpSpPr>
        <p:grpSpPr>
          <a:xfrm>
            <a:off x="600075" y="3381375"/>
            <a:ext cx="7496100" cy="619200"/>
            <a:chOff x="600075" y="3381375"/>
            <a:chExt cx="7496100" cy="619200"/>
          </a:xfrm>
        </p:grpSpPr>
        <p:sp>
          <p:nvSpPr>
            <p:cNvPr id="503" name="Google Shape;503;p63"/>
            <p:cNvSpPr/>
            <p:nvPr/>
          </p:nvSpPr>
          <p:spPr>
            <a:xfrm>
              <a:off x="600075" y="3381375"/>
              <a:ext cx="7496100" cy="619200"/>
            </a:xfrm>
            <a:prstGeom prst="roundRect">
              <a:avLst>
                <a:gd fmla="val 12307" name="adj"/>
              </a:avLst>
            </a:prstGeom>
            <a:solidFill>
              <a:srgbClr val="F0FDF4"/>
            </a:solidFill>
            <a:ln cap="flat" cmpd="sng" w="9525">
              <a:solidFill>
                <a:srgbClr val="DCFC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p63"/>
            <p:cNvSpPr txBox="1"/>
            <p:nvPr/>
          </p:nvSpPr>
          <p:spPr>
            <a:xfrm>
              <a:off x="600075" y="3381375"/>
              <a:ext cx="7496100" cy="619200"/>
            </a:xfrm>
            <a:prstGeom prst="rect">
              <a:avLst/>
            </a:prstGeom>
            <a:noFill/>
            <a:ln>
              <a:noFill/>
            </a:ln>
          </p:spPr>
          <p:txBody>
            <a:bodyPr anchorCtr="0" anchor="ctr" bIns="0" lIns="190500" spcFirstLastPara="1" rIns="190500" wrap="square" tIns="0">
              <a:noAutofit/>
            </a:bodyPr>
            <a:lstStyle/>
            <a:p>
              <a:pPr indent="0" lvl="0" marL="0" rtl="0" algn="ctr">
                <a:spcBef>
                  <a:spcPts val="0"/>
                </a:spcBef>
                <a:spcAft>
                  <a:spcPts val="0"/>
                </a:spcAft>
                <a:buNone/>
              </a:pPr>
              <a:r>
                <a:rPr b="1" lang="en" sz="1100">
                  <a:solidFill>
                    <a:srgbClr val="166534"/>
                  </a:solidFill>
                  <a:latin typeface="Montserrat"/>
                  <a:ea typeface="Montserrat"/>
                  <a:cs typeface="Montserrat"/>
                  <a:sym typeface="Montserrat"/>
                </a:rPr>
                <a:t>The Operator deploys everything with ONE YAML (FlowCollector CR).</a:t>
              </a:r>
              <a:endParaRPr b="1" sz="1100">
                <a:solidFill>
                  <a:srgbClr val="166534"/>
                </a:solidFill>
                <a:latin typeface="Montserrat"/>
                <a:ea typeface="Montserrat"/>
                <a:cs typeface="Montserrat"/>
                <a:sym typeface="Montserrat"/>
              </a:endParaRPr>
            </a:p>
            <a:p>
              <a:pPr indent="0" lvl="0" marL="0" rtl="0" algn="ctr">
                <a:spcBef>
                  <a:spcPts val="150"/>
                </a:spcBef>
                <a:spcAft>
                  <a:spcPts val="0"/>
                </a:spcAft>
                <a:buNone/>
              </a:pPr>
              <a:r>
                <a:rPr b="0" lang="en" sz="1000">
                  <a:solidFill>
                    <a:srgbClr val="14532D"/>
                  </a:solidFill>
                  <a:latin typeface="Montserrat"/>
                  <a:ea typeface="Montserrat"/>
                  <a:cs typeface="Montserrat"/>
                  <a:sym typeface="Montserrat"/>
                </a:rPr>
                <a:t>No eBPF code needed from the user.</a:t>
              </a:r>
              <a:endParaRPr b="0" sz="1000">
                <a:solidFill>
                  <a:srgbClr val="14532D"/>
                </a:solidFill>
                <a:latin typeface="Montserrat"/>
                <a:ea typeface="Montserrat"/>
                <a:cs typeface="Montserrat"/>
                <a:sym typeface="Montserra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4"/>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510" name="Google Shape;510;p64"/>
          <p:cNvPicPr preferRelativeResize="0"/>
          <p:nvPr/>
        </p:nvPicPr>
        <p:blipFill rotWithShape="1">
          <a:blip r:embed="rId3">
            <a:alphaModFix/>
          </a:blip>
          <a:srcRect b="0" l="0" r="0" t="0"/>
          <a:stretch/>
        </p:blipFill>
        <p:spPr>
          <a:xfrm>
            <a:off x="7991468" y="4501355"/>
            <a:ext cx="553002" cy="572625"/>
          </a:xfrm>
          <a:prstGeom prst="rect">
            <a:avLst/>
          </a:prstGeom>
          <a:noFill/>
          <a:ln>
            <a:noFill/>
          </a:ln>
        </p:spPr>
      </p:pic>
      <p:sp>
        <p:nvSpPr>
          <p:cNvPr id="511" name="Google Shape;511;p64"/>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64"/>
          <p:cNvSpPr txBox="1"/>
          <p:nvPr/>
        </p:nvSpPr>
        <p:spPr>
          <a:xfrm>
            <a:off x="400000" y="320000"/>
            <a:ext cx="780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2D2D2D"/>
                </a:solidFill>
                <a:latin typeface="Montserrat SemiBold"/>
                <a:ea typeface="Montserrat SemiBold"/>
                <a:cs typeface="Montserrat SemiBold"/>
                <a:sym typeface="Montserrat SemiBold"/>
              </a:rPr>
              <a:t>From Raw Kernel Data to Actionable Insights</a:t>
            </a:r>
            <a:endParaRPr/>
          </a:p>
        </p:txBody>
      </p:sp>
      <p:grpSp>
        <p:nvGrpSpPr>
          <p:cNvPr id="513" name="Google Shape;513;p64"/>
          <p:cNvGrpSpPr/>
          <p:nvPr/>
        </p:nvGrpSpPr>
        <p:grpSpPr>
          <a:xfrm>
            <a:off x="566738" y="1047750"/>
            <a:ext cx="8010600" cy="3148088"/>
            <a:chOff x="566738" y="1047750"/>
            <a:chExt cx="8010600" cy="3148088"/>
          </a:xfrm>
        </p:grpSpPr>
        <p:grpSp>
          <p:nvGrpSpPr>
            <p:cNvPr id="514" name="Google Shape;514;p64"/>
            <p:cNvGrpSpPr/>
            <p:nvPr/>
          </p:nvGrpSpPr>
          <p:grpSpPr>
            <a:xfrm>
              <a:off x="571500" y="1047750"/>
              <a:ext cx="3524400" cy="1428900"/>
              <a:chOff x="571500" y="1047750"/>
              <a:chExt cx="3524400" cy="1428900"/>
            </a:xfrm>
          </p:grpSpPr>
          <p:sp>
            <p:nvSpPr>
              <p:cNvPr id="515" name="Google Shape;515;p64"/>
              <p:cNvSpPr/>
              <p:nvPr/>
            </p:nvSpPr>
            <p:spPr>
              <a:xfrm>
                <a:off x="571500" y="1047750"/>
                <a:ext cx="3524400" cy="1428900"/>
              </a:xfrm>
              <a:prstGeom prst="roundRect">
                <a:avLst>
                  <a:gd fmla="val 800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64"/>
              <p:cNvSpPr txBox="1"/>
              <p:nvPr/>
            </p:nvSpPr>
            <p:spPr>
              <a:xfrm>
                <a:off x="571500" y="1047750"/>
                <a:ext cx="3524400" cy="1428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What the eBPF agent captures (raw):</a:t>
                </a:r>
                <a:endParaRPr b="1" sz="1300">
                  <a:solidFill>
                    <a:srgbClr val="7B68EE"/>
                  </a:solidFill>
                  <a:latin typeface="Montserrat"/>
                  <a:ea typeface="Montserrat"/>
                  <a:cs typeface="Montserrat"/>
                  <a:sym typeface="Montserrat"/>
                </a:endParaRPr>
              </a:p>
              <a:p>
                <a:pPr indent="0" lvl="0" marL="0" rtl="0" algn="l">
                  <a:spcBef>
                    <a:spcPts val="900"/>
                  </a:spcBef>
                  <a:spcAft>
                    <a:spcPts val="0"/>
                  </a:spcAft>
                  <a:buNone/>
                </a:pPr>
                <a:r>
                  <a:rPr lang="en" sz="900">
                    <a:solidFill>
                      <a:srgbClr val="37474F"/>
                    </a:solidFill>
                    <a:highlight>
                      <a:srgbClr val="ECEFF1"/>
                    </a:highlight>
                    <a:latin typeface="Courier New"/>
                    <a:ea typeface="Courier New"/>
                    <a:cs typeface="Courier New"/>
                    <a:sym typeface="Courier New"/>
                  </a:rPr>
                  <a:t>src=10.128.2.15 dst=10.128.3.22 port=5000 proto=TCP bytes=1247</a:t>
                </a:r>
                <a:endParaRPr sz="900">
                  <a:solidFill>
                    <a:srgbClr val="37474F"/>
                  </a:solidFill>
                  <a:highlight>
                    <a:srgbClr val="ECEFF1"/>
                  </a:highlight>
                  <a:latin typeface="Courier New"/>
                  <a:ea typeface="Courier New"/>
                  <a:cs typeface="Courier New"/>
                  <a:sym typeface="Courier New"/>
                </a:endParaRPr>
              </a:p>
              <a:p>
                <a:pPr indent="0" lvl="0" marL="0" rtl="0" algn="l">
                  <a:spcBef>
                    <a:spcPts val="300"/>
                  </a:spcBef>
                  <a:spcAft>
                    <a:spcPts val="0"/>
                  </a:spcAft>
                  <a:buNone/>
                </a:pPr>
                <a:r>
                  <a:rPr lang="en" sz="900">
                    <a:solidFill>
                      <a:srgbClr val="37474F"/>
                    </a:solidFill>
                    <a:highlight>
                      <a:srgbClr val="ECEFF1"/>
                    </a:highlight>
                    <a:latin typeface="Courier New"/>
                    <a:ea typeface="Courier New"/>
                    <a:cs typeface="Courier New"/>
                    <a:sym typeface="Courier New"/>
                  </a:rPr>
                  <a:t>drop_reason=6 dns_rcode=0 rtt_ns=1500000</a:t>
                </a:r>
                <a:endParaRPr sz="900">
                  <a:solidFill>
                    <a:srgbClr val="37474F"/>
                  </a:solidFill>
                  <a:highlight>
                    <a:srgbClr val="ECEFF1"/>
                  </a:highlight>
                  <a:latin typeface="Courier New"/>
                  <a:ea typeface="Courier New"/>
                  <a:cs typeface="Courier New"/>
                  <a:sym typeface="Courier New"/>
                </a:endParaRPr>
              </a:p>
            </p:txBody>
          </p:sp>
        </p:grpSp>
        <p:grpSp>
          <p:nvGrpSpPr>
            <p:cNvPr id="517" name="Google Shape;517;p64"/>
            <p:cNvGrpSpPr/>
            <p:nvPr/>
          </p:nvGrpSpPr>
          <p:grpSpPr>
            <a:xfrm>
              <a:off x="4381500" y="1047750"/>
              <a:ext cx="4191000" cy="2190900"/>
              <a:chOff x="4381500" y="1047750"/>
              <a:chExt cx="4191000" cy="2190900"/>
            </a:xfrm>
          </p:grpSpPr>
          <p:sp>
            <p:nvSpPr>
              <p:cNvPr id="518" name="Google Shape;518;p64"/>
              <p:cNvSpPr/>
              <p:nvPr/>
            </p:nvSpPr>
            <p:spPr>
              <a:xfrm>
                <a:off x="4381500" y="1047750"/>
                <a:ext cx="4191000" cy="2190900"/>
              </a:xfrm>
              <a:prstGeom prst="roundRect">
                <a:avLst>
                  <a:gd fmla="val 5217" name="adj"/>
                </a:avLst>
              </a:prstGeom>
              <a:solidFill>
                <a:srgbClr val="F0FDF4"/>
              </a:solidFill>
              <a:ln cap="flat" cmpd="sng" w="9525">
                <a:solidFill>
                  <a:srgbClr val="DCFC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9" name="Google Shape;519;p64"/>
              <p:cNvSpPr txBox="1"/>
              <p:nvPr/>
            </p:nvSpPr>
            <p:spPr>
              <a:xfrm>
                <a:off x="4381500" y="1047750"/>
                <a:ext cx="4191000" cy="2190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203">
                    <a:solidFill>
                      <a:srgbClr val="166534"/>
                    </a:solidFill>
                    <a:latin typeface="Montserrat"/>
                    <a:ea typeface="Montserrat"/>
                    <a:cs typeface="Montserrat"/>
                    <a:sym typeface="Montserrat"/>
                  </a:rPr>
                  <a:t>What FLP enriches it to (actionable):</a:t>
                </a:r>
                <a:endParaRPr b="1" sz="1203">
                  <a:solidFill>
                    <a:srgbClr val="166534"/>
                  </a:solidFill>
                  <a:latin typeface="Montserrat"/>
                  <a:ea typeface="Montserrat"/>
                  <a:cs typeface="Montserrat"/>
                  <a:sym typeface="Montserrat"/>
                </a:endParaRPr>
              </a:p>
              <a:p>
                <a:pPr indent="0" lvl="0" marL="0" rtl="0" algn="l">
                  <a:spcBef>
                    <a:spcPts val="900"/>
                  </a:spcBef>
                  <a:spcAft>
                    <a:spcPts val="0"/>
                  </a:spcAft>
                  <a:buNone/>
                </a:pPr>
                <a:r>
                  <a:rPr b="1" lang="en" sz="879">
                    <a:solidFill>
                      <a:srgbClr val="1B5E20"/>
                    </a:solidFill>
                    <a:latin typeface="Courier New"/>
                    <a:ea typeface="Courier New"/>
                    <a:cs typeface="Courier New"/>
                    <a:sym typeface="Courier New"/>
                  </a:rPr>
                  <a:t>Source:</a:t>
                </a:r>
                <a:r>
                  <a:rPr lang="en" sz="1295">
                    <a:latin typeface="Montserrat"/>
                    <a:ea typeface="Montserrat"/>
                    <a:cs typeface="Montserrat"/>
                    <a:sym typeface="Montserrat"/>
                  </a:rPr>
                  <a:t> </a:t>
                </a:r>
                <a:r>
                  <a:rPr lang="en" sz="879">
                    <a:solidFill>
                      <a:srgbClr val="37474F"/>
                    </a:solidFill>
                    <a:latin typeface="Courier New"/>
                    <a:ea typeface="Courier New"/>
                    <a:cs typeface="Courier New"/>
                    <a:sym typeface="Courier New"/>
                  </a:rPr>
                  <a:t>frontend (namespace: demo-app, node: worker-1)</a:t>
                </a:r>
                <a:endParaRPr sz="1295">
                  <a:latin typeface="Montserrat"/>
                  <a:ea typeface="Montserrat"/>
                  <a:cs typeface="Montserrat"/>
                  <a:sym typeface="Montserrat"/>
                </a:endParaRPr>
              </a:p>
              <a:p>
                <a:pPr indent="0" lvl="0" marL="0" rtl="0" algn="l">
                  <a:spcBef>
                    <a:spcPts val="450"/>
                  </a:spcBef>
                  <a:spcAft>
                    <a:spcPts val="0"/>
                  </a:spcAft>
                  <a:buNone/>
                </a:pPr>
                <a:r>
                  <a:rPr b="1" lang="en" sz="879">
                    <a:solidFill>
                      <a:srgbClr val="1B5E20"/>
                    </a:solidFill>
                    <a:latin typeface="Courier New"/>
                    <a:ea typeface="Courier New"/>
                    <a:cs typeface="Courier New"/>
                    <a:sym typeface="Courier New"/>
                  </a:rPr>
                  <a:t>Dest:</a:t>
                </a:r>
                <a:r>
                  <a:rPr lang="en" sz="1295">
                    <a:latin typeface="Montserrat"/>
                    <a:ea typeface="Montserrat"/>
                    <a:cs typeface="Montserrat"/>
                    <a:sym typeface="Montserrat"/>
                  </a:rPr>
                  <a:t> </a:t>
                </a:r>
                <a:r>
                  <a:rPr lang="en" sz="879">
                    <a:solidFill>
                      <a:srgbClr val="37474F"/>
                    </a:solidFill>
                    <a:latin typeface="Courier New"/>
                    <a:ea typeface="Courier New"/>
                    <a:cs typeface="Courier New"/>
                    <a:sym typeface="Courier New"/>
                  </a:rPr>
                  <a:t>backend-api (namespace: demo-app, node: worker-2)</a:t>
                </a:r>
                <a:endParaRPr sz="1295">
                  <a:latin typeface="Montserrat"/>
                  <a:ea typeface="Montserrat"/>
                  <a:cs typeface="Montserrat"/>
                  <a:sym typeface="Montserrat"/>
                </a:endParaRPr>
              </a:p>
              <a:p>
                <a:pPr indent="0" lvl="0" marL="0" rtl="0" algn="l">
                  <a:spcBef>
                    <a:spcPts val="450"/>
                  </a:spcBef>
                  <a:spcAft>
                    <a:spcPts val="0"/>
                  </a:spcAft>
                  <a:buNone/>
                </a:pPr>
                <a:r>
                  <a:rPr b="1" lang="en" sz="879">
                    <a:solidFill>
                      <a:srgbClr val="1B5E20"/>
                    </a:solidFill>
                    <a:latin typeface="Courier New"/>
                    <a:ea typeface="Courier New"/>
                    <a:cs typeface="Courier New"/>
                    <a:sym typeface="Courier New"/>
                  </a:rPr>
                  <a:t>Port:</a:t>
                </a:r>
                <a:r>
                  <a:rPr lang="en" sz="1295">
                    <a:latin typeface="Montserrat"/>
                    <a:ea typeface="Montserrat"/>
                    <a:cs typeface="Montserrat"/>
                    <a:sym typeface="Montserrat"/>
                  </a:rPr>
                  <a:t> </a:t>
                </a:r>
                <a:r>
                  <a:rPr lang="en" sz="879">
                    <a:solidFill>
                      <a:srgbClr val="37474F"/>
                    </a:solidFill>
                    <a:latin typeface="Courier New"/>
                    <a:ea typeface="Courier New"/>
                    <a:cs typeface="Courier New"/>
                    <a:sym typeface="Courier New"/>
                  </a:rPr>
                  <a:t>5000 (http-alt)</a:t>
                </a:r>
                <a:endParaRPr sz="1295">
                  <a:latin typeface="Montserrat"/>
                  <a:ea typeface="Montserrat"/>
                  <a:cs typeface="Montserrat"/>
                  <a:sym typeface="Montserrat"/>
                </a:endParaRPr>
              </a:p>
              <a:p>
                <a:pPr indent="0" lvl="0" marL="0" rtl="0" algn="l">
                  <a:spcBef>
                    <a:spcPts val="450"/>
                  </a:spcBef>
                  <a:spcAft>
                    <a:spcPts val="0"/>
                  </a:spcAft>
                  <a:buNone/>
                </a:pPr>
                <a:r>
                  <a:rPr b="1" lang="en" sz="879">
                    <a:solidFill>
                      <a:srgbClr val="1B5E20"/>
                    </a:solidFill>
                    <a:latin typeface="Courier New"/>
                    <a:ea typeface="Courier New"/>
                    <a:cs typeface="Courier New"/>
                    <a:sym typeface="Courier New"/>
                  </a:rPr>
                  <a:t>Drop:</a:t>
                </a:r>
                <a:r>
                  <a:rPr lang="en" sz="1295">
                    <a:latin typeface="Montserrat"/>
                    <a:ea typeface="Montserrat"/>
                    <a:cs typeface="Montserrat"/>
                    <a:sym typeface="Montserrat"/>
                  </a:rPr>
                  <a:t> </a:t>
                </a:r>
                <a:r>
                  <a:rPr lang="en" sz="879">
                    <a:solidFill>
                      <a:srgbClr val="37474F"/>
                    </a:solidFill>
                    <a:latin typeface="Courier New"/>
                    <a:ea typeface="Courier New"/>
                    <a:cs typeface="Courier New"/>
                    <a:sym typeface="Courier New"/>
                  </a:rPr>
                  <a:t>NetworkPolicy (blocked by OVN ACL)</a:t>
                </a:r>
                <a:endParaRPr sz="1295">
                  <a:latin typeface="Montserrat"/>
                  <a:ea typeface="Montserrat"/>
                  <a:cs typeface="Montserrat"/>
                  <a:sym typeface="Montserrat"/>
                </a:endParaRPr>
              </a:p>
              <a:p>
                <a:pPr indent="0" lvl="0" marL="0" rtl="0" algn="l">
                  <a:spcBef>
                    <a:spcPts val="450"/>
                  </a:spcBef>
                  <a:spcAft>
                    <a:spcPts val="0"/>
                  </a:spcAft>
                  <a:buNone/>
                </a:pPr>
                <a:r>
                  <a:rPr b="1" lang="en" sz="879">
                    <a:solidFill>
                      <a:srgbClr val="1B5E20"/>
                    </a:solidFill>
                    <a:latin typeface="Courier New"/>
                    <a:ea typeface="Courier New"/>
                    <a:cs typeface="Courier New"/>
                    <a:sym typeface="Courier New"/>
                  </a:rPr>
                  <a:t>DNS:</a:t>
                </a:r>
                <a:r>
                  <a:rPr lang="en" sz="1295">
                    <a:latin typeface="Montserrat"/>
                    <a:ea typeface="Montserrat"/>
                    <a:cs typeface="Montserrat"/>
                    <a:sym typeface="Montserrat"/>
                  </a:rPr>
                  <a:t> </a:t>
                </a:r>
                <a:r>
                  <a:rPr lang="en" sz="879">
                    <a:solidFill>
                      <a:srgbClr val="37474F"/>
                    </a:solidFill>
                    <a:latin typeface="Courier New"/>
                    <a:ea typeface="Courier New"/>
                    <a:cs typeface="Courier New"/>
                    <a:sym typeface="Courier New"/>
                  </a:rPr>
                  <a:t>NoError, 2ms latency</a:t>
                </a:r>
                <a:endParaRPr sz="1295">
                  <a:latin typeface="Montserrat"/>
                  <a:ea typeface="Montserrat"/>
                  <a:cs typeface="Montserrat"/>
                  <a:sym typeface="Montserrat"/>
                </a:endParaRPr>
              </a:p>
              <a:p>
                <a:pPr indent="0" lvl="0" marL="0" rtl="0" algn="l">
                  <a:spcBef>
                    <a:spcPts val="450"/>
                  </a:spcBef>
                  <a:spcAft>
                    <a:spcPts val="0"/>
                  </a:spcAft>
                  <a:buNone/>
                </a:pPr>
                <a:r>
                  <a:rPr b="1" lang="en" sz="879">
                    <a:solidFill>
                      <a:srgbClr val="1B5E20"/>
                    </a:solidFill>
                    <a:latin typeface="Courier New"/>
                    <a:ea typeface="Courier New"/>
                    <a:cs typeface="Courier New"/>
                    <a:sym typeface="Courier New"/>
                  </a:rPr>
                  <a:t>RTT:</a:t>
                </a:r>
                <a:r>
                  <a:rPr lang="en" sz="1295">
                    <a:latin typeface="Montserrat"/>
                    <a:ea typeface="Montserrat"/>
                    <a:cs typeface="Montserrat"/>
                    <a:sym typeface="Montserrat"/>
                  </a:rPr>
                  <a:t> </a:t>
                </a:r>
                <a:r>
                  <a:rPr lang="en" sz="879">
                    <a:solidFill>
                      <a:srgbClr val="37474F"/>
                    </a:solidFill>
                    <a:latin typeface="Courier New"/>
                    <a:ea typeface="Courier New"/>
                    <a:cs typeface="Courier New"/>
                    <a:sym typeface="Courier New"/>
                  </a:rPr>
                  <a:t>1.5ms</a:t>
                </a:r>
                <a:endParaRPr sz="1295">
                  <a:latin typeface="Montserrat"/>
                  <a:ea typeface="Montserrat"/>
                  <a:cs typeface="Montserrat"/>
                  <a:sym typeface="Montserrat"/>
                </a:endParaRPr>
              </a:p>
            </p:txBody>
          </p:sp>
        </p:grpSp>
        <p:grpSp>
          <p:nvGrpSpPr>
            <p:cNvPr id="520" name="Google Shape;520;p64"/>
            <p:cNvGrpSpPr/>
            <p:nvPr/>
          </p:nvGrpSpPr>
          <p:grpSpPr>
            <a:xfrm>
              <a:off x="566738" y="3424238"/>
              <a:ext cx="8010600" cy="771600"/>
              <a:chOff x="566738" y="3424238"/>
              <a:chExt cx="8010600" cy="771600"/>
            </a:xfrm>
          </p:grpSpPr>
          <p:pic>
            <p:nvPicPr>
              <p:cNvPr id="521" name="Google Shape;521;p64"/>
              <p:cNvPicPr preferRelativeResize="0"/>
              <p:nvPr/>
            </p:nvPicPr>
            <p:blipFill rotWithShape="1">
              <a:blip r:embed="rId4">
                <a:alphaModFix/>
              </a:blip>
              <a:srcRect b="0" l="0" r="0" t="0"/>
              <a:stretch/>
            </p:blipFill>
            <p:spPr>
              <a:xfrm>
                <a:off x="566738" y="3424238"/>
                <a:ext cx="8010600" cy="771600"/>
              </a:xfrm>
              <a:prstGeom prst="rect">
                <a:avLst/>
              </a:prstGeom>
              <a:noFill/>
              <a:ln>
                <a:noFill/>
              </a:ln>
            </p:spPr>
          </p:pic>
          <p:sp>
            <p:nvSpPr>
              <p:cNvPr id="522" name="Google Shape;522;p64"/>
              <p:cNvSpPr txBox="1"/>
              <p:nvPr/>
            </p:nvSpPr>
            <p:spPr>
              <a:xfrm>
                <a:off x="571500" y="3429000"/>
                <a:ext cx="8001000" cy="762000"/>
              </a:xfrm>
              <a:prstGeom prst="rect">
                <a:avLst/>
              </a:prstGeom>
              <a:no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 sz="1300">
                    <a:solidFill>
                      <a:srgbClr val="2D2D2D"/>
                    </a:solidFill>
                    <a:latin typeface="Montserrat"/>
                    <a:ea typeface="Montserrat"/>
                    <a:cs typeface="Montserrat"/>
                    <a:sym typeface="Montserrat"/>
                  </a:rPr>
                  <a:t>The enrichment is what makes NOO practical.</a:t>
                </a:r>
                <a:endParaRPr b="1" sz="1300">
                  <a:solidFill>
                    <a:srgbClr val="2D2D2D"/>
                  </a:solidFill>
                  <a:latin typeface="Montserrat"/>
                  <a:ea typeface="Montserrat"/>
                  <a:cs typeface="Montserrat"/>
                  <a:sym typeface="Montserrat"/>
                </a:endParaRPr>
              </a:p>
              <a:p>
                <a:pPr indent="0" lvl="0" marL="0" rtl="0" algn="l">
                  <a:spcBef>
                    <a:spcPts val="450"/>
                  </a:spcBef>
                  <a:spcAft>
                    <a:spcPts val="0"/>
                  </a:spcAft>
                  <a:buNone/>
                </a:pPr>
                <a:r>
                  <a:rPr b="1" lang="en" sz="1050">
                    <a:solidFill>
                      <a:srgbClr val="C62828"/>
                    </a:solidFill>
                    <a:latin typeface="Montserrat"/>
                    <a:ea typeface="Montserrat"/>
                    <a:cs typeface="Montserrat"/>
                    <a:sym typeface="Montserrat"/>
                  </a:rPr>
                  <a:t>Without it:</a:t>
                </a:r>
                <a:r>
                  <a:rPr lang="en" sz="1050">
                    <a:solidFill>
                      <a:srgbClr val="455A64"/>
                    </a:solidFill>
                    <a:latin typeface="Montserrat"/>
                    <a:ea typeface="Montserrat"/>
                    <a:cs typeface="Montserrat"/>
                    <a:sym typeface="Montserrat"/>
                  </a:rPr>
                  <a:t> you see IP addresses and numbers. </a:t>
                </a:r>
                <a:r>
                  <a:rPr b="1" lang="en" sz="1050">
                    <a:solidFill>
                      <a:srgbClr val="2E7D32"/>
                    </a:solidFill>
                    <a:latin typeface="Montserrat"/>
                    <a:ea typeface="Montserrat"/>
                    <a:cs typeface="Montserrat"/>
                    <a:sym typeface="Montserrat"/>
                  </a:rPr>
                  <a:t>With it:</a:t>
                </a:r>
                <a:r>
                  <a:rPr lang="en" sz="1050">
                    <a:solidFill>
                      <a:srgbClr val="455A64"/>
                    </a:solidFill>
                    <a:latin typeface="Montserrat"/>
                    <a:ea typeface="Montserrat"/>
                    <a:cs typeface="Montserrat"/>
                    <a:sym typeface="Montserrat"/>
                  </a:rPr>
                  <a:t> pod names, plain English drop reasons, and DNS query names.</a:t>
                </a:r>
                <a:endParaRPr sz="1050">
                  <a:solidFill>
                    <a:srgbClr val="455A64"/>
                  </a:solidFill>
                  <a:latin typeface="Montserrat"/>
                  <a:ea typeface="Montserrat"/>
                  <a:cs typeface="Montserrat"/>
                  <a:sym typeface="Montserrat"/>
                </a:endParaRPr>
              </a:p>
            </p:txBody>
          </p:sp>
        </p:grpSp>
        <p:pic>
          <p:nvPicPr>
            <p:cNvPr id="523" name="Google Shape;523;p64"/>
            <p:cNvPicPr preferRelativeResize="0"/>
            <p:nvPr/>
          </p:nvPicPr>
          <p:blipFill rotWithShape="1">
            <a:blip r:embed="rId5">
              <a:alphaModFix/>
            </a:blip>
            <a:srcRect b="0" l="0" r="0" t="0"/>
            <a:stretch/>
          </p:blipFill>
          <p:spPr>
            <a:xfrm>
              <a:off x="4086225" y="1657350"/>
              <a:ext cx="304800" cy="209700"/>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5"/>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529" name="Google Shape;529;p65"/>
          <p:cNvPicPr preferRelativeResize="0"/>
          <p:nvPr/>
        </p:nvPicPr>
        <p:blipFill rotWithShape="1">
          <a:blip r:embed="rId3">
            <a:alphaModFix/>
          </a:blip>
          <a:srcRect b="0" l="0" r="0" t="0"/>
          <a:stretch/>
        </p:blipFill>
        <p:spPr>
          <a:xfrm>
            <a:off x="7991468" y="4501355"/>
            <a:ext cx="553002" cy="572625"/>
          </a:xfrm>
          <a:prstGeom prst="rect">
            <a:avLst/>
          </a:prstGeom>
          <a:noFill/>
          <a:ln>
            <a:noFill/>
          </a:ln>
        </p:spPr>
      </p:pic>
      <p:sp>
        <p:nvSpPr>
          <p:cNvPr id="530" name="Google Shape;530;p65"/>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65"/>
          <p:cNvSpPr txBox="1"/>
          <p:nvPr/>
        </p:nvSpPr>
        <p:spPr>
          <a:xfrm>
            <a:off x="400000" y="320000"/>
            <a:ext cx="780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 sz="1800">
                <a:solidFill>
                  <a:srgbClr val="2D2D2D"/>
                </a:solidFill>
                <a:latin typeface="Montserrat SemiBold"/>
                <a:ea typeface="Montserrat SemiBold"/>
                <a:cs typeface="Montserrat SemiBold"/>
                <a:sym typeface="Montserrat SemiBold"/>
              </a:rPr>
              <a:t>Network Traffic</a:t>
            </a:r>
            <a:r>
              <a:rPr b="1" i="0" lang="en" sz="1800" u="none" cap="none" strike="noStrike">
                <a:solidFill>
                  <a:srgbClr val="2D2D2D"/>
                </a:solidFill>
                <a:latin typeface="Montserrat SemiBold"/>
                <a:ea typeface="Montserrat SemiBold"/>
                <a:cs typeface="Montserrat SemiBold"/>
                <a:sym typeface="Montserrat SemiBold"/>
              </a:rPr>
              <a:t> View</a:t>
            </a:r>
            <a:endParaRPr/>
          </a:p>
        </p:txBody>
      </p:sp>
      <p:grpSp>
        <p:nvGrpSpPr>
          <p:cNvPr id="532" name="Google Shape;532;p65"/>
          <p:cNvGrpSpPr/>
          <p:nvPr/>
        </p:nvGrpSpPr>
        <p:grpSpPr>
          <a:xfrm>
            <a:off x="600075" y="1047750"/>
            <a:ext cx="3905400" cy="1428900"/>
            <a:chOff x="600075" y="1047750"/>
            <a:chExt cx="3905400" cy="1428900"/>
          </a:xfrm>
        </p:grpSpPr>
        <p:sp>
          <p:nvSpPr>
            <p:cNvPr id="533" name="Google Shape;533;p65"/>
            <p:cNvSpPr/>
            <p:nvPr/>
          </p:nvSpPr>
          <p:spPr>
            <a:xfrm>
              <a:off x="600075" y="1047750"/>
              <a:ext cx="3905400" cy="1428900"/>
            </a:xfrm>
            <a:prstGeom prst="roundRect">
              <a:avLst>
                <a:gd fmla="val 800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4" name="Google Shape;534;p65"/>
            <p:cNvSpPr txBox="1"/>
            <p:nvPr/>
          </p:nvSpPr>
          <p:spPr>
            <a:xfrm>
              <a:off x="600075" y="1047750"/>
              <a:ext cx="3905400" cy="1428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400">
                  <a:solidFill>
                    <a:srgbClr val="7B68EE"/>
                  </a:solidFill>
                  <a:latin typeface="Montserrat"/>
                  <a:ea typeface="Montserrat"/>
                  <a:cs typeface="Montserrat"/>
                  <a:sym typeface="Montserrat"/>
                </a:rPr>
                <a:t>1. Traffic Flow Table</a:t>
              </a:r>
              <a:endParaRPr b="1" sz="1400">
                <a:solidFill>
                  <a:srgbClr val="7B68EE"/>
                </a:solidFill>
                <a:latin typeface="Montserrat"/>
                <a:ea typeface="Montserrat"/>
                <a:cs typeface="Montserrat"/>
                <a:sym typeface="Montserrat"/>
              </a:endParaRPr>
            </a:p>
            <a:p>
              <a:pPr indent="-292100" lvl="0" marL="457200" rtl="0" algn="l">
                <a:spcBef>
                  <a:spcPts val="600"/>
                </a:spcBef>
                <a:spcAft>
                  <a:spcPts val="0"/>
                </a:spcAft>
                <a:buClr>
                  <a:srgbClr val="2D2D2D"/>
                </a:buClr>
                <a:buSzPts val="1000"/>
                <a:buFont typeface="Montserrat"/>
                <a:buChar char="●"/>
              </a:pPr>
              <a:r>
                <a:rPr b="0" lang="en" sz="1000">
                  <a:solidFill>
                    <a:srgbClr val="2D2D2D"/>
                  </a:solidFill>
                  <a:latin typeface="Montserrat"/>
                  <a:ea typeface="Montserrat"/>
                  <a:cs typeface="Montserrat"/>
                  <a:sym typeface="Montserrat"/>
                </a:rPr>
                <a:t>Filter by namespace, pod, node, protocol</a:t>
              </a:r>
              <a:endParaRPr b="0" sz="1000">
                <a:solidFill>
                  <a:srgbClr val="2D2D2D"/>
                </a:solidFill>
                <a:latin typeface="Montserrat"/>
                <a:ea typeface="Montserrat"/>
                <a:cs typeface="Montserrat"/>
                <a:sym typeface="Montserrat"/>
              </a:endParaRPr>
            </a:p>
            <a:p>
              <a:pPr indent="-292100" lvl="0" marL="457200" rtl="0" algn="l">
                <a:spcBef>
                  <a:spcPts val="300"/>
                </a:spcBef>
                <a:spcAft>
                  <a:spcPts val="0"/>
                </a:spcAft>
                <a:buClr>
                  <a:srgbClr val="2D2D2D"/>
                </a:buClr>
                <a:buSzPts val="1000"/>
                <a:buFont typeface="Montserrat"/>
                <a:buChar char="●"/>
              </a:pPr>
              <a:r>
                <a:rPr b="0" lang="en" sz="1000">
                  <a:solidFill>
                    <a:srgbClr val="2D2D2D"/>
                  </a:solidFill>
                  <a:latin typeface="Montserrat"/>
                  <a:ea typeface="Montserrat"/>
                  <a:cs typeface="Montserrat"/>
                  <a:sym typeface="Montserrat"/>
                </a:rPr>
                <a:t>Sort by bytes, packets, drops — find the noisy neighbor</a:t>
              </a:r>
              <a:endParaRPr b="0" sz="1000">
                <a:solidFill>
                  <a:srgbClr val="2D2D2D"/>
                </a:solidFill>
                <a:latin typeface="Montserrat"/>
                <a:ea typeface="Montserrat"/>
                <a:cs typeface="Montserrat"/>
                <a:sym typeface="Montserrat"/>
              </a:endParaRPr>
            </a:p>
          </p:txBody>
        </p:sp>
      </p:grpSp>
      <p:grpSp>
        <p:nvGrpSpPr>
          <p:cNvPr id="535" name="Google Shape;535;p65"/>
          <p:cNvGrpSpPr/>
          <p:nvPr/>
        </p:nvGrpSpPr>
        <p:grpSpPr>
          <a:xfrm>
            <a:off x="4638675" y="1047750"/>
            <a:ext cx="3905400" cy="1428900"/>
            <a:chOff x="4638675" y="1047750"/>
            <a:chExt cx="3905400" cy="1428900"/>
          </a:xfrm>
        </p:grpSpPr>
        <p:sp>
          <p:nvSpPr>
            <p:cNvPr id="536" name="Google Shape;536;p65"/>
            <p:cNvSpPr/>
            <p:nvPr/>
          </p:nvSpPr>
          <p:spPr>
            <a:xfrm>
              <a:off x="4638675" y="1047750"/>
              <a:ext cx="3905400" cy="1428900"/>
            </a:xfrm>
            <a:prstGeom prst="roundRect">
              <a:avLst>
                <a:gd fmla="val 800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7" name="Google Shape;537;p65"/>
            <p:cNvSpPr txBox="1"/>
            <p:nvPr/>
          </p:nvSpPr>
          <p:spPr>
            <a:xfrm>
              <a:off x="4638675" y="1047750"/>
              <a:ext cx="3905400" cy="1428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400">
                  <a:solidFill>
                    <a:srgbClr val="7B68EE"/>
                  </a:solidFill>
                  <a:latin typeface="Montserrat"/>
                  <a:ea typeface="Montserrat"/>
                  <a:cs typeface="Montserrat"/>
                  <a:sym typeface="Montserrat"/>
                </a:rPr>
                <a:t>2. Drops View</a:t>
              </a:r>
              <a:endParaRPr b="1" sz="1400">
                <a:solidFill>
                  <a:srgbClr val="7B68EE"/>
                </a:solidFill>
                <a:latin typeface="Montserrat"/>
                <a:ea typeface="Montserrat"/>
                <a:cs typeface="Montserrat"/>
                <a:sym typeface="Montserrat"/>
              </a:endParaRPr>
            </a:p>
            <a:p>
              <a:pPr indent="-292100" lvl="0" marL="457200" rtl="0" algn="l">
                <a:spcBef>
                  <a:spcPts val="600"/>
                </a:spcBef>
                <a:spcAft>
                  <a:spcPts val="0"/>
                </a:spcAft>
                <a:buClr>
                  <a:srgbClr val="2D2D2D"/>
                </a:buClr>
                <a:buSzPts val="1000"/>
                <a:buFont typeface="Montserrat"/>
                <a:buChar char="●"/>
              </a:pPr>
              <a:r>
                <a:rPr b="0" lang="en" sz="1000">
                  <a:solidFill>
                    <a:srgbClr val="2D2D2D"/>
                  </a:solidFill>
                  <a:latin typeface="Montserrat"/>
                  <a:ea typeface="Montserrat"/>
                  <a:cs typeface="Montserrat"/>
                  <a:sym typeface="Montserrat"/>
                </a:rPr>
                <a:t>See exactly WHERE and WHY packets are dropped</a:t>
              </a:r>
              <a:endParaRPr b="0" sz="1000">
                <a:solidFill>
                  <a:srgbClr val="2D2D2D"/>
                </a:solidFill>
                <a:latin typeface="Montserrat"/>
                <a:ea typeface="Montserrat"/>
                <a:cs typeface="Montserrat"/>
                <a:sym typeface="Montserrat"/>
              </a:endParaRPr>
            </a:p>
            <a:p>
              <a:pPr indent="-292100" lvl="0" marL="457200" rtl="0" algn="l">
                <a:spcBef>
                  <a:spcPts val="300"/>
                </a:spcBef>
                <a:spcAft>
                  <a:spcPts val="0"/>
                </a:spcAft>
                <a:buClr>
                  <a:srgbClr val="2D2D2D"/>
                </a:buClr>
                <a:buSzPts val="1000"/>
                <a:buFont typeface="Montserrat"/>
                <a:buChar char="●"/>
              </a:pPr>
              <a:r>
                <a:rPr b="0" lang="en" sz="1000">
                  <a:solidFill>
                    <a:srgbClr val="2D2D2D"/>
                  </a:solidFill>
                  <a:latin typeface="Montserrat"/>
                  <a:ea typeface="Montserrat"/>
                  <a:cs typeface="Montserrat"/>
                  <a:sym typeface="Montserrat"/>
                </a:rPr>
                <a:t>Drop reason: NetworkPolicy, CT_INVALID, NetworkPolicy, etc.</a:t>
              </a:r>
              <a:endParaRPr b="0" sz="1000">
                <a:solidFill>
                  <a:srgbClr val="2D2D2D"/>
                </a:solidFill>
                <a:latin typeface="Montserrat"/>
                <a:ea typeface="Montserrat"/>
                <a:cs typeface="Montserrat"/>
                <a:sym typeface="Montserrat"/>
              </a:endParaRPr>
            </a:p>
          </p:txBody>
        </p:sp>
      </p:grpSp>
      <p:grpSp>
        <p:nvGrpSpPr>
          <p:cNvPr id="538" name="Google Shape;538;p65"/>
          <p:cNvGrpSpPr/>
          <p:nvPr/>
        </p:nvGrpSpPr>
        <p:grpSpPr>
          <a:xfrm>
            <a:off x="600075" y="2619375"/>
            <a:ext cx="3905400" cy="1428900"/>
            <a:chOff x="600075" y="2619375"/>
            <a:chExt cx="3905400" cy="1428900"/>
          </a:xfrm>
        </p:grpSpPr>
        <p:sp>
          <p:nvSpPr>
            <p:cNvPr id="539" name="Google Shape;539;p65"/>
            <p:cNvSpPr/>
            <p:nvPr/>
          </p:nvSpPr>
          <p:spPr>
            <a:xfrm>
              <a:off x="600075" y="2619375"/>
              <a:ext cx="3905400" cy="1428900"/>
            </a:xfrm>
            <a:prstGeom prst="roundRect">
              <a:avLst>
                <a:gd fmla="val 800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0" name="Google Shape;540;p65"/>
            <p:cNvSpPr txBox="1"/>
            <p:nvPr/>
          </p:nvSpPr>
          <p:spPr>
            <a:xfrm>
              <a:off x="600075" y="2619375"/>
              <a:ext cx="3905400" cy="1428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400">
                  <a:solidFill>
                    <a:srgbClr val="7B68EE"/>
                  </a:solidFill>
                  <a:latin typeface="Montserrat"/>
                  <a:ea typeface="Montserrat"/>
                  <a:cs typeface="Montserrat"/>
                  <a:sym typeface="Montserrat"/>
                </a:rPr>
                <a:t>3. DNS Tracking View</a:t>
              </a:r>
              <a:endParaRPr b="1" sz="1400">
                <a:solidFill>
                  <a:srgbClr val="7B68EE"/>
                </a:solidFill>
                <a:latin typeface="Montserrat"/>
                <a:ea typeface="Montserrat"/>
                <a:cs typeface="Montserrat"/>
                <a:sym typeface="Montserrat"/>
              </a:endParaRPr>
            </a:p>
            <a:p>
              <a:pPr indent="-292100" lvl="0" marL="457200" rtl="0" algn="l">
                <a:spcBef>
                  <a:spcPts val="600"/>
                </a:spcBef>
                <a:spcAft>
                  <a:spcPts val="0"/>
                </a:spcAft>
                <a:buClr>
                  <a:srgbClr val="2D2D2D"/>
                </a:buClr>
                <a:buSzPts val="1000"/>
                <a:buFont typeface="Montserrat"/>
                <a:buChar char="●"/>
              </a:pPr>
              <a:r>
                <a:rPr b="0" lang="en" sz="1000">
                  <a:solidFill>
                    <a:srgbClr val="2D2D2D"/>
                  </a:solidFill>
                  <a:latin typeface="Montserrat"/>
                  <a:ea typeface="Montserrat"/>
                  <a:cs typeface="Montserrat"/>
                  <a:sym typeface="Montserrat"/>
                </a:rPr>
                <a:t>Every DNS query: name, response code, latency</a:t>
              </a:r>
              <a:endParaRPr b="0" sz="1000">
                <a:solidFill>
                  <a:srgbClr val="2D2D2D"/>
                </a:solidFill>
                <a:latin typeface="Montserrat"/>
                <a:ea typeface="Montserrat"/>
                <a:cs typeface="Montserrat"/>
                <a:sym typeface="Montserrat"/>
              </a:endParaRPr>
            </a:p>
            <a:p>
              <a:pPr indent="-292100" lvl="0" marL="457200" rtl="0" algn="l">
                <a:spcBef>
                  <a:spcPts val="300"/>
                </a:spcBef>
                <a:spcAft>
                  <a:spcPts val="0"/>
                </a:spcAft>
                <a:buClr>
                  <a:srgbClr val="2D2D2D"/>
                </a:buClr>
                <a:buSzPts val="1000"/>
                <a:buFont typeface="Montserrat"/>
                <a:buChar char="●"/>
              </a:pPr>
              <a:r>
                <a:rPr b="0" lang="en" sz="1000">
                  <a:solidFill>
                    <a:srgbClr val="2D2D2D"/>
                  </a:solidFill>
                  <a:latin typeface="Montserrat"/>
                  <a:ea typeface="Montserrat"/>
                  <a:cs typeface="Montserrat"/>
                  <a:sym typeface="Montserrat"/>
                </a:rPr>
                <a:t>Catch SERVFAIL, NXDOMAIN, timeouts instantly</a:t>
              </a:r>
              <a:endParaRPr b="0" sz="1000">
                <a:solidFill>
                  <a:srgbClr val="2D2D2D"/>
                </a:solidFill>
                <a:latin typeface="Montserrat"/>
                <a:ea typeface="Montserrat"/>
                <a:cs typeface="Montserrat"/>
                <a:sym typeface="Montserrat"/>
              </a:endParaRPr>
            </a:p>
          </p:txBody>
        </p:sp>
      </p:grpSp>
      <p:grpSp>
        <p:nvGrpSpPr>
          <p:cNvPr id="541" name="Google Shape;541;p65"/>
          <p:cNvGrpSpPr/>
          <p:nvPr/>
        </p:nvGrpSpPr>
        <p:grpSpPr>
          <a:xfrm>
            <a:off x="4638675" y="2619375"/>
            <a:ext cx="3905400" cy="1428900"/>
            <a:chOff x="4638675" y="2619375"/>
            <a:chExt cx="3905400" cy="1428900"/>
          </a:xfrm>
        </p:grpSpPr>
        <p:sp>
          <p:nvSpPr>
            <p:cNvPr id="542" name="Google Shape;542;p65"/>
            <p:cNvSpPr/>
            <p:nvPr/>
          </p:nvSpPr>
          <p:spPr>
            <a:xfrm>
              <a:off x="4638675" y="2619375"/>
              <a:ext cx="3905400" cy="1428900"/>
            </a:xfrm>
            <a:prstGeom prst="roundRect">
              <a:avLst>
                <a:gd fmla="val 800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3" name="Google Shape;543;p65"/>
            <p:cNvSpPr txBox="1"/>
            <p:nvPr/>
          </p:nvSpPr>
          <p:spPr>
            <a:xfrm>
              <a:off x="4638675" y="2619375"/>
              <a:ext cx="3905400" cy="1428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400">
                  <a:solidFill>
                    <a:srgbClr val="7B68EE"/>
                  </a:solidFill>
                  <a:latin typeface="Montserrat"/>
                  <a:ea typeface="Montserrat"/>
                  <a:cs typeface="Montserrat"/>
                  <a:sym typeface="Montserrat"/>
                </a:rPr>
                <a:t>4. Topology View</a:t>
              </a:r>
              <a:endParaRPr b="1" sz="1400">
                <a:solidFill>
                  <a:srgbClr val="7B68EE"/>
                </a:solidFill>
                <a:latin typeface="Montserrat"/>
                <a:ea typeface="Montserrat"/>
                <a:cs typeface="Montserrat"/>
                <a:sym typeface="Montserrat"/>
              </a:endParaRPr>
            </a:p>
            <a:p>
              <a:pPr indent="-292100" lvl="0" marL="457200" rtl="0" algn="l">
                <a:spcBef>
                  <a:spcPts val="600"/>
                </a:spcBef>
                <a:spcAft>
                  <a:spcPts val="0"/>
                </a:spcAft>
                <a:buClr>
                  <a:srgbClr val="2D2D2D"/>
                </a:buClr>
                <a:buSzPts val="1000"/>
                <a:buFont typeface="Montserrat"/>
                <a:buChar char="●"/>
              </a:pPr>
              <a:r>
                <a:rPr b="0" lang="en" sz="1000">
                  <a:solidFill>
                    <a:srgbClr val="2D2D2D"/>
                  </a:solidFill>
                  <a:latin typeface="Montserrat"/>
                  <a:ea typeface="Montserrat"/>
                  <a:cs typeface="Montserrat"/>
                  <a:sym typeface="Montserrat"/>
                </a:rPr>
                <a:t>Visual graph of pod-to-pod traffic</a:t>
              </a:r>
              <a:endParaRPr b="0" sz="1000">
                <a:solidFill>
                  <a:srgbClr val="2D2D2D"/>
                </a:solidFill>
                <a:latin typeface="Montserrat"/>
                <a:ea typeface="Montserrat"/>
                <a:cs typeface="Montserrat"/>
                <a:sym typeface="Montserrat"/>
              </a:endParaRPr>
            </a:p>
            <a:p>
              <a:pPr indent="-292100" lvl="0" marL="457200" rtl="0" algn="l">
                <a:spcBef>
                  <a:spcPts val="300"/>
                </a:spcBef>
                <a:spcAft>
                  <a:spcPts val="0"/>
                </a:spcAft>
                <a:buClr>
                  <a:srgbClr val="2D2D2D"/>
                </a:buClr>
                <a:buSzPts val="1000"/>
                <a:buFont typeface="Montserrat"/>
                <a:buChar char="●"/>
              </a:pPr>
              <a:r>
                <a:rPr b="0" lang="en" sz="1000">
                  <a:solidFill>
                    <a:srgbClr val="2D2D2D"/>
                  </a:solidFill>
                  <a:latin typeface="Montserrat"/>
                  <a:ea typeface="Montserrat"/>
                  <a:cs typeface="Montserrat"/>
                  <a:sym typeface="Montserrat"/>
                </a:rPr>
                <a:t>See communication patterns at a glance</a:t>
              </a:r>
              <a:endParaRPr b="0" sz="1000">
                <a:solidFill>
                  <a:srgbClr val="2D2D2D"/>
                </a:solidFill>
                <a:latin typeface="Montserrat"/>
                <a:ea typeface="Montserrat"/>
                <a:cs typeface="Montserrat"/>
                <a:sym typeface="Montserrat"/>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7" name="Shape 547"/>
        <p:cNvGrpSpPr/>
        <p:nvPr/>
      </p:nvGrpSpPr>
      <p:grpSpPr>
        <a:xfrm>
          <a:off x="0" y="0"/>
          <a:ext cx="0" cy="0"/>
          <a:chOff x="0" y="0"/>
          <a:chExt cx="0" cy="0"/>
        </a:xfrm>
      </p:grpSpPr>
      <p:sp>
        <p:nvSpPr>
          <p:cNvPr id="548" name="Google Shape;548;p66"/>
          <p:cNvSpPr/>
          <p:nvPr/>
        </p:nvSpPr>
        <p:spPr>
          <a:xfrm>
            <a:off x="0" y="0"/>
            <a:ext cx="9144000" cy="762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9" name="Google Shape;549;p66"/>
          <p:cNvSpPr/>
          <p:nvPr/>
        </p:nvSpPr>
        <p:spPr>
          <a:xfrm>
            <a:off x="285750" y="190500"/>
            <a:ext cx="47700" cy="3810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0" name="Google Shape;550;p66"/>
          <p:cNvSpPr txBox="1"/>
          <p:nvPr/>
        </p:nvSpPr>
        <p:spPr>
          <a:xfrm>
            <a:off x="428625" y="190500"/>
            <a:ext cx="7620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00">
                <a:solidFill>
                  <a:srgbClr val="2D2D2D"/>
                </a:solidFill>
                <a:latin typeface="Montserrat"/>
                <a:ea typeface="Montserrat"/>
                <a:cs typeface="Montserrat"/>
                <a:sym typeface="Montserrat"/>
              </a:rPr>
              <a:t>The FlowCollector CR: Your Only Configuration</a:t>
            </a:r>
            <a:endParaRPr b="1" sz="2200">
              <a:solidFill>
                <a:srgbClr val="2D2D2D"/>
              </a:solidFill>
              <a:latin typeface="Montserrat"/>
              <a:ea typeface="Montserrat"/>
              <a:cs typeface="Montserrat"/>
              <a:sym typeface="Montserrat"/>
            </a:endParaRPr>
          </a:p>
        </p:txBody>
      </p:sp>
      <p:grpSp>
        <p:nvGrpSpPr>
          <p:cNvPr id="551" name="Google Shape;551;p66"/>
          <p:cNvGrpSpPr/>
          <p:nvPr/>
        </p:nvGrpSpPr>
        <p:grpSpPr>
          <a:xfrm>
            <a:off x="285750" y="952500"/>
            <a:ext cx="4095900" cy="3238500"/>
            <a:chOff x="285750" y="952500"/>
            <a:chExt cx="4095900" cy="3238500"/>
          </a:xfrm>
        </p:grpSpPr>
        <p:sp>
          <p:nvSpPr>
            <p:cNvPr id="552" name="Google Shape;552;p66"/>
            <p:cNvSpPr/>
            <p:nvPr/>
          </p:nvSpPr>
          <p:spPr>
            <a:xfrm>
              <a:off x="285750" y="952500"/>
              <a:ext cx="4095900" cy="3238500"/>
            </a:xfrm>
            <a:prstGeom prst="roundRect">
              <a:avLst>
                <a:gd fmla="val 3529" name="adj"/>
              </a:avLst>
            </a:prstGeom>
            <a:solidFill>
              <a:srgbClr val="263238"/>
            </a:solidFill>
            <a:ln cap="flat" cmpd="sng" w="9525">
              <a:solidFill>
                <a:srgbClr val="ECEF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3" name="Google Shape;553;p66"/>
            <p:cNvSpPr txBox="1"/>
            <p:nvPr/>
          </p:nvSpPr>
          <p:spPr>
            <a:xfrm>
              <a:off x="476250" y="1143000"/>
              <a:ext cx="37149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7B68EE"/>
                  </a:solidFill>
                  <a:latin typeface="Montserrat"/>
                  <a:ea typeface="Montserrat"/>
                  <a:cs typeface="Montserrat"/>
                  <a:sym typeface="Montserrat"/>
                </a:rPr>
                <a:t>The ONLY YAML you write:</a:t>
              </a:r>
              <a:endParaRPr b="1" sz="1400">
                <a:solidFill>
                  <a:srgbClr val="7B68EE"/>
                </a:solidFill>
                <a:latin typeface="Montserrat"/>
                <a:ea typeface="Montserrat"/>
                <a:cs typeface="Montserrat"/>
                <a:sym typeface="Montserrat"/>
              </a:endParaRPr>
            </a:p>
            <a:p>
              <a:pPr indent="0" lvl="0" marL="0" rtl="0" algn="l">
                <a:spcBef>
                  <a:spcPts val="1500"/>
                </a:spcBef>
                <a:spcAft>
                  <a:spcPts val="0"/>
                </a:spcAft>
                <a:buNone/>
              </a:pPr>
              <a:r>
                <a:rPr b="1" lang="en" sz="1100">
                  <a:solidFill>
                    <a:srgbClr val="CFD8DC"/>
                  </a:solidFill>
                  <a:latin typeface="Courier New"/>
                  <a:ea typeface="Courier New"/>
                  <a:cs typeface="Courier New"/>
                  <a:sym typeface="Courier New"/>
                </a:rPr>
                <a:t>apiVersion: </a:t>
              </a:r>
              <a:r>
                <a:rPr b="1" lang="en" sz="1100">
                  <a:solidFill>
                    <a:srgbClr val="80CBC4"/>
                  </a:solidFill>
                  <a:latin typeface="Courier New"/>
                  <a:ea typeface="Courier New"/>
                  <a:cs typeface="Courier New"/>
                  <a:sym typeface="Courier New"/>
                </a:rPr>
                <a:t>flows.netobserv.io/v1beta2</a:t>
              </a:r>
              <a:endParaRPr b="1" sz="1100">
                <a:solidFill>
                  <a:srgbClr val="CFD8DC"/>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CFD8DC"/>
                  </a:solidFill>
                  <a:latin typeface="Courier New"/>
                  <a:ea typeface="Courier New"/>
                  <a:cs typeface="Courier New"/>
                  <a:sym typeface="Courier New"/>
                </a:rPr>
                <a:t>kind: </a:t>
              </a:r>
              <a:r>
                <a:rPr b="1" lang="en" sz="1100">
                  <a:solidFill>
                    <a:srgbClr val="80CBC4"/>
                  </a:solidFill>
                  <a:latin typeface="Courier New"/>
                  <a:ea typeface="Courier New"/>
                  <a:cs typeface="Courier New"/>
                  <a:sym typeface="Courier New"/>
                </a:rPr>
                <a:t>FlowCollector</a:t>
              </a:r>
              <a:endParaRPr b="1" sz="1100">
                <a:solidFill>
                  <a:srgbClr val="CFD8DC"/>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CFD8DC"/>
                  </a:solidFill>
                  <a:latin typeface="Courier New"/>
                  <a:ea typeface="Courier New"/>
                  <a:cs typeface="Courier New"/>
                  <a:sym typeface="Courier New"/>
                </a:rPr>
                <a:t>spec:</a:t>
              </a:r>
              <a:endParaRPr b="1" sz="1100">
                <a:solidFill>
                  <a:srgbClr val="CFD8DC"/>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CFD8DC"/>
                  </a:solidFill>
                  <a:latin typeface="Courier New"/>
                  <a:ea typeface="Courier New"/>
                  <a:cs typeface="Courier New"/>
                  <a:sym typeface="Courier New"/>
                </a:rPr>
                <a:t>agent:</a:t>
              </a:r>
              <a:endParaRPr b="1" sz="1100">
                <a:solidFill>
                  <a:srgbClr val="CFD8DC"/>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CFD8DC"/>
                  </a:solidFill>
                  <a:latin typeface="Courier New"/>
                  <a:ea typeface="Courier New"/>
                  <a:cs typeface="Courier New"/>
                  <a:sym typeface="Courier New"/>
                </a:rPr>
                <a:t>type: </a:t>
              </a:r>
              <a:r>
                <a:rPr b="1" lang="en" sz="1100">
                  <a:solidFill>
                    <a:srgbClr val="FFE082"/>
                  </a:solidFill>
                  <a:latin typeface="Courier New"/>
                  <a:ea typeface="Courier New"/>
                  <a:cs typeface="Courier New"/>
                  <a:sym typeface="Courier New"/>
                </a:rPr>
                <a:t>eBPF</a:t>
              </a:r>
              <a:endParaRPr b="1" sz="1100">
                <a:solidFill>
                  <a:srgbClr val="CFD8DC"/>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CFD8DC"/>
                  </a:solidFill>
                  <a:latin typeface="Courier New"/>
                  <a:ea typeface="Courier New"/>
                  <a:cs typeface="Courier New"/>
                  <a:sym typeface="Courier New"/>
                </a:rPr>
                <a:t>  ebpf:</a:t>
              </a:r>
              <a:endParaRPr b="1" sz="1100">
                <a:solidFill>
                  <a:srgbClr val="CFD8DC"/>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CFD8DC"/>
                  </a:solidFill>
                  <a:latin typeface="Courier New"/>
                  <a:ea typeface="Courier New"/>
                  <a:cs typeface="Courier New"/>
                  <a:sym typeface="Courier New"/>
                </a:rPr>
                <a:t>  sampling: </a:t>
              </a:r>
              <a:r>
                <a:rPr b="1" lang="en" sz="1100">
                  <a:solidFill>
                    <a:srgbClr val="F48FB1"/>
                  </a:solidFill>
                  <a:latin typeface="Courier New"/>
                  <a:ea typeface="Courier New"/>
                  <a:cs typeface="Courier New"/>
                  <a:sym typeface="Courier New"/>
                </a:rPr>
                <a:t>1</a:t>
              </a:r>
              <a:endParaRPr b="1" sz="1100">
                <a:solidFill>
                  <a:srgbClr val="CFD8DC"/>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CFD8DC"/>
                  </a:solidFill>
                  <a:latin typeface="Courier New"/>
                  <a:ea typeface="Courier New"/>
                  <a:cs typeface="Courier New"/>
                  <a:sym typeface="Courier New"/>
                </a:rPr>
                <a:t>  privileged: </a:t>
              </a:r>
              <a:r>
                <a:rPr b="1" lang="en" sz="1100">
                  <a:solidFill>
                    <a:srgbClr val="F48FB1"/>
                  </a:solidFill>
                  <a:latin typeface="Courier New"/>
                  <a:ea typeface="Courier New"/>
                  <a:cs typeface="Courier New"/>
                  <a:sym typeface="Courier New"/>
                </a:rPr>
                <a:t>true</a:t>
              </a:r>
              <a:endParaRPr b="1" sz="1100">
                <a:solidFill>
                  <a:srgbClr val="CFD8DC"/>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CFD8DC"/>
                  </a:solidFill>
                  <a:latin typeface="Courier New"/>
                  <a:ea typeface="Courier New"/>
                  <a:cs typeface="Courier New"/>
                  <a:sym typeface="Courier New"/>
                </a:rPr>
                <a:t>  features:</a:t>
              </a:r>
              <a:endParaRPr b="1" sz="1100">
                <a:solidFill>
                  <a:srgbClr val="CFD8DC"/>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81C784"/>
                  </a:solidFill>
                  <a:latin typeface="Courier New"/>
                  <a:ea typeface="Courier New"/>
                  <a:cs typeface="Courier New"/>
                  <a:sym typeface="Courier New"/>
                </a:rPr>
                <a:t>  - PacketDrop</a:t>
              </a:r>
              <a:endParaRPr b="1" sz="1100">
                <a:solidFill>
                  <a:srgbClr val="81C784"/>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81C784"/>
                  </a:solidFill>
                  <a:latin typeface="Courier New"/>
                  <a:ea typeface="Courier New"/>
                  <a:cs typeface="Courier New"/>
                  <a:sym typeface="Courier New"/>
                </a:rPr>
                <a:t>  - DNSTracking</a:t>
              </a:r>
              <a:endParaRPr b="1" sz="1100">
                <a:solidFill>
                  <a:srgbClr val="81C784"/>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81C784"/>
                  </a:solidFill>
                  <a:latin typeface="Courier New"/>
                  <a:ea typeface="Courier New"/>
                  <a:cs typeface="Courier New"/>
                  <a:sym typeface="Courier New"/>
                </a:rPr>
                <a:t>  - FlowRTT</a:t>
              </a:r>
              <a:endParaRPr b="1" sz="1100">
                <a:solidFill>
                  <a:srgbClr val="81C784"/>
                </a:solidFill>
                <a:latin typeface="Courier New"/>
                <a:ea typeface="Courier New"/>
                <a:cs typeface="Courier New"/>
                <a:sym typeface="Courier New"/>
              </a:endParaRPr>
            </a:p>
            <a:p>
              <a:pPr indent="0" lvl="0" marL="0" rtl="0" algn="l">
                <a:spcBef>
                  <a:spcPts val="0"/>
                </a:spcBef>
                <a:spcAft>
                  <a:spcPts val="0"/>
                </a:spcAft>
                <a:buNone/>
              </a:pPr>
              <a:r>
                <a:rPr b="1" lang="en" sz="1100">
                  <a:solidFill>
                    <a:srgbClr val="81C784"/>
                  </a:solidFill>
                  <a:latin typeface="Courier New"/>
                  <a:ea typeface="Courier New"/>
                  <a:cs typeface="Courier New"/>
                  <a:sym typeface="Courier New"/>
                </a:rPr>
                <a:t>  - NetworkEvents</a:t>
              </a:r>
              <a:endParaRPr b="1" sz="1100">
                <a:solidFill>
                  <a:srgbClr val="81C784"/>
                </a:solidFill>
                <a:latin typeface="Courier New"/>
                <a:ea typeface="Courier New"/>
                <a:cs typeface="Courier New"/>
                <a:sym typeface="Courier New"/>
              </a:endParaRPr>
            </a:p>
          </p:txBody>
        </p:sp>
      </p:grpSp>
      <p:grpSp>
        <p:nvGrpSpPr>
          <p:cNvPr id="554" name="Google Shape;554;p66"/>
          <p:cNvGrpSpPr/>
          <p:nvPr/>
        </p:nvGrpSpPr>
        <p:grpSpPr>
          <a:xfrm>
            <a:off x="4572000" y="952500"/>
            <a:ext cx="4286400" cy="3238500"/>
            <a:chOff x="4572000" y="952500"/>
            <a:chExt cx="4286400" cy="3238500"/>
          </a:xfrm>
        </p:grpSpPr>
        <p:sp>
          <p:nvSpPr>
            <p:cNvPr id="555" name="Google Shape;555;p66"/>
            <p:cNvSpPr/>
            <p:nvPr/>
          </p:nvSpPr>
          <p:spPr>
            <a:xfrm>
              <a:off x="4572000" y="952500"/>
              <a:ext cx="4286400" cy="3238500"/>
            </a:xfrm>
            <a:prstGeom prst="roundRect">
              <a:avLst>
                <a:gd fmla="val 3529" name="adj"/>
              </a:avLst>
            </a:prstGeom>
            <a:solidFill>
              <a:srgbClr val="FFFF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6" name="Google Shape;556;p66"/>
            <p:cNvSpPr txBox="1"/>
            <p:nvPr/>
          </p:nvSpPr>
          <p:spPr>
            <a:xfrm>
              <a:off x="4762500" y="1095375"/>
              <a:ext cx="3905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2D2D2D"/>
                  </a:solidFill>
                  <a:latin typeface="Montserrat"/>
                  <a:ea typeface="Montserrat"/>
                  <a:cs typeface="Montserrat"/>
                  <a:sym typeface="Montserrat"/>
                </a:rPr>
                <a:t>Key Capabilities Enabled</a:t>
              </a:r>
              <a:endParaRPr b="1" sz="1400">
                <a:solidFill>
                  <a:srgbClr val="2D2D2D"/>
                </a:solidFill>
                <a:latin typeface="Montserrat"/>
                <a:ea typeface="Montserrat"/>
                <a:cs typeface="Montserrat"/>
                <a:sym typeface="Montserrat"/>
              </a:endParaRPr>
            </a:p>
          </p:txBody>
        </p:sp>
        <p:grpSp>
          <p:nvGrpSpPr>
            <p:cNvPr id="557" name="Google Shape;557;p66"/>
            <p:cNvGrpSpPr/>
            <p:nvPr/>
          </p:nvGrpSpPr>
          <p:grpSpPr>
            <a:xfrm>
              <a:off x="4762500" y="1476375"/>
              <a:ext cx="3810150" cy="416052"/>
              <a:chOff x="0" y="0"/>
              <a:chExt cx="3810150" cy="416052"/>
            </a:xfrm>
          </p:grpSpPr>
          <p:sp>
            <p:nvSpPr>
              <p:cNvPr id="558" name="Google Shape;558;p66"/>
              <p:cNvSpPr txBox="1"/>
              <p:nvPr/>
            </p:nvSpPr>
            <p:spPr>
              <a:xfrm>
                <a:off x="0" y="3505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7B68EE"/>
                    </a:solidFill>
                    <a:latin typeface="Material Icons"/>
                    <a:ea typeface="Material Icons"/>
                    <a:cs typeface="Material Icons"/>
                    <a:sym typeface="Material Icons"/>
                  </a:rPr>
                  <a:t>settings_input_component</a:t>
                </a:r>
                <a:endParaRPr sz="2400">
                  <a:solidFill>
                    <a:srgbClr val="7B68EE"/>
                  </a:solidFill>
                  <a:latin typeface="Material Icons"/>
                  <a:ea typeface="Material Icons"/>
                  <a:cs typeface="Material Icons"/>
                  <a:sym typeface="Material Icons"/>
                </a:endParaRPr>
              </a:p>
            </p:txBody>
          </p:sp>
          <p:sp>
            <p:nvSpPr>
              <p:cNvPr id="559" name="Google Shape;559;p66"/>
              <p:cNvSpPr txBox="1"/>
              <p:nvPr/>
            </p:nvSpPr>
            <p:spPr>
              <a:xfrm>
                <a:off x="476250" y="0"/>
                <a:ext cx="3333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D2D2D"/>
                    </a:solidFill>
                    <a:latin typeface="Montserrat"/>
                    <a:ea typeface="Montserrat"/>
                    <a:cs typeface="Montserrat"/>
                    <a:sym typeface="Montserrat"/>
                  </a:rPr>
                  <a:t>PacketDrop</a:t>
                </a:r>
                <a:endParaRPr b="1" sz="1100">
                  <a:solidFill>
                    <a:srgbClr val="2D2D2D"/>
                  </a:solidFill>
                  <a:latin typeface="Montserrat"/>
                  <a:ea typeface="Montserrat"/>
                  <a:cs typeface="Montserrat"/>
                  <a:sym typeface="Montserrat"/>
                </a:endParaRPr>
              </a:p>
              <a:p>
                <a:pPr indent="0" lvl="0" marL="0" rtl="0" algn="l">
                  <a:spcBef>
                    <a:spcPts val="0"/>
                  </a:spcBef>
                  <a:spcAft>
                    <a:spcPts val="0"/>
                  </a:spcAft>
                  <a:buNone/>
                </a:pPr>
                <a:r>
                  <a:rPr lang="en" sz="1000">
                    <a:solidFill>
                      <a:srgbClr val="616161"/>
                    </a:solidFill>
                    <a:latin typeface="Montserrat"/>
                    <a:ea typeface="Montserrat"/>
                    <a:cs typeface="Montserrat"/>
                    <a:sym typeface="Montserrat"/>
                  </a:rPr>
                  <a:t>kfree_skb — identifies specific drop reasons</a:t>
                </a:r>
                <a:endParaRPr sz="1000">
                  <a:solidFill>
                    <a:srgbClr val="616161"/>
                  </a:solidFill>
                  <a:latin typeface="Montserrat"/>
                  <a:ea typeface="Montserrat"/>
                  <a:cs typeface="Montserrat"/>
                  <a:sym typeface="Montserrat"/>
                </a:endParaRPr>
              </a:p>
            </p:txBody>
          </p:sp>
        </p:grpSp>
        <p:grpSp>
          <p:nvGrpSpPr>
            <p:cNvPr id="560" name="Google Shape;560;p66"/>
            <p:cNvGrpSpPr/>
            <p:nvPr/>
          </p:nvGrpSpPr>
          <p:grpSpPr>
            <a:xfrm>
              <a:off x="4762500" y="1952625"/>
              <a:ext cx="3810150" cy="416052"/>
              <a:chOff x="0" y="0"/>
              <a:chExt cx="3810150" cy="416052"/>
            </a:xfrm>
          </p:grpSpPr>
          <p:sp>
            <p:nvSpPr>
              <p:cNvPr id="561" name="Google Shape;561;p66"/>
              <p:cNvSpPr txBox="1"/>
              <p:nvPr/>
            </p:nvSpPr>
            <p:spPr>
              <a:xfrm>
                <a:off x="0" y="3505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7B68EE"/>
                    </a:solidFill>
                    <a:latin typeface="Material Icons"/>
                    <a:ea typeface="Material Icons"/>
                    <a:cs typeface="Material Icons"/>
                    <a:sym typeface="Material Icons"/>
                  </a:rPr>
                  <a:t>dns</a:t>
                </a:r>
                <a:endParaRPr sz="2400">
                  <a:solidFill>
                    <a:srgbClr val="7B68EE"/>
                  </a:solidFill>
                  <a:latin typeface="Material Icons"/>
                  <a:ea typeface="Material Icons"/>
                  <a:cs typeface="Material Icons"/>
                  <a:sym typeface="Material Icons"/>
                </a:endParaRPr>
              </a:p>
            </p:txBody>
          </p:sp>
          <p:sp>
            <p:nvSpPr>
              <p:cNvPr id="562" name="Google Shape;562;p66"/>
              <p:cNvSpPr txBox="1"/>
              <p:nvPr/>
            </p:nvSpPr>
            <p:spPr>
              <a:xfrm>
                <a:off x="476250" y="0"/>
                <a:ext cx="3333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D2D2D"/>
                    </a:solidFill>
                    <a:latin typeface="Montserrat"/>
                    <a:ea typeface="Montserrat"/>
                    <a:cs typeface="Montserrat"/>
                    <a:sym typeface="Montserrat"/>
                  </a:rPr>
                  <a:t>DNSTracking</a:t>
                </a:r>
                <a:endParaRPr b="1" sz="1100">
                  <a:solidFill>
                    <a:srgbClr val="2D2D2D"/>
                  </a:solidFill>
                  <a:latin typeface="Montserrat"/>
                  <a:ea typeface="Montserrat"/>
                  <a:cs typeface="Montserrat"/>
                  <a:sym typeface="Montserrat"/>
                </a:endParaRPr>
              </a:p>
              <a:p>
                <a:pPr indent="0" lvl="0" marL="0" rtl="0" algn="l">
                  <a:spcBef>
                    <a:spcPts val="0"/>
                  </a:spcBef>
                  <a:spcAft>
                    <a:spcPts val="0"/>
                  </a:spcAft>
                  <a:buNone/>
                </a:pPr>
                <a:r>
                  <a:rPr lang="en" sz="1000">
                    <a:solidFill>
                      <a:srgbClr val="616161"/>
                    </a:solidFill>
                    <a:latin typeface="Montserrat"/>
                    <a:ea typeface="Montserrat"/>
                    <a:cs typeface="Montserrat"/>
                    <a:sym typeface="Montserrat"/>
                  </a:rPr>
                  <a:t>Port 53 — correlates queries with responses</a:t>
                </a:r>
                <a:endParaRPr sz="1000">
                  <a:solidFill>
                    <a:srgbClr val="616161"/>
                  </a:solidFill>
                  <a:latin typeface="Montserrat"/>
                  <a:ea typeface="Montserrat"/>
                  <a:cs typeface="Montserrat"/>
                  <a:sym typeface="Montserrat"/>
                </a:endParaRPr>
              </a:p>
            </p:txBody>
          </p:sp>
        </p:grpSp>
        <p:grpSp>
          <p:nvGrpSpPr>
            <p:cNvPr id="563" name="Google Shape;563;p66"/>
            <p:cNvGrpSpPr/>
            <p:nvPr/>
          </p:nvGrpSpPr>
          <p:grpSpPr>
            <a:xfrm>
              <a:off x="4762500" y="2428875"/>
              <a:ext cx="3810150" cy="416052"/>
              <a:chOff x="0" y="0"/>
              <a:chExt cx="3810150" cy="416052"/>
            </a:xfrm>
          </p:grpSpPr>
          <p:sp>
            <p:nvSpPr>
              <p:cNvPr id="564" name="Google Shape;564;p66"/>
              <p:cNvSpPr txBox="1"/>
              <p:nvPr/>
            </p:nvSpPr>
            <p:spPr>
              <a:xfrm>
                <a:off x="0" y="3505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7B68EE"/>
                    </a:solidFill>
                    <a:latin typeface="Material Icons"/>
                    <a:ea typeface="Material Icons"/>
                    <a:cs typeface="Material Icons"/>
                    <a:sym typeface="Material Icons"/>
                  </a:rPr>
                  <a:t>timer</a:t>
                </a:r>
                <a:endParaRPr sz="2400">
                  <a:solidFill>
                    <a:srgbClr val="7B68EE"/>
                  </a:solidFill>
                  <a:latin typeface="Material Icons"/>
                  <a:ea typeface="Material Icons"/>
                  <a:cs typeface="Material Icons"/>
                  <a:sym typeface="Material Icons"/>
                </a:endParaRPr>
              </a:p>
            </p:txBody>
          </p:sp>
          <p:sp>
            <p:nvSpPr>
              <p:cNvPr id="565" name="Google Shape;565;p66"/>
              <p:cNvSpPr txBox="1"/>
              <p:nvPr/>
            </p:nvSpPr>
            <p:spPr>
              <a:xfrm>
                <a:off x="476250" y="0"/>
                <a:ext cx="3333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D2D2D"/>
                    </a:solidFill>
                    <a:latin typeface="Montserrat"/>
                    <a:ea typeface="Montserrat"/>
                    <a:cs typeface="Montserrat"/>
                    <a:sym typeface="Montserrat"/>
                  </a:rPr>
                  <a:t>FlowRTT</a:t>
                </a:r>
                <a:endParaRPr b="1" sz="1100">
                  <a:solidFill>
                    <a:srgbClr val="2D2D2D"/>
                  </a:solidFill>
                  <a:latin typeface="Montserrat"/>
                  <a:ea typeface="Montserrat"/>
                  <a:cs typeface="Montserrat"/>
                  <a:sym typeface="Montserrat"/>
                </a:endParaRPr>
              </a:p>
              <a:p>
                <a:pPr indent="0" lvl="0" marL="0" rtl="0" algn="l">
                  <a:spcBef>
                    <a:spcPts val="0"/>
                  </a:spcBef>
                  <a:spcAft>
                    <a:spcPts val="0"/>
                  </a:spcAft>
                  <a:buNone/>
                </a:pPr>
                <a:r>
                  <a:rPr lang="en" sz="1000">
                    <a:solidFill>
                      <a:srgbClr val="616161"/>
                    </a:solidFill>
                    <a:latin typeface="Montserrat"/>
                    <a:ea typeface="Montserrat"/>
                    <a:cs typeface="Montserrat"/>
                    <a:sym typeface="Montserrat"/>
                  </a:rPr>
                  <a:t>TCP handshake — measures network latency</a:t>
                </a:r>
                <a:endParaRPr sz="1000">
                  <a:solidFill>
                    <a:srgbClr val="616161"/>
                  </a:solidFill>
                  <a:latin typeface="Montserrat"/>
                  <a:ea typeface="Montserrat"/>
                  <a:cs typeface="Montserrat"/>
                  <a:sym typeface="Montserrat"/>
                </a:endParaRPr>
              </a:p>
            </p:txBody>
          </p:sp>
        </p:grpSp>
        <p:grpSp>
          <p:nvGrpSpPr>
            <p:cNvPr id="566" name="Google Shape;566;p66"/>
            <p:cNvGrpSpPr/>
            <p:nvPr/>
          </p:nvGrpSpPr>
          <p:grpSpPr>
            <a:xfrm>
              <a:off x="4762500" y="2905125"/>
              <a:ext cx="3810150" cy="416052"/>
              <a:chOff x="0" y="0"/>
              <a:chExt cx="3810150" cy="416052"/>
            </a:xfrm>
          </p:grpSpPr>
          <p:sp>
            <p:nvSpPr>
              <p:cNvPr id="567" name="Google Shape;567;p66"/>
              <p:cNvSpPr txBox="1"/>
              <p:nvPr/>
            </p:nvSpPr>
            <p:spPr>
              <a:xfrm>
                <a:off x="0" y="3505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2400">
                    <a:solidFill>
                      <a:srgbClr val="7B68EE"/>
                    </a:solidFill>
                    <a:latin typeface="Material Icons"/>
                    <a:ea typeface="Material Icons"/>
                    <a:cs typeface="Material Icons"/>
                    <a:sym typeface="Material Icons"/>
                  </a:rPr>
                  <a:t>hub</a:t>
                </a:r>
                <a:endParaRPr sz="2400">
                  <a:solidFill>
                    <a:srgbClr val="7B68EE"/>
                  </a:solidFill>
                  <a:latin typeface="Material Icons"/>
                  <a:ea typeface="Material Icons"/>
                  <a:cs typeface="Material Icons"/>
                  <a:sym typeface="Material Icons"/>
                </a:endParaRPr>
              </a:p>
            </p:txBody>
          </p:sp>
          <p:sp>
            <p:nvSpPr>
              <p:cNvPr id="568" name="Google Shape;568;p66"/>
              <p:cNvSpPr txBox="1"/>
              <p:nvPr/>
            </p:nvSpPr>
            <p:spPr>
              <a:xfrm>
                <a:off x="476250" y="0"/>
                <a:ext cx="3333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D2D2D"/>
                    </a:solidFill>
                    <a:latin typeface="Montserrat"/>
                    <a:ea typeface="Montserrat"/>
                    <a:cs typeface="Montserrat"/>
                    <a:sym typeface="Montserrat"/>
                  </a:rPr>
                  <a:t>NetworkEvents</a:t>
                </a:r>
                <a:endParaRPr b="1" sz="1100">
                  <a:solidFill>
                    <a:srgbClr val="2D2D2D"/>
                  </a:solidFill>
                  <a:latin typeface="Montserrat"/>
                  <a:ea typeface="Montserrat"/>
                  <a:cs typeface="Montserrat"/>
                  <a:sym typeface="Montserrat"/>
                </a:endParaRPr>
              </a:p>
              <a:p>
                <a:pPr indent="0" lvl="0" marL="0" rtl="0" algn="l">
                  <a:spcBef>
                    <a:spcPts val="0"/>
                  </a:spcBef>
                  <a:spcAft>
                    <a:spcPts val="0"/>
                  </a:spcAft>
                  <a:buNone/>
                </a:pPr>
                <a:r>
                  <a:rPr lang="en" sz="1000">
                    <a:solidFill>
                      <a:srgbClr val="616161"/>
                    </a:solidFill>
                    <a:latin typeface="Montserrat"/>
                    <a:ea typeface="Montserrat"/>
                    <a:cs typeface="Montserrat"/>
                    <a:sym typeface="Montserrat"/>
                  </a:rPr>
                  <a:t>Correlates flows with OVN NetworkPolicies</a:t>
                </a:r>
                <a:endParaRPr sz="1000">
                  <a:solidFill>
                    <a:srgbClr val="616161"/>
                  </a:solidFill>
                  <a:latin typeface="Montserrat"/>
                  <a:ea typeface="Montserrat"/>
                  <a:cs typeface="Montserrat"/>
                  <a:sym typeface="Montserrat"/>
                </a:endParaRPr>
              </a:p>
            </p:txBody>
          </p:sp>
        </p:grpSp>
      </p:grpSp>
      <p:grpSp>
        <p:nvGrpSpPr>
          <p:cNvPr id="569" name="Google Shape;569;p66"/>
          <p:cNvGrpSpPr/>
          <p:nvPr/>
        </p:nvGrpSpPr>
        <p:grpSpPr>
          <a:xfrm>
            <a:off x="285750" y="4381500"/>
            <a:ext cx="8572500" cy="571500"/>
            <a:chOff x="285750" y="4381500"/>
            <a:chExt cx="8572500" cy="571500"/>
          </a:xfrm>
        </p:grpSpPr>
        <p:sp>
          <p:nvSpPr>
            <p:cNvPr id="570" name="Google Shape;570;p66"/>
            <p:cNvSpPr/>
            <p:nvPr/>
          </p:nvSpPr>
          <p:spPr>
            <a:xfrm>
              <a:off x="285750" y="4381500"/>
              <a:ext cx="8572500" cy="571500"/>
            </a:xfrm>
            <a:prstGeom prst="roundRect">
              <a:avLst>
                <a:gd fmla="val 50000" name="adj"/>
              </a:avLst>
            </a:prstGeom>
            <a:solidFill>
              <a:srgbClr val="E8F5E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1" name="Google Shape;571;p66"/>
            <p:cNvSpPr txBox="1"/>
            <p:nvPr/>
          </p:nvSpPr>
          <p:spPr>
            <a:xfrm>
              <a:off x="571500" y="4381500"/>
              <a:ext cx="8001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800">
                  <a:solidFill>
                    <a:srgbClr val="2E7D32"/>
                  </a:solidFill>
                  <a:latin typeface="Material Icons"/>
                  <a:ea typeface="Material Icons"/>
                  <a:cs typeface="Material Icons"/>
                  <a:sym typeface="Material Icons"/>
                </a:rPr>
                <a:t>auto_awesome</a:t>
              </a:r>
              <a:r>
                <a:rPr b="1" lang="en" sz="1100">
                  <a:solidFill>
                    <a:srgbClr val="2E7D32"/>
                  </a:solidFill>
                  <a:latin typeface="Montserrat"/>
                  <a:ea typeface="Montserrat"/>
                  <a:cs typeface="Montserrat"/>
                  <a:sym typeface="Montserrat"/>
                </a:rPr>
                <a:t>After </a:t>
              </a:r>
              <a:r>
                <a:rPr lang="en" sz="1100">
                  <a:solidFill>
                    <a:srgbClr val="2E7D32"/>
                  </a:solidFill>
                  <a:latin typeface="Montserrat"/>
                  <a:ea typeface="Montserrat"/>
                  <a:cs typeface="Montserrat"/>
                  <a:sym typeface="Montserrat"/>
                </a:rPr>
                <a:t>oc apply: </a:t>
              </a:r>
              <a:r>
                <a:rPr b="0" lang="en" sz="1100">
                  <a:solidFill>
                    <a:srgbClr val="2E7D32"/>
                  </a:solidFill>
                  <a:latin typeface="Montserrat"/>
                  <a:ea typeface="Montserrat"/>
                  <a:cs typeface="Montserrat"/>
                  <a:sym typeface="Montserrat"/>
                </a:rPr>
                <a:t>operator deploys DaemonSet &amp; loads eBPF into kernel automatically.</a:t>
              </a:r>
              <a:endParaRPr sz="1100">
                <a:solidFill>
                  <a:srgbClr val="2E7D32"/>
                </a:solidFill>
                <a:latin typeface="Montserrat"/>
                <a:ea typeface="Montserrat"/>
                <a:cs typeface="Montserrat"/>
                <a:sym typeface="Montserrat"/>
              </a:endParaRPr>
            </a:p>
          </p:txBody>
        </p:sp>
      </p:grpSp>
      <p:pic>
        <p:nvPicPr>
          <p:cNvPr id="572" name="Google Shape;572;p66"/>
          <p:cNvPicPr preferRelativeResize="0"/>
          <p:nvPr/>
        </p:nvPicPr>
        <p:blipFill rotWithShape="1">
          <a:blip r:embed="rId4">
            <a:alphaModFix/>
          </a:blip>
          <a:srcRect b="1719" l="0" r="0" t="1709"/>
          <a:stretch/>
        </p:blipFill>
        <p:spPr>
          <a:xfrm>
            <a:off x="8382000" y="4429125"/>
            <a:ext cx="476400" cy="47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6" name="Shape 576"/>
        <p:cNvGrpSpPr/>
        <p:nvPr/>
      </p:nvGrpSpPr>
      <p:grpSpPr>
        <a:xfrm>
          <a:off x="0" y="0"/>
          <a:ext cx="0" cy="0"/>
          <a:chOff x="0" y="0"/>
          <a:chExt cx="0" cy="0"/>
        </a:xfrm>
      </p:grpSpPr>
      <p:sp>
        <p:nvSpPr>
          <p:cNvPr id="577" name="Google Shape;577;p67"/>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sp>
        <p:nvSpPr>
          <p:cNvPr id="578" name="Google Shape;578;p67"/>
          <p:cNvSpPr/>
          <p:nvPr/>
        </p:nvSpPr>
        <p:spPr>
          <a:xfrm>
            <a:off x="285750" y="1000125"/>
            <a:ext cx="8572500" cy="1047900"/>
          </a:xfrm>
          <a:prstGeom prst="roundRect">
            <a:avLst>
              <a:gd fmla="val 10909"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79" name="Google Shape;579;p67"/>
          <p:cNvPicPr preferRelativeResize="0"/>
          <p:nvPr/>
        </p:nvPicPr>
        <p:blipFill rotWithShape="1">
          <a:blip r:embed="rId4">
            <a:alphaModFix/>
          </a:blip>
          <a:srcRect b="0" l="0" r="0" t="0"/>
          <a:stretch/>
        </p:blipFill>
        <p:spPr>
          <a:xfrm>
            <a:off x="7991468" y="4501355"/>
            <a:ext cx="553002" cy="572625"/>
          </a:xfrm>
          <a:prstGeom prst="rect">
            <a:avLst/>
          </a:prstGeom>
          <a:noFill/>
          <a:ln>
            <a:noFill/>
          </a:ln>
        </p:spPr>
      </p:pic>
      <p:sp>
        <p:nvSpPr>
          <p:cNvPr id="580" name="Google Shape;580;p67"/>
          <p:cNvSpPr/>
          <p:nvPr/>
        </p:nvSpPr>
        <p:spPr>
          <a:xfrm>
            <a:off x="285750" y="2143125"/>
            <a:ext cx="8572500" cy="1285800"/>
          </a:xfrm>
          <a:prstGeom prst="roundRect">
            <a:avLst>
              <a:gd fmla="val 8888" name="adj"/>
            </a:avLst>
          </a:prstGeom>
          <a:solidFill>
            <a:srgbClr val="FFF8F8"/>
          </a:solidFill>
          <a:ln cap="flat" cmpd="sng" w="9525">
            <a:solidFill>
              <a:srgbClr val="FFEAE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67"/>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2" name="Google Shape;582;p67"/>
          <p:cNvSpPr/>
          <p:nvPr/>
        </p:nvSpPr>
        <p:spPr>
          <a:xfrm>
            <a:off x="285750" y="3524250"/>
            <a:ext cx="8572500" cy="1047900"/>
          </a:xfrm>
          <a:prstGeom prst="roundRect">
            <a:avLst>
              <a:gd fmla="val 10909" name="adj"/>
            </a:avLst>
          </a:prstGeom>
          <a:solidFill>
            <a:srgbClr val="F4FAF5"/>
          </a:solidFill>
          <a:ln cap="flat" cmpd="sng" w="9525">
            <a:solidFill>
              <a:srgbClr val="E8F5E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67"/>
          <p:cNvSpPr txBox="1"/>
          <p:nvPr/>
        </p:nvSpPr>
        <p:spPr>
          <a:xfrm>
            <a:off x="400000" y="320000"/>
            <a:ext cx="7800000" cy="369300"/>
          </a:xfrm>
          <a:prstGeom prst="rect">
            <a:avLst/>
          </a:prstGeom>
          <a:solidFill>
            <a:srgbClr val="000000">
              <a:alpha val="0"/>
            </a:srgbClr>
          </a:solidFill>
          <a:ln>
            <a:noFill/>
          </a:ln>
        </p:spPr>
        <p:txBody>
          <a:bodyPr anchorCtr="0" anchor="ctr" bIns="0" lIns="91425" spcFirstLastPara="1" rIns="0" wrap="square" tIns="0">
            <a:spAutoFit/>
          </a:bodyPr>
          <a:lstStyle/>
          <a:p>
            <a:pPr indent="0" lvl="0" marL="0" rtl="0" algn="l">
              <a:spcBef>
                <a:spcPts val="0"/>
              </a:spcBef>
              <a:spcAft>
                <a:spcPts val="0"/>
              </a:spcAft>
              <a:buNone/>
            </a:pPr>
            <a:r>
              <a:rPr b="1" lang="en" sz="2400">
                <a:solidFill>
                  <a:srgbClr val="2D2D2D"/>
                </a:solidFill>
                <a:latin typeface="Montserrat"/>
                <a:ea typeface="Montserrat"/>
                <a:cs typeface="Montserrat"/>
                <a:sym typeface="Montserrat"/>
              </a:rPr>
              <a:t>Case Study: 3 Weeks → 15 Minutes</a:t>
            </a:r>
            <a:endParaRPr b="1" sz="2400">
              <a:solidFill>
                <a:srgbClr val="2D2D2D"/>
              </a:solidFill>
              <a:latin typeface="Montserrat"/>
              <a:ea typeface="Montserrat"/>
              <a:cs typeface="Montserrat"/>
              <a:sym typeface="Montserrat"/>
            </a:endParaRPr>
          </a:p>
        </p:txBody>
      </p:sp>
      <p:sp>
        <p:nvSpPr>
          <p:cNvPr id="584" name="Google Shape;584;p67"/>
          <p:cNvSpPr txBox="1"/>
          <p:nvPr/>
        </p:nvSpPr>
        <p:spPr>
          <a:xfrm>
            <a:off x="476250" y="1095375"/>
            <a:ext cx="8191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7B68EE"/>
                </a:solidFill>
                <a:latin typeface="Montserrat"/>
                <a:ea typeface="Montserrat"/>
                <a:cs typeface="Montserrat"/>
                <a:sym typeface="Montserrat"/>
              </a:rPr>
              <a:t>The Problem: Intermittent Timeouts</a:t>
            </a:r>
            <a:endParaRPr b="1" sz="1400">
              <a:solidFill>
                <a:srgbClr val="7B68EE"/>
              </a:solidFill>
              <a:latin typeface="Montserrat"/>
              <a:ea typeface="Montserrat"/>
              <a:cs typeface="Montserrat"/>
              <a:sym typeface="Montserrat"/>
            </a:endParaRPr>
          </a:p>
          <a:p>
            <a:pPr indent="-292100" lvl="0" marL="457200" rtl="0" algn="l">
              <a:spcBef>
                <a:spcPts val="600"/>
              </a:spcBef>
              <a:spcAft>
                <a:spcPts val="0"/>
              </a:spcAft>
              <a:buClr>
                <a:srgbClr val="2D2D2D"/>
              </a:buClr>
              <a:buSzPts val="1000"/>
              <a:buFont typeface="Montserrat"/>
              <a:buChar char="●"/>
            </a:pPr>
            <a:r>
              <a:rPr b="0" lang="en" sz="1000">
                <a:solidFill>
                  <a:srgbClr val="2D2D2D"/>
                </a:solidFill>
                <a:latin typeface="Montserrat"/>
                <a:ea typeface="Montserrat"/>
                <a:cs typeface="Montserrat"/>
                <a:sym typeface="Montserrat"/>
              </a:rPr>
              <a:t>200+ microservices, timeouts during peak hours (5-30s failures)</a:t>
            </a:r>
            <a:endParaRPr b="0" sz="1000">
              <a:solidFill>
                <a:srgbClr val="2D2D2D"/>
              </a:solidFill>
              <a:latin typeface="Montserrat"/>
              <a:ea typeface="Montserrat"/>
              <a:cs typeface="Montserrat"/>
              <a:sym typeface="Montserrat"/>
            </a:endParaRPr>
          </a:p>
          <a:p>
            <a:pPr indent="-292100" lvl="0" marL="457200" rtl="0" algn="l">
              <a:spcBef>
                <a:spcPts val="300"/>
              </a:spcBef>
              <a:spcAft>
                <a:spcPts val="0"/>
              </a:spcAft>
              <a:buClr>
                <a:srgbClr val="2D2D2D"/>
              </a:buClr>
              <a:buSzPts val="1000"/>
              <a:buFont typeface="Montserrat"/>
              <a:buChar char="●"/>
            </a:pPr>
            <a:r>
              <a:rPr b="0" lang="en" sz="1000">
                <a:solidFill>
                  <a:srgbClr val="2D2D2D"/>
                </a:solidFill>
                <a:latin typeface="Montserrat"/>
                <a:ea typeface="Montserrat"/>
                <a:cs typeface="Montserrat"/>
                <a:sym typeface="Montserrat"/>
              </a:rPr>
              <a:t>Support team spent 3 WEEKS with tcpdump, OVN traces, and sosreports</a:t>
            </a:r>
            <a:endParaRPr b="0" sz="1000">
              <a:solidFill>
                <a:srgbClr val="2D2D2D"/>
              </a:solidFill>
              <a:latin typeface="Montserrat"/>
              <a:ea typeface="Montserrat"/>
              <a:cs typeface="Montserrat"/>
              <a:sym typeface="Montserrat"/>
            </a:endParaRPr>
          </a:p>
        </p:txBody>
      </p:sp>
      <p:sp>
        <p:nvSpPr>
          <p:cNvPr id="585" name="Google Shape;585;p67"/>
          <p:cNvSpPr txBox="1"/>
          <p:nvPr/>
        </p:nvSpPr>
        <p:spPr>
          <a:xfrm>
            <a:off x="476250" y="2238375"/>
            <a:ext cx="81915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C62828"/>
                </a:solidFill>
                <a:latin typeface="Montserrat"/>
                <a:ea typeface="Montserrat"/>
                <a:cs typeface="Montserrat"/>
                <a:sym typeface="Montserrat"/>
              </a:rPr>
              <a:t>Why Traditional Tools Failed</a:t>
            </a:r>
            <a:endParaRPr b="1" sz="1400">
              <a:solidFill>
                <a:srgbClr val="C62828"/>
              </a:solidFill>
              <a:latin typeface="Montserrat"/>
              <a:ea typeface="Montserrat"/>
              <a:cs typeface="Montserrat"/>
              <a:sym typeface="Montserrat"/>
            </a:endParaRPr>
          </a:p>
          <a:p>
            <a:pPr indent="0" lvl="0" marL="0" rtl="0" algn="l">
              <a:spcBef>
                <a:spcPts val="600"/>
              </a:spcBef>
              <a:spcAft>
                <a:spcPts val="0"/>
              </a:spcAft>
              <a:buNone/>
            </a:pPr>
            <a:r>
              <a:rPr b="1" lang="en" sz="1000">
                <a:solidFill>
                  <a:srgbClr val="2D2D2D"/>
                </a:solidFill>
                <a:latin typeface="Montserrat"/>
                <a:ea typeface="Montserrat"/>
                <a:cs typeface="Montserrat"/>
                <a:sym typeface="Montserrat"/>
              </a:rPr>
              <a:t>tcpdump:</a:t>
            </a:r>
            <a:r>
              <a:rPr lang="en" sz="1000">
                <a:solidFill>
                  <a:srgbClr val="2D2D2D"/>
                </a:solidFill>
                <a:latin typeface="Montserrat"/>
                <a:ea typeface="Montserrat"/>
                <a:cs typeface="Montserrat"/>
                <a:sym typeface="Montserrat"/>
              </a:rPr>
              <a:t> SYN no SYN-ACK — incorrectly suggested 'pod must be down'</a:t>
            </a:r>
            <a:endParaRPr sz="1000">
              <a:solidFill>
                <a:srgbClr val="2D2D2D"/>
              </a:solidFill>
              <a:latin typeface="Montserrat"/>
              <a:ea typeface="Montserrat"/>
              <a:cs typeface="Montserrat"/>
              <a:sym typeface="Montserrat"/>
            </a:endParaRPr>
          </a:p>
          <a:p>
            <a:pPr indent="0" lvl="0" marL="0" rtl="0" algn="l">
              <a:spcBef>
                <a:spcPts val="450"/>
              </a:spcBef>
              <a:spcAft>
                <a:spcPts val="0"/>
              </a:spcAft>
              <a:buNone/>
            </a:pPr>
            <a:r>
              <a:rPr b="1" lang="en" sz="1000">
                <a:solidFill>
                  <a:srgbClr val="2D2D2D"/>
                </a:solidFill>
                <a:latin typeface="Montserrat"/>
                <a:ea typeface="Montserrat"/>
                <a:cs typeface="Montserrat"/>
                <a:sym typeface="Montserrat"/>
              </a:rPr>
              <a:t>conntrack -S:</a:t>
            </a:r>
            <a:r>
              <a:rPr lang="en" sz="1000">
                <a:solidFill>
                  <a:srgbClr val="2D2D2D"/>
                </a:solidFill>
                <a:latin typeface="Montserrat"/>
                <a:ea typeface="Montserrat"/>
                <a:cs typeface="Montserrat"/>
                <a:sym typeface="Montserrat"/>
              </a:rPr>
              <a:t> insert_failed=847 — viewed as 'just a counter' without context</a:t>
            </a:r>
            <a:endParaRPr sz="1000">
              <a:solidFill>
                <a:srgbClr val="2D2D2D"/>
              </a:solidFill>
              <a:latin typeface="Montserrat"/>
              <a:ea typeface="Montserrat"/>
              <a:cs typeface="Montserrat"/>
              <a:sym typeface="Montserrat"/>
            </a:endParaRPr>
          </a:p>
          <a:p>
            <a:pPr indent="0" lvl="0" marL="0" rtl="0" algn="l">
              <a:spcBef>
                <a:spcPts val="450"/>
              </a:spcBef>
              <a:spcAft>
                <a:spcPts val="0"/>
              </a:spcAft>
              <a:buNone/>
            </a:pPr>
            <a:r>
              <a:rPr b="1" lang="en" sz="1000">
                <a:solidFill>
                  <a:srgbClr val="2D2D2D"/>
                </a:solidFill>
                <a:latin typeface="Montserrat"/>
                <a:ea typeface="Montserrat"/>
                <a:cs typeface="Montserrat"/>
                <a:sym typeface="Montserrat"/>
              </a:rPr>
              <a:t>OVN trace:</a:t>
            </a:r>
            <a:r>
              <a:rPr lang="en" sz="1000">
                <a:solidFill>
                  <a:srgbClr val="2D2D2D"/>
                </a:solidFill>
                <a:latin typeface="Montserrat"/>
                <a:ea typeface="Montserrat"/>
                <a:cs typeface="Montserrat"/>
                <a:sym typeface="Montserrat"/>
              </a:rPr>
              <a:t> 'output to port' — pipeline falsely indicated ALLOW</a:t>
            </a:r>
            <a:endParaRPr sz="1000">
              <a:solidFill>
                <a:srgbClr val="2D2D2D"/>
              </a:solidFill>
              <a:latin typeface="Montserrat"/>
              <a:ea typeface="Montserrat"/>
              <a:cs typeface="Montserrat"/>
              <a:sym typeface="Montserrat"/>
            </a:endParaRPr>
          </a:p>
        </p:txBody>
      </p:sp>
      <p:sp>
        <p:nvSpPr>
          <p:cNvPr id="586" name="Google Shape;586;p67"/>
          <p:cNvSpPr txBox="1"/>
          <p:nvPr/>
        </p:nvSpPr>
        <p:spPr>
          <a:xfrm>
            <a:off x="476250" y="3619500"/>
            <a:ext cx="8191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2E7D32"/>
                </a:solidFill>
                <a:latin typeface="Montserrat"/>
                <a:ea typeface="Montserrat"/>
                <a:cs typeface="Montserrat"/>
                <a:sym typeface="Montserrat"/>
              </a:rPr>
              <a:t>NOO Resolution in 15 Minutes</a:t>
            </a:r>
            <a:endParaRPr b="1" sz="1400">
              <a:solidFill>
                <a:srgbClr val="2E7D32"/>
              </a:solidFill>
              <a:latin typeface="Montserrat"/>
              <a:ea typeface="Montserrat"/>
              <a:cs typeface="Montserrat"/>
              <a:sym typeface="Montserrat"/>
            </a:endParaRPr>
          </a:p>
          <a:p>
            <a:pPr indent="-292100" lvl="0" marL="457200" rtl="0" algn="l">
              <a:spcBef>
                <a:spcPts val="600"/>
              </a:spcBef>
              <a:spcAft>
                <a:spcPts val="0"/>
              </a:spcAft>
              <a:buClr>
                <a:srgbClr val="2D2D2D"/>
              </a:buClr>
              <a:buSzPts val="1000"/>
              <a:buFont typeface="Montserrat"/>
              <a:buChar char="●"/>
            </a:pPr>
            <a:r>
              <a:rPr b="1" lang="en" sz="1000">
                <a:solidFill>
                  <a:srgbClr val="2D2D2D"/>
                </a:solidFill>
                <a:latin typeface="Montserrat"/>
                <a:ea typeface="Montserrat"/>
                <a:cs typeface="Montserrat"/>
                <a:sym typeface="Montserrat"/>
              </a:rPr>
              <a:t>Identified 5 service pairs dropping on worker-3 due to NetworkPolicy</a:t>
            </a:r>
            <a:endParaRPr b="1" sz="1000">
              <a:solidFill>
                <a:srgbClr val="2D2D2D"/>
              </a:solidFill>
              <a:latin typeface="Montserrat"/>
              <a:ea typeface="Montserrat"/>
              <a:cs typeface="Montserrat"/>
              <a:sym typeface="Montserrat"/>
            </a:endParaRPr>
          </a:p>
          <a:p>
            <a:pPr indent="-292100" lvl="0" marL="457200" rtl="0" algn="l">
              <a:spcBef>
                <a:spcPts val="300"/>
              </a:spcBef>
              <a:spcAft>
                <a:spcPts val="0"/>
              </a:spcAft>
              <a:buClr>
                <a:srgbClr val="2D2D2D"/>
              </a:buClr>
              <a:buSzPts val="1000"/>
              <a:buFont typeface="Montserrat"/>
              <a:buChar char="●"/>
            </a:pPr>
            <a:r>
              <a:rPr b="1" lang="en" sz="1000">
                <a:solidFill>
                  <a:srgbClr val="2D2D2D"/>
                </a:solidFill>
                <a:latin typeface="Montserrat"/>
                <a:ea typeface="Montserrat"/>
                <a:cs typeface="Montserrat"/>
                <a:sym typeface="Montserrat"/>
              </a:rPr>
              <a:t>Fix:</a:t>
            </a:r>
            <a:r>
              <a:rPr b="0" lang="en" sz="1000">
                <a:solidFill>
                  <a:srgbClr val="2D2D2D"/>
                </a:solidFill>
                <a:latin typeface="Montserrat"/>
                <a:ea typeface="Montserrat"/>
                <a:cs typeface="Montserrat"/>
                <a:sym typeface="Montserrat"/>
              </a:rPr>
              <a:t> Increased </a:t>
            </a:r>
            <a:r>
              <a:rPr b="0" lang="en" sz="1000">
                <a:solidFill>
                  <a:srgbClr val="2D2D2D"/>
                </a:solidFill>
                <a:latin typeface="Courier New"/>
                <a:ea typeface="Courier New"/>
                <a:cs typeface="Courier New"/>
                <a:sym typeface="Courier New"/>
              </a:rPr>
              <a:t>nf_conntrack_max</a:t>
            </a:r>
            <a:r>
              <a:rPr b="0" lang="en" sz="1000">
                <a:solidFill>
                  <a:srgbClr val="2D2D2D"/>
                </a:solidFill>
                <a:latin typeface="Montserrat"/>
                <a:ea typeface="Montserrat"/>
                <a:cs typeface="Montserrat"/>
                <a:sym typeface="Montserrat"/>
              </a:rPr>
              <a:t> on affected nodes</a:t>
            </a:r>
            <a:endParaRPr b="0" sz="1000">
              <a:solidFill>
                <a:srgbClr val="2D2D2D"/>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0" name="Shape 590"/>
        <p:cNvGrpSpPr/>
        <p:nvPr/>
      </p:nvGrpSpPr>
      <p:grpSpPr>
        <a:xfrm>
          <a:off x="0" y="0"/>
          <a:ext cx="0" cy="0"/>
          <a:chOff x="0" y="0"/>
          <a:chExt cx="0" cy="0"/>
        </a:xfrm>
      </p:grpSpPr>
      <p:sp>
        <p:nvSpPr>
          <p:cNvPr id="591" name="Google Shape;591;p68"/>
          <p:cNvSpPr/>
          <p:nvPr/>
        </p:nvSpPr>
        <p:spPr>
          <a:xfrm>
            <a:off x="-19936" y="4346553"/>
            <a:ext cx="9183900" cy="882300"/>
          </a:xfrm>
          <a:prstGeom prst="rect">
            <a:avLst/>
          </a:prstGeom>
          <a:solidFill>
            <a:srgbClr val="8E83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92" name="Google Shape;592;p68"/>
          <p:cNvPicPr preferRelativeResize="0"/>
          <p:nvPr/>
        </p:nvPicPr>
        <p:blipFill rotWithShape="1">
          <a:blip r:embed="rId4">
            <a:alphaModFix/>
          </a:blip>
          <a:srcRect b="0" l="0" r="0" t="0"/>
          <a:stretch/>
        </p:blipFill>
        <p:spPr>
          <a:xfrm>
            <a:off x="7991465" y="4501353"/>
            <a:ext cx="552900" cy="572700"/>
          </a:xfrm>
          <a:prstGeom prst="rect">
            <a:avLst/>
          </a:prstGeom>
          <a:noFill/>
          <a:ln>
            <a:noFill/>
          </a:ln>
        </p:spPr>
      </p:pic>
      <p:sp>
        <p:nvSpPr>
          <p:cNvPr id="593" name="Google Shape;593;p68"/>
          <p:cNvSpPr/>
          <p:nvPr/>
        </p:nvSpPr>
        <p:spPr>
          <a:xfrm>
            <a:off x="285750" y="238125"/>
            <a:ext cx="45000" cy="381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4" name="Google Shape;594;p68"/>
          <p:cNvSpPr txBox="1"/>
          <p:nvPr/>
        </p:nvSpPr>
        <p:spPr>
          <a:xfrm>
            <a:off x="428625" y="190500"/>
            <a:ext cx="7800000" cy="313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2035">
                <a:solidFill>
                  <a:srgbClr val="2D2D2D"/>
                </a:solidFill>
                <a:latin typeface="Montserrat"/>
                <a:ea typeface="Montserrat"/>
                <a:cs typeface="Montserrat"/>
                <a:sym typeface="Montserrat"/>
              </a:rPr>
              <a:t>Real-World Case: OVN Trace Says OK — But Packets Drop</a:t>
            </a:r>
            <a:endParaRPr b="1" sz="2035">
              <a:solidFill>
                <a:srgbClr val="2D2D2D"/>
              </a:solidFill>
              <a:latin typeface="Montserrat"/>
              <a:ea typeface="Montserrat"/>
              <a:cs typeface="Montserrat"/>
              <a:sym typeface="Montserrat"/>
            </a:endParaRPr>
          </a:p>
        </p:txBody>
      </p:sp>
      <p:grpSp>
        <p:nvGrpSpPr>
          <p:cNvPr id="595" name="Google Shape;595;p68"/>
          <p:cNvGrpSpPr/>
          <p:nvPr/>
        </p:nvGrpSpPr>
        <p:grpSpPr>
          <a:xfrm>
            <a:off x="285750" y="857250"/>
            <a:ext cx="8572500" cy="1047900"/>
            <a:chOff x="285750" y="857250"/>
            <a:chExt cx="8572500" cy="1047900"/>
          </a:xfrm>
        </p:grpSpPr>
        <p:sp>
          <p:nvSpPr>
            <p:cNvPr id="596" name="Google Shape;596;p68"/>
            <p:cNvSpPr/>
            <p:nvPr/>
          </p:nvSpPr>
          <p:spPr>
            <a:xfrm>
              <a:off x="285750" y="857250"/>
              <a:ext cx="8572500" cy="1047900"/>
            </a:xfrm>
            <a:prstGeom prst="roundRect">
              <a:avLst>
                <a:gd fmla="val 10909"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7" name="Google Shape;597;p68"/>
            <p:cNvSpPr txBox="1"/>
            <p:nvPr/>
          </p:nvSpPr>
          <p:spPr>
            <a:xfrm>
              <a:off x="476250" y="952500"/>
              <a:ext cx="8191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7B68EE"/>
                  </a:solidFill>
                  <a:latin typeface="Montserrat"/>
                  <a:ea typeface="Montserrat"/>
                  <a:cs typeface="Montserrat"/>
                  <a:sym typeface="Montserrat"/>
                </a:rPr>
                <a:t>The Problem: Hairpin NAT Failure</a:t>
              </a:r>
              <a:endParaRPr b="1" sz="1400">
                <a:solidFill>
                  <a:srgbClr val="7B68EE"/>
                </a:solidFill>
                <a:latin typeface="Montserrat"/>
                <a:ea typeface="Montserrat"/>
                <a:cs typeface="Montserrat"/>
                <a:sym typeface="Montserrat"/>
              </a:endParaRPr>
            </a:p>
            <a:p>
              <a:pPr indent="-298450" lvl="0" marL="457200" rtl="0" algn="l">
                <a:spcBef>
                  <a:spcPts val="600"/>
                </a:spcBef>
                <a:spcAft>
                  <a:spcPts val="0"/>
                </a:spcAft>
                <a:buClr>
                  <a:srgbClr val="2D2D2D"/>
                </a:buClr>
                <a:buSzPts val="1100"/>
                <a:buFont typeface="Montserrat"/>
                <a:buChar char="●"/>
              </a:pPr>
              <a:r>
                <a:rPr b="0" lang="en" sz="1100">
                  <a:solidFill>
                    <a:srgbClr val="2D2D2D"/>
                  </a:solidFill>
                  <a:latin typeface="Montserrat"/>
                  <a:ea typeface="Montserrat"/>
                  <a:cs typeface="Montserrat"/>
                  <a:sym typeface="Montserrat"/>
                </a:rPr>
                <a:t>Pod accesses Service, backing pod on SAME node (hairpin NAT)</a:t>
              </a:r>
              <a:endParaRPr b="0" sz="1100">
                <a:solidFill>
                  <a:srgbClr val="2D2D2D"/>
                </a:solidFill>
                <a:latin typeface="Montserrat"/>
                <a:ea typeface="Montserrat"/>
                <a:cs typeface="Montserrat"/>
                <a:sym typeface="Montserrat"/>
              </a:endParaRPr>
            </a:p>
            <a:p>
              <a:pPr indent="-298450" lvl="0" marL="457200" rtl="0" algn="l">
                <a:spcBef>
                  <a:spcPts val="300"/>
                </a:spcBef>
                <a:spcAft>
                  <a:spcPts val="0"/>
                </a:spcAft>
                <a:buClr>
                  <a:srgbClr val="2D2D2D"/>
                </a:buClr>
                <a:buSzPts val="1100"/>
                <a:buFont typeface="Montserrat"/>
                <a:buChar char="●"/>
              </a:pPr>
              <a:r>
                <a:rPr b="0" lang="en" sz="1100">
                  <a:solidFill>
                    <a:srgbClr val="2D2D2D"/>
                  </a:solidFill>
                  <a:latin typeface="Montserrat"/>
                  <a:ea typeface="Montserrat"/>
                  <a:cs typeface="Montserrat"/>
                  <a:sym typeface="Montserrat"/>
                </a:rPr>
                <a:t>Same-node: ~80% connections fail. Cross-node: 100% success</a:t>
              </a:r>
              <a:endParaRPr b="0" sz="1100">
                <a:solidFill>
                  <a:srgbClr val="2D2D2D"/>
                </a:solidFill>
                <a:latin typeface="Montserrat"/>
                <a:ea typeface="Montserrat"/>
                <a:cs typeface="Montserrat"/>
                <a:sym typeface="Montserrat"/>
              </a:endParaRPr>
            </a:p>
          </p:txBody>
        </p:sp>
      </p:grpSp>
      <p:grpSp>
        <p:nvGrpSpPr>
          <p:cNvPr id="598" name="Google Shape;598;p68"/>
          <p:cNvGrpSpPr/>
          <p:nvPr/>
        </p:nvGrpSpPr>
        <p:grpSpPr>
          <a:xfrm>
            <a:off x="285750" y="2047875"/>
            <a:ext cx="8572500" cy="1285800"/>
            <a:chOff x="285750" y="2047875"/>
            <a:chExt cx="8572500" cy="1285800"/>
          </a:xfrm>
        </p:grpSpPr>
        <p:sp>
          <p:nvSpPr>
            <p:cNvPr id="599" name="Google Shape;599;p68"/>
            <p:cNvSpPr/>
            <p:nvPr/>
          </p:nvSpPr>
          <p:spPr>
            <a:xfrm>
              <a:off x="285750" y="2047875"/>
              <a:ext cx="8572500" cy="1285800"/>
            </a:xfrm>
            <a:prstGeom prst="roundRect">
              <a:avLst>
                <a:gd fmla="val 8888" name="adj"/>
              </a:avLst>
            </a:prstGeom>
            <a:solidFill>
              <a:srgbClr val="FFF8F8"/>
            </a:solidFill>
            <a:ln cap="flat" cmpd="sng" w="9525">
              <a:solidFill>
                <a:srgbClr val="FFEAE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0" name="Google Shape;600;p68"/>
            <p:cNvSpPr txBox="1"/>
            <p:nvPr/>
          </p:nvSpPr>
          <p:spPr>
            <a:xfrm>
              <a:off x="476250" y="2143125"/>
              <a:ext cx="81915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C62828"/>
                  </a:solidFill>
                  <a:latin typeface="Montserrat"/>
                  <a:ea typeface="Montserrat"/>
                  <a:cs typeface="Montserrat"/>
                  <a:sym typeface="Montserrat"/>
                </a:rPr>
                <a:t>Why Traditional Tools Failed</a:t>
              </a:r>
              <a:endParaRPr b="1" sz="1400">
                <a:solidFill>
                  <a:srgbClr val="C62828"/>
                </a:solidFill>
                <a:latin typeface="Montserrat"/>
                <a:ea typeface="Montserrat"/>
                <a:cs typeface="Montserrat"/>
                <a:sym typeface="Montserrat"/>
              </a:endParaRPr>
            </a:p>
            <a:p>
              <a:pPr indent="0" lvl="0" marL="0" rtl="0" algn="l">
                <a:spcBef>
                  <a:spcPts val="600"/>
                </a:spcBef>
                <a:spcAft>
                  <a:spcPts val="0"/>
                </a:spcAft>
                <a:buNone/>
              </a:pPr>
              <a:r>
                <a:rPr b="1" lang="en" sz="1000">
                  <a:solidFill>
                    <a:srgbClr val="2D2D2D"/>
                  </a:solidFill>
                  <a:latin typeface="Montserrat"/>
                  <a:ea typeface="Montserrat"/>
                  <a:cs typeface="Montserrat"/>
                  <a:sym typeface="Montserrat"/>
                </a:rPr>
                <a:t>OVN trace: 'output to localport' — pipeline says FORWARD</a:t>
              </a:r>
              <a:endParaRPr b="1" sz="1000">
                <a:solidFill>
                  <a:srgbClr val="2D2D2D"/>
                </a:solidFill>
                <a:latin typeface="Montserrat"/>
                <a:ea typeface="Montserrat"/>
                <a:cs typeface="Montserrat"/>
                <a:sym typeface="Montserrat"/>
              </a:endParaRPr>
            </a:p>
            <a:p>
              <a:pPr indent="0" lvl="0" marL="0" rtl="0" algn="l">
                <a:spcBef>
                  <a:spcPts val="300"/>
                </a:spcBef>
                <a:spcAft>
                  <a:spcPts val="0"/>
                </a:spcAft>
                <a:buNone/>
              </a:pPr>
              <a:r>
                <a:rPr b="1" lang="en" sz="1000">
                  <a:solidFill>
                    <a:srgbClr val="2D2D2D"/>
                  </a:solidFill>
                  <a:latin typeface="Montserrat"/>
                  <a:ea typeface="Montserrat"/>
                  <a:cs typeface="Montserrat"/>
                  <a:sym typeface="Montserrat"/>
                </a:rPr>
                <a:t>ovs-appctl trace: 'output' — OpenFlow says FORWARD</a:t>
              </a:r>
              <a:endParaRPr b="1" sz="1000">
                <a:solidFill>
                  <a:srgbClr val="2D2D2D"/>
                </a:solidFill>
                <a:latin typeface="Montserrat"/>
                <a:ea typeface="Montserrat"/>
                <a:cs typeface="Montserrat"/>
                <a:sym typeface="Montserrat"/>
              </a:endParaRPr>
            </a:p>
            <a:p>
              <a:pPr indent="0" lvl="0" marL="0" rtl="0" algn="l">
                <a:spcBef>
                  <a:spcPts val="300"/>
                </a:spcBef>
                <a:spcAft>
                  <a:spcPts val="0"/>
                </a:spcAft>
                <a:buNone/>
              </a:pPr>
              <a:r>
                <a:rPr b="1" lang="en" sz="1000">
                  <a:solidFill>
                    <a:srgbClr val="2D2D2D"/>
                  </a:solidFill>
                  <a:latin typeface="Montserrat"/>
                  <a:ea typeface="Montserrat"/>
                  <a:cs typeface="Montserrat"/>
                  <a:sym typeface="Montserrat"/>
                </a:rPr>
                <a:t>tcpdump: SYN goes in, nothing comes back</a:t>
              </a:r>
              <a:endParaRPr b="1" sz="1000">
                <a:solidFill>
                  <a:srgbClr val="2D2D2D"/>
                </a:solidFill>
                <a:latin typeface="Montserrat"/>
                <a:ea typeface="Montserrat"/>
                <a:cs typeface="Montserrat"/>
                <a:sym typeface="Montserrat"/>
              </a:endParaRPr>
            </a:p>
          </p:txBody>
        </p:sp>
      </p:grpSp>
      <p:grpSp>
        <p:nvGrpSpPr>
          <p:cNvPr id="601" name="Google Shape;601;p68"/>
          <p:cNvGrpSpPr/>
          <p:nvPr/>
        </p:nvGrpSpPr>
        <p:grpSpPr>
          <a:xfrm>
            <a:off x="285750" y="3476625"/>
            <a:ext cx="8572500" cy="1095300"/>
            <a:chOff x="285750" y="3476625"/>
            <a:chExt cx="8572500" cy="1095300"/>
          </a:xfrm>
        </p:grpSpPr>
        <p:sp>
          <p:nvSpPr>
            <p:cNvPr id="602" name="Google Shape;602;p68"/>
            <p:cNvSpPr/>
            <p:nvPr/>
          </p:nvSpPr>
          <p:spPr>
            <a:xfrm>
              <a:off x="285750" y="3476625"/>
              <a:ext cx="8572500" cy="1095300"/>
            </a:xfrm>
            <a:prstGeom prst="roundRect">
              <a:avLst>
                <a:gd fmla="val 10434" name="adj"/>
              </a:avLst>
            </a:prstGeom>
            <a:solidFill>
              <a:srgbClr val="F4FAF5"/>
            </a:solidFill>
            <a:ln cap="flat" cmpd="sng" w="9525">
              <a:solidFill>
                <a:srgbClr val="E8F5E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3" name="Google Shape;603;p68"/>
            <p:cNvSpPr txBox="1"/>
            <p:nvPr/>
          </p:nvSpPr>
          <p:spPr>
            <a:xfrm>
              <a:off x="476250" y="3571875"/>
              <a:ext cx="81915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2E7D32"/>
                  </a:solidFill>
                  <a:latin typeface="Montserrat"/>
                  <a:ea typeface="Montserrat"/>
                  <a:cs typeface="Montserrat"/>
                  <a:sym typeface="Montserrat"/>
                </a:rPr>
                <a:t>NOO Instant Answer</a:t>
              </a:r>
              <a:endParaRPr b="1" sz="1400">
                <a:solidFill>
                  <a:srgbClr val="2E7D32"/>
                </a:solidFill>
                <a:latin typeface="Montserrat"/>
                <a:ea typeface="Montserrat"/>
                <a:cs typeface="Montserrat"/>
                <a:sym typeface="Montserrat"/>
              </a:endParaRPr>
            </a:p>
            <a:p>
              <a:pPr indent="-298450" lvl="0" marL="457200" rtl="0" algn="l">
                <a:spcBef>
                  <a:spcPts val="600"/>
                </a:spcBef>
                <a:spcAft>
                  <a:spcPts val="0"/>
                </a:spcAft>
                <a:buClr>
                  <a:srgbClr val="2D2D2D"/>
                </a:buClr>
                <a:buSzPts val="1100"/>
                <a:buFont typeface="Montserrat"/>
                <a:buChar char="●"/>
              </a:pPr>
              <a:r>
                <a:rPr b="1" lang="en" sz="1100">
                  <a:solidFill>
                    <a:srgbClr val="2D2D2D"/>
                  </a:solidFill>
                  <a:latin typeface="Montserrat"/>
                  <a:ea typeface="Montserrat"/>
                  <a:cs typeface="Montserrat"/>
                  <a:sym typeface="Montserrat"/>
                </a:rPr>
                <a:t>CT_INVALID drops: </a:t>
              </a:r>
              <a:r>
                <a:rPr b="0" lang="en" sz="1100">
                  <a:solidFill>
                    <a:srgbClr val="2D2D2D"/>
                  </a:solidFill>
                  <a:latin typeface="Montserrat"/>
                  <a:ea typeface="Montserrat"/>
                  <a:cs typeface="Montserrat"/>
                  <a:sym typeface="Montserrat"/>
                </a:rPr>
                <a:t>conntrack tuple mismatch on same-node traffic</a:t>
              </a:r>
              <a:endParaRPr b="1" sz="1100">
                <a:solidFill>
                  <a:srgbClr val="2D2D2D"/>
                </a:solidFill>
                <a:latin typeface="Montserrat"/>
                <a:ea typeface="Montserrat"/>
                <a:cs typeface="Montserrat"/>
                <a:sym typeface="Montserrat"/>
              </a:endParaRPr>
            </a:p>
            <a:p>
              <a:pPr indent="-298450" lvl="0" marL="457200" rtl="0" algn="l">
                <a:spcBef>
                  <a:spcPts val="300"/>
                </a:spcBef>
                <a:spcAft>
                  <a:spcPts val="0"/>
                </a:spcAft>
                <a:buClr>
                  <a:srgbClr val="2D2D2D"/>
                </a:buClr>
                <a:buSzPts val="1100"/>
                <a:buFont typeface="Montserrat"/>
                <a:buChar char="●"/>
              </a:pPr>
              <a:r>
                <a:rPr b="1" lang="en" sz="1100">
                  <a:solidFill>
                    <a:srgbClr val="2D2D2D"/>
                  </a:solidFill>
                  <a:latin typeface="Montserrat"/>
                  <a:ea typeface="Montserrat"/>
                  <a:cs typeface="Montserrat"/>
                  <a:sym typeface="Montserrat"/>
                </a:rPr>
                <a:t>Root cause: </a:t>
              </a:r>
              <a:r>
                <a:rPr b="0" lang="en" sz="1100">
                  <a:solidFill>
                    <a:srgbClr val="2D2D2D"/>
                  </a:solidFill>
                  <a:latin typeface="Montserrat"/>
                  <a:ea typeface="Montserrat"/>
                  <a:cs typeface="Montserrat"/>
                  <a:sym typeface="Montserrat"/>
                </a:rPr>
                <a:t>DNAT+SNAT on hairpin return path breaks conntrack</a:t>
              </a:r>
              <a:endParaRPr b="1" sz="1100">
                <a:solidFill>
                  <a:srgbClr val="2D2D2D"/>
                </a:solidFill>
                <a:latin typeface="Montserrat"/>
                <a:ea typeface="Montserrat"/>
                <a:cs typeface="Montserrat"/>
                <a:sym typeface="Montserrat"/>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69"/>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609" name="Google Shape;609;p69"/>
          <p:cNvPicPr preferRelativeResize="0"/>
          <p:nvPr/>
        </p:nvPicPr>
        <p:blipFill rotWithShape="1">
          <a:blip r:embed="rId3">
            <a:alphaModFix/>
          </a:blip>
          <a:srcRect b="0" l="0" r="0" t="0"/>
          <a:stretch/>
        </p:blipFill>
        <p:spPr>
          <a:xfrm>
            <a:off x="7991468" y="4501355"/>
            <a:ext cx="553002" cy="572625"/>
          </a:xfrm>
          <a:prstGeom prst="rect">
            <a:avLst/>
          </a:prstGeom>
          <a:noFill/>
          <a:ln>
            <a:noFill/>
          </a:ln>
        </p:spPr>
      </p:pic>
      <p:sp>
        <p:nvSpPr>
          <p:cNvPr id="610" name="Google Shape;610;p69"/>
          <p:cNvSpPr/>
          <p:nvPr/>
        </p:nvSpPr>
        <p:spPr>
          <a:xfrm>
            <a:off x="250000" y="350000"/>
            <a:ext cx="45000" cy="4500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1" name="Google Shape;611;p69"/>
          <p:cNvSpPr txBox="1"/>
          <p:nvPr/>
        </p:nvSpPr>
        <p:spPr>
          <a:xfrm>
            <a:off x="400000" y="320000"/>
            <a:ext cx="7800000" cy="369300"/>
          </a:xfrm>
          <a:prstGeom prst="rect">
            <a:avLst/>
          </a:prstGeom>
          <a:noFill/>
          <a:ln>
            <a:noFill/>
          </a:ln>
        </p:spPr>
        <p:txBody>
          <a:bodyPr anchorCtr="0" anchor="ctr" bIns="0" lIns="91400" spcFirstLastPara="1" rIns="0" wrap="square" tIns="0">
            <a:noAutofit/>
          </a:bodyPr>
          <a:lstStyle/>
          <a:p>
            <a:pPr indent="0" lvl="0" marL="0" rtl="0" algn="l">
              <a:spcBef>
                <a:spcPts val="0"/>
              </a:spcBef>
              <a:spcAft>
                <a:spcPts val="0"/>
              </a:spcAft>
              <a:buNone/>
            </a:pPr>
            <a:r>
              <a:rPr b="1" lang="en" sz="2400">
                <a:solidFill>
                  <a:srgbClr val="2D2D2D"/>
                </a:solidFill>
                <a:latin typeface="Montserrat"/>
                <a:ea typeface="Montserrat"/>
                <a:cs typeface="Montserrat"/>
                <a:sym typeface="Montserrat"/>
              </a:rPr>
              <a:t>Live Demo: Network Observability</a:t>
            </a:r>
            <a:endParaRPr b="1" sz="2400">
              <a:solidFill>
                <a:srgbClr val="2D2D2D"/>
              </a:solidFill>
              <a:latin typeface="Montserrat"/>
              <a:ea typeface="Montserrat"/>
              <a:cs typeface="Montserrat"/>
              <a:sym typeface="Montserrat"/>
            </a:endParaRPr>
          </a:p>
        </p:txBody>
      </p:sp>
      <p:grpSp>
        <p:nvGrpSpPr>
          <p:cNvPr id="612" name="Google Shape;612;p69"/>
          <p:cNvGrpSpPr/>
          <p:nvPr/>
        </p:nvGrpSpPr>
        <p:grpSpPr>
          <a:xfrm>
            <a:off x="285750" y="857250"/>
            <a:ext cx="8572500" cy="571500"/>
            <a:chOff x="285750" y="857250"/>
            <a:chExt cx="8572500" cy="571500"/>
          </a:xfrm>
        </p:grpSpPr>
        <p:sp>
          <p:nvSpPr>
            <p:cNvPr id="613" name="Google Shape;613;p69"/>
            <p:cNvSpPr/>
            <p:nvPr/>
          </p:nvSpPr>
          <p:spPr>
            <a:xfrm>
              <a:off x="285750" y="857250"/>
              <a:ext cx="8572500" cy="571500"/>
            </a:xfrm>
            <a:prstGeom prst="roundRect">
              <a:avLst>
                <a:gd fmla="val 2000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4" name="Google Shape;614;p69"/>
            <p:cNvSpPr txBox="1"/>
            <p:nvPr/>
          </p:nvSpPr>
          <p:spPr>
            <a:xfrm>
              <a:off x="476250" y="857250"/>
              <a:ext cx="8191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7B68EE"/>
                  </a:solidFill>
                  <a:latin typeface="Montserrat"/>
                  <a:ea typeface="Montserrat"/>
                  <a:cs typeface="Montserrat"/>
                  <a:sym typeface="Montserrat"/>
                </a:rPr>
                <a:t>Environment: </a:t>
              </a:r>
              <a:r>
                <a:rPr b="0" lang="en" sz="1400">
                  <a:solidFill>
                    <a:srgbClr val="2D2D2D"/>
                  </a:solidFill>
                  <a:latin typeface="Montserrat"/>
                  <a:ea typeface="Montserrat"/>
                  <a:cs typeface="Montserrat"/>
                  <a:sym typeface="Montserrat"/>
                </a:rPr>
                <a:t>OCP 4.21 | NOO 1.11 | eBPF Enabled</a:t>
              </a:r>
              <a:endParaRPr b="1" sz="1400">
                <a:solidFill>
                  <a:srgbClr val="7B68EE"/>
                </a:solidFill>
                <a:latin typeface="Montserrat"/>
                <a:ea typeface="Montserrat"/>
                <a:cs typeface="Montserrat"/>
                <a:sym typeface="Montserrat"/>
              </a:endParaRPr>
            </a:p>
          </p:txBody>
        </p:sp>
      </p:grpSp>
      <p:grpSp>
        <p:nvGrpSpPr>
          <p:cNvPr id="615" name="Google Shape;615;p69"/>
          <p:cNvGrpSpPr/>
          <p:nvPr/>
        </p:nvGrpSpPr>
        <p:grpSpPr>
          <a:xfrm>
            <a:off x="285750" y="1571625"/>
            <a:ext cx="8572500" cy="952500"/>
            <a:chOff x="285750" y="1571625"/>
            <a:chExt cx="8572500" cy="952500"/>
          </a:xfrm>
        </p:grpSpPr>
        <p:sp>
          <p:nvSpPr>
            <p:cNvPr id="616" name="Google Shape;616;p69"/>
            <p:cNvSpPr/>
            <p:nvPr/>
          </p:nvSpPr>
          <p:spPr>
            <a:xfrm>
              <a:off x="285750" y="1571625"/>
              <a:ext cx="8572500" cy="952500"/>
            </a:xfrm>
            <a:prstGeom prst="roundRect">
              <a:avLst>
                <a:gd fmla="val 12000" name="adj"/>
              </a:avLst>
            </a:prstGeom>
            <a:solidFill>
              <a:srgbClr val="FFF8F8"/>
            </a:solidFill>
            <a:ln cap="flat" cmpd="sng" w="9525">
              <a:solidFill>
                <a:srgbClr val="FFEAE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69"/>
            <p:cNvSpPr txBox="1"/>
            <p:nvPr/>
          </p:nvSpPr>
          <p:spPr>
            <a:xfrm>
              <a:off x="476250" y="1666875"/>
              <a:ext cx="8191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C62828"/>
                  </a:solidFill>
                  <a:latin typeface="Montserrat"/>
                  <a:ea typeface="Montserrat"/>
                  <a:cs typeface="Montserrat"/>
                  <a:sym typeface="Montserrat"/>
                </a:rPr>
                <a:t>Target Application: Bookstore App</a:t>
              </a:r>
              <a:endParaRPr b="1" sz="1400">
                <a:solidFill>
                  <a:srgbClr val="C62828"/>
                </a:solidFill>
                <a:latin typeface="Montserrat"/>
                <a:ea typeface="Montserrat"/>
                <a:cs typeface="Montserrat"/>
                <a:sym typeface="Montserrat"/>
              </a:endParaRPr>
            </a:p>
            <a:p>
              <a:pPr indent="0" lvl="0" marL="0" rtl="0" algn="l">
                <a:spcBef>
                  <a:spcPts val="600"/>
                </a:spcBef>
                <a:spcAft>
                  <a:spcPts val="0"/>
                </a:spcAft>
                <a:buNone/>
              </a:pPr>
              <a:r>
                <a:rPr b="0" lang="en" sz="1100">
                  <a:solidFill>
                    <a:srgbClr val="2D2D2D"/>
                  </a:solidFill>
                  <a:latin typeface="Montserrat"/>
                  <a:ea typeface="Montserrat"/>
                  <a:cs typeface="Montserrat"/>
                  <a:sym typeface="Montserrat"/>
                </a:rPr>
                <a:t>Frontend </a:t>
              </a:r>
              <a:r>
                <a:rPr b="0" lang="en" sz="1100">
                  <a:solidFill>
                    <a:srgbClr val="7B68EE"/>
                  </a:solidFill>
                  <a:latin typeface="Montserrat"/>
                  <a:ea typeface="Montserrat"/>
                  <a:cs typeface="Montserrat"/>
                  <a:sym typeface="Montserrat"/>
                </a:rPr>
                <a:t>→</a:t>
              </a:r>
              <a:r>
                <a:rPr b="0" lang="en" sz="1100">
                  <a:solidFill>
                    <a:srgbClr val="2D2D2D"/>
                  </a:solidFill>
                  <a:latin typeface="Montserrat"/>
                  <a:ea typeface="Montserrat"/>
                  <a:cs typeface="Montserrat"/>
                  <a:sym typeface="Montserrat"/>
                </a:rPr>
                <a:t> Backend-API </a:t>
              </a:r>
              <a:r>
                <a:rPr b="0" lang="en" sz="1100">
                  <a:solidFill>
                    <a:srgbClr val="7B68EE"/>
                  </a:solidFill>
                  <a:latin typeface="Montserrat"/>
                  <a:ea typeface="Montserrat"/>
                  <a:cs typeface="Montserrat"/>
                  <a:sym typeface="Montserrat"/>
                </a:rPr>
                <a:t>→</a:t>
              </a:r>
              <a:r>
                <a:rPr b="0" lang="en" sz="1100">
                  <a:solidFill>
                    <a:srgbClr val="2D2D2D"/>
                  </a:solidFill>
                  <a:latin typeface="Montserrat"/>
                  <a:ea typeface="Montserrat"/>
                  <a:cs typeface="Montserrat"/>
                  <a:sym typeface="Montserrat"/>
                </a:rPr>
                <a:t> Database</a:t>
              </a:r>
              <a:endParaRPr b="0" sz="1100">
                <a:solidFill>
                  <a:srgbClr val="2D2D2D"/>
                </a:solidFill>
                <a:latin typeface="Montserrat"/>
                <a:ea typeface="Montserrat"/>
                <a:cs typeface="Montserrat"/>
                <a:sym typeface="Montserrat"/>
              </a:endParaRPr>
            </a:p>
          </p:txBody>
        </p:sp>
      </p:grpSp>
      <p:grpSp>
        <p:nvGrpSpPr>
          <p:cNvPr id="618" name="Google Shape;618;p69"/>
          <p:cNvGrpSpPr/>
          <p:nvPr/>
        </p:nvGrpSpPr>
        <p:grpSpPr>
          <a:xfrm>
            <a:off x="285750" y="2667000"/>
            <a:ext cx="8572500" cy="1428900"/>
            <a:chOff x="285750" y="2667000"/>
            <a:chExt cx="8572500" cy="1428900"/>
          </a:xfrm>
        </p:grpSpPr>
        <p:sp>
          <p:nvSpPr>
            <p:cNvPr id="619" name="Google Shape;619;p69"/>
            <p:cNvSpPr/>
            <p:nvPr/>
          </p:nvSpPr>
          <p:spPr>
            <a:xfrm>
              <a:off x="285750" y="2667000"/>
              <a:ext cx="8572500" cy="1428900"/>
            </a:xfrm>
            <a:prstGeom prst="roundRect">
              <a:avLst>
                <a:gd fmla="val 8000" name="adj"/>
              </a:avLst>
            </a:prstGeom>
            <a:solidFill>
              <a:srgbClr val="F4FAF5"/>
            </a:solidFill>
            <a:ln cap="flat" cmpd="sng" w="9525">
              <a:solidFill>
                <a:srgbClr val="E8F5E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0" name="Google Shape;620;p69"/>
            <p:cNvSpPr txBox="1"/>
            <p:nvPr/>
          </p:nvSpPr>
          <p:spPr>
            <a:xfrm>
              <a:off x="476250" y="2762250"/>
              <a:ext cx="8191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2E7D32"/>
                  </a:solidFill>
                  <a:latin typeface="Montserrat"/>
                  <a:ea typeface="Montserrat"/>
                  <a:cs typeface="Montserrat"/>
                  <a:sym typeface="Montserrat"/>
                </a:rPr>
                <a:t>Demo Scenarios</a:t>
              </a:r>
              <a:endParaRPr b="1" sz="1400">
                <a:solidFill>
                  <a:srgbClr val="2E7D32"/>
                </a:solidFill>
                <a:latin typeface="Montserrat"/>
                <a:ea typeface="Montserrat"/>
                <a:cs typeface="Montserrat"/>
                <a:sym typeface="Montserrat"/>
              </a:endParaRPr>
            </a:p>
            <a:p>
              <a:pPr indent="-317500" lvl="0" marL="457200" rtl="0" algn="l">
                <a:spcBef>
                  <a:spcPts val="900"/>
                </a:spcBef>
                <a:spcAft>
                  <a:spcPts val="0"/>
                </a:spcAft>
                <a:buClr>
                  <a:srgbClr val="2E7D32"/>
                </a:buClr>
                <a:buSzPts val="1400"/>
                <a:buFont typeface="Montserrat"/>
                <a:buChar char="●"/>
              </a:pPr>
              <a:r>
                <a:rPr b="1" lang="en" sz="1100">
                  <a:solidFill>
                    <a:srgbClr val="2D2D2D"/>
                  </a:solidFill>
                  <a:latin typeface="Montserrat"/>
                  <a:ea typeface="Montserrat"/>
                  <a:cs typeface="Montserrat"/>
                  <a:sym typeface="Montserrat"/>
                </a:rPr>
                <a:t>Scenario 1: NetworkPolicy drops</a:t>
              </a:r>
              <a:br>
                <a:rPr b="1" lang="en" sz="1400">
                  <a:solidFill>
                    <a:srgbClr val="2E7D32"/>
                  </a:solidFill>
                  <a:latin typeface="Montserrat"/>
                  <a:ea typeface="Montserrat"/>
                  <a:cs typeface="Montserrat"/>
                  <a:sym typeface="Montserrat"/>
                </a:rPr>
              </a:br>
              <a:r>
                <a:rPr b="0" lang="en" sz="1000">
                  <a:solidFill>
                    <a:srgbClr val="546E7A"/>
                  </a:solidFill>
                  <a:latin typeface="Montserrat"/>
                  <a:ea typeface="Montserrat"/>
                  <a:cs typeface="Montserrat"/>
                  <a:sym typeface="Montserrat"/>
                </a:rPr>
                <a:t>Traditional debug limitations vs. NOO instant insights</a:t>
              </a:r>
              <a:endParaRPr b="1" sz="1400">
                <a:solidFill>
                  <a:srgbClr val="2E7D32"/>
                </a:solidFill>
                <a:latin typeface="Montserrat"/>
                <a:ea typeface="Montserrat"/>
                <a:cs typeface="Montserrat"/>
                <a:sym typeface="Montserrat"/>
              </a:endParaRPr>
            </a:p>
            <a:p>
              <a:pPr indent="-317500" lvl="0" marL="457200" rtl="0" algn="l">
                <a:spcBef>
                  <a:spcPts val="600"/>
                </a:spcBef>
                <a:spcAft>
                  <a:spcPts val="0"/>
                </a:spcAft>
                <a:buClr>
                  <a:srgbClr val="2E7D32"/>
                </a:buClr>
                <a:buSzPts val="1400"/>
                <a:buFont typeface="Montserrat"/>
                <a:buChar char="●"/>
              </a:pPr>
              <a:r>
                <a:rPr b="1" lang="en" sz="1100">
                  <a:solidFill>
                    <a:srgbClr val="2D2D2D"/>
                  </a:solidFill>
                  <a:latin typeface="Montserrat"/>
                  <a:ea typeface="Montserrat"/>
                  <a:cs typeface="Montserrat"/>
                  <a:sym typeface="Montserrat"/>
                </a:rPr>
                <a:t>Scenario 2: Egress DB Block</a:t>
              </a:r>
              <a:br>
                <a:rPr b="1" lang="en" sz="1400">
                  <a:solidFill>
                    <a:srgbClr val="2E7D32"/>
                  </a:solidFill>
                  <a:latin typeface="Montserrat"/>
                  <a:ea typeface="Montserrat"/>
                  <a:cs typeface="Montserrat"/>
                  <a:sym typeface="Montserrat"/>
                </a:rPr>
              </a:br>
              <a:r>
                <a:rPr b="0" lang="en" sz="1000">
                  <a:solidFill>
                    <a:srgbClr val="546E7A"/>
                  </a:solidFill>
                  <a:latin typeface="Montserrat"/>
                  <a:ea typeface="Montserrat"/>
                  <a:cs typeface="Montserrat"/>
                  <a:sym typeface="Montserrat"/>
                </a:rPr>
                <a:t>Health works, books fails, DB is healthy — egress policy blocks port 5432</a:t>
              </a:r>
              <a:endParaRPr b="1" sz="1400">
                <a:solidFill>
                  <a:srgbClr val="2E7D32"/>
                </a:solidFill>
                <a:latin typeface="Montserrat"/>
                <a:ea typeface="Montserrat"/>
                <a:cs typeface="Montserrat"/>
                <a:sym typeface="Montserrat"/>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4" name="Shape 624"/>
        <p:cNvGrpSpPr/>
        <p:nvPr/>
      </p:nvGrpSpPr>
      <p:grpSpPr>
        <a:xfrm>
          <a:off x="0" y="0"/>
          <a:ext cx="0" cy="0"/>
          <a:chOff x="0" y="0"/>
          <a:chExt cx="0" cy="0"/>
        </a:xfrm>
      </p:grpSpPr>
      <p:sp>
        <p:nvSpPr>
          <p:cNvPr id="625" name="Google Shape;625;p70"/>
          <p:cNvSpPr/>
          <p:nvPr/>
        </p:nvSpPr>
        <p:spPr>
          <a:xfrm>
            <a:off x="-19936" y="4346553"/>
            <a:ext cx="9183900" cy="8823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26" name="Google Shape;626;p70"/>
          <p:cNvPicPr preferRelativeResize="0"/>
          <p:nvPr/>
        </p:nvPicPr>
        <p:blipFill rotWithShape="1">
          <a:blip r:embed="rId4">
            <a:alphaModFix/>
          </a:blip>
          <a:srcRect b="0" l="0" r="0" t="0"/>
          <a:stretch/>
        </p:blipFill>
        <p:spPr>
          <a:xfrm>
            <a:off x="7991468" y="4501355"/>
            <a:ext cx="553002" cy="572625"/>
          </a:xfrm>
          <a:prstGeom prst="rect">
            <a:avLst/>
          </a:prstGeom>
          <a:noFill/>
          <a:ln>
            <a:noFill/>
          </a:ln>
        </p:spPr>
      </p:pic>
      <p:sp>
        <p:nvSpPr>
          <p:cNvPr id="627" name="Google Shape;627;p70"/>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8" name="Google Shape;628;p70"/>
          <p:cNvSpPr txBox="1"/>
          <p:nvPr/>
        </p:nvSpPr>
        <p:spPr>
          <a:xfrm>
            <a:off x="400000" y="320000"/>
            <a:ext cx="7800000" cy="369300"/>
          </a:xfrm>
          <a:prstGeom prst="rect">
            <a:avLst/>
          </a:prstGeom>
          <a:solidFill>
            <a:srgbClr val="000000">
              <a:alpha val="0"/>
            </a:srgbClr>
          </a:solidFill>
          <a:ln>
            <a:noFill/>
          </a:ln>
        </p:spPr>
        <p:txBody>
          <a:bodyPr anchorCtr="0" anchor="ctr" bIns="0" lIns="91400" spcFirstLastPara="1" rIns="0" wrap="square" tIns="0">
            <a:spAutoFit/>
          </a:bodyPr>
          <a:lstStyle/>
          <a:p>
            <a:pPr indent="0" lvl="0" marL="0" rtl="0" algn="l">
              <a:spcBef>
                <a:spcPts val="0"/>
              </a:spcBef>
              <a:spcAft>
                <a:spcPts val="0"/>
              </a:spcAft>
              <a:buNone/>
            </a:pPr>
            <a:r>
              <a:rPr b="1" lang="en" sz="2400">
                <a:solidFill>
                  <a:srgbClr val="2D2D2D"/>
                </a:solidFill>
                <a:latin typeface="Montserrat"/>
                <a:ea typeface="Montserrat"/>
                <a:cs typeface="Montserrat"/>
                <a:sym typeface="Montserrat"/>
              </a:rPr>
              <a:t>Traditional Debugging Process</a:t>
            </a:r>
            <a:endParaRPr b="1" sz="2400">
              <a:solidFill>
                <a:srgbClr val="2D2D2D"/>
              </a:solidFill>
              <a:latin typeface="Montserrat"/>
              <a:ea typeface="Montserrat"/>
              <a:cs typeface="Montserrat"/>
              <a:sym typeface="Montserrat"/>
            </a:endParaRPr>
          </a:p>
        </p:txBody>
      </p:sp>
      <p:sp>
        <p:nvSpPr>
          <p:cNvPr id="629" name="Google Shape;629;p70"/>
          <p:cNvSpPr/>
          <p:nvPr/>
        </p:nvSpPr>
        <p:spPr>
          <a:xfrm>
            <a:off x="428625" y="3238500"/>
            <a:ext cx="8286900" cy="571500"/>
          </a:xfrm>
          <a:prstGeom prst="roundRect">
            <a:avLst>
              <a:gd fmla="val 20000" name="adj"/>
            </a:avLst>
          </a:prstGeom>
          <a:solidFill>
            <a:srgbClr val="FDEDED"/>
          </a:solidFill>
          <a:ln>
            <a:noFill/>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0" name="Google Shape;630;p70"/>
          <p:cNvSpPr txBox="1"/>
          <p:nvPr/>
        </p:nvSpPr>
        <p:spPr>
          <a:xfrm>
            <a:off x="619125" y="3238500"/>
            <a:ext cx="7905900" cy="384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 sz="1400">
                <a:solidFill>
                  <a:srgbClr val="C62828"/>
                </a:solidFill>
                <a:latin typeface="Montserrat"/>
                <a:ea typeface="Montserrat"/>
                <a:cs typeface="Montserrat"/>
                <a:sym typeface="Montserrat"/>
              </a:rPr>
              <a:t>NONE of these tell you the root cause.</a:t>
            </a:r>
            <a:endParaRPr b="1" sz="1400">
              <a:solidFill>
                <a:srgbClr val="C62828"/>
              </a:solidFill>
              <a:latin typeface="Montserrat"/>
              <a:ea typeface="Montserrat"/>
              <a:cs typeface="Montserrat"/>
              <a:sym typeface="Montserrat"/>
            </a:endParaRPr>
          </a:p>
          <a:p>
            <a:pPr indent="0" lvl="0" marL="0" rtl="0" algn="ctr">
              <a:spcBef>
                <a:spcPts val="0"/>
              </a:spcBef>
              <a:spcAft>
                <a:spcPts val="0"/>
              </a:spcAft>
              <a:buNone/>
            </a:pPr>
            <a:r>
              <a:rPr b="0" lang="en" sz="1100">
                <a:solidFill>
                  <a:srgbClr val="C62828"/>
                </a:solidFill>
                <a:latin typeface="Montserrat Medium"/>
                <a:ea typeface="Montserrat Medium"/>
                <a:cs typeface="Montserrat Medium"/>
                <a:sym typeface="Montserrat Medium"/>
              </a:rPr>
              <a:t>Now switch to the Network Observability (NOO) dashboard...</a:t>
            </a:r>
            <a:endParaRPr b="0" sz="1100">
              <a:solidFill>
                <a:srgbClr val="C62828"/>
              </a:solidFill>
              <a:latin typeface="Montserrat Medium"/>
              <a:ea typeface="Montserrat Medium"/>
              <a:cs typeface="Montserrat Medium"/>
              <a:sym typeface="Montserrat Medium"/>
            </a:endParaRPr>
          </a:p>
        </p:txBody>
      </p:sp>
      <p:grpSp>
        <p:nvGrpSpPr>
          <p:cNvPr id="631" name="Google Shape;631;p70"/>
          <p:cNvGrpSpPr/>
          <p:nvPr/>
        </p:nvGrpSpPr>
        <p:grpSpPr>
          <a:xfrm>
            <a:off x="428625" y="1047750"/>
            <a:ext cx="4000500" cy="1428900"/>
            <a:chOff x="428625" y="1047750"/>
            <a:chExt cx="4000500" cy="1428900"/>
          </a:xfrm>
        </p:grpSpPr>
        <p:sp>
          <p:nvSpPr>
            <p:cNvPr id="632" name="Google Shape;632;p70"/>
            <p:cNvSpPr/>
            <p:nvPr/>
          </p:nvSpPr>
          <p:spPr>
            <a:xfrm>
              <a:off x="428625" y="1047750"/>
              <a:ext cx="4000500" cy="1428900"/>
            </a:xfrm>
            <a:prstGeom prst="roundRect">
              <a:avLst>
                <a:gd fmla="val 800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3" name="Google Shape;633;p70"/>
            <p:cNvSpPr txBox="1"/>
            <p:nvPr/>
          </p:nvSpPr>
          <p:spPr>
            <a:xfrm>
              <a:off x="619125" y="1190625"/>
              <a:ext cx="36195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1. Standard Cluster Checks</a:t>
              </a:r>
              <a:endParaRPr b="1" sz="13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900">
                  <a:solidFill>
                    <a:srgbClr val="37474F"/>
                  </a:solidFill>
                  <a:latin typeface="Courier New"/>
                  <a:ea typeface="Courier New"/>
                  <a:cs typeface="Courier New"/>
                  <a:sym typeface="Courier New"/>
                </a:rPr>
                <a:t>$ oc get pods -n demo-app </a:t>
              </a:r>
              <a:r>
                <a:rPr b="0" lang="en" sz="900">
                  <a:solidFill>
                    <a:srgbClr val="7B68EE"/>
                  </a:solidFill>
                  <a:latin typeface="Courier New"/>
                  <a:ea typeface="Courier New"/>
                  <a:cs typeface="Courier New"/>
                  <a:sym typeface="Courier New"/>
                </a:rPr>
                <a:t>→ Running</a:t>
              </a:r>
              <a:endParaRPr b="0" sz="900">
                <a:solidFill>
                  <a:srgbClr val="37474F"/>
                </a:solidFill>
                <a:latin typeface="Courier New"/>
                <a:ea typeface="Courier New"/>
                <a:cs typeface="Courier New"/>
                <a:sym typeface="Courier New"/>
              </a:endParaRPr>
            </a:p>
            <a:p>
              <a:pPr indent="0" lvl="0" marL="0" rtl="0" algn="l">
                <a:spcBef>
                  <a:spcPts val="300"/>
                </a:spcBef>
                <a:spcAft>
                  <a:spcPts val="0"/>
                </a:spcAft>
                <a:buNone/>
              </a:pPr>
              <a:r>
                <a:rPr b="0" lang="en" sz="900">
                  <a:solidFill>
                    <a:srgbClr val="37474F"/>
                  </a:solidFill>
                  <a:latin typeface="Courier New"/>
                  <a:ea typeface="Courier New"/>
                  <a:cs typeface="Courier New"/>
                  <a:sym typeface="Courier New"/>
                </a:rPr>
                <a:t>$ oc get endpoints backend-api </a:t>
              </a:r>
              <a:r>
                <a:rPr b="0" lang="en" sz="900">
                  <a:solidFill>
                    <a:srgbClr val="7B68EE"/>
                  </a:solidFill>
                  <a:latin typeface="Courier New"/>
                  <a:ea typeface="Courier New"/>
                  <a:cs typeface="Courier New"/>
                  <a:sym typeface="Courier New"/>
                </a:rPr>
                <a:t>→ OK</a:t>
              </a:r>
              <a:endParaRPr b="0" sz="900">
                <a:solidFill>
                  <a:srgbClr val="37474F"/>
                </a:solidFill>
                <a:latin typeface="Courier New"/>
                <a:ea typeface="Courier New"/>
                <a:cs typeface="Courier New"/>
                <a:sym typeface="Courier New"/>
              </a:endParaRPr>
            </a:p>
            <a:p>
              <a:pPr indent="0" lvl="0" marL="0" rtl="0" algn="l">
                <a:spcBef>
                  <a:spcPts val="300"/>
                </a:spcBef>
                <a:spcAft>
                  <a:spcPts val="0"/>
                </a:spcAft>
                <a:buNone/>
              </a:pPr>
              <a:r>
                <a:rPr b="0" lang="en" sz="900">
                  <a:solidFill>
                    <a:srgbClr val="37474F"/>
                  </a:solidFill>
                  <a:latin typeface="Courier New"/>
                  <a:ea typeface="Courier New"/>
                  <a:cs typeface="Courier New"/>
                  <a:sym typeface="Courier New"/>
                </a:rPr>
                <a:t>$ oc exec ... curl backend-api </a:t>
              </a:r>
              <a:r>
                <a:rPr b="0" lang="en" sz="900">
                  <a:solidFill>
                    <a:srgbClr val="7B68EE"/>
                  </a:solidFill>
                  <a:latin typeface="Courier New"/>
                  <a:ea typeface="Courier New"/>
                  <a:cs typeface="Courier New"/>
                  <a:sym typeface="Courier New"/>
                </a:rPr>
                <a:t>→ Timeout</a:t>
              </a:r>
              <a:endParaRPr b="0" sz="900">
                <a:solidFill>
                  <a:srgbClr val="37474F"/>
                </a:solidFill>
                <a:latin typeface="Courier New"/>
                <a:ea typeface="Courier New"/>
                <a:cs typeface="Courier New"/>
                <a:sym typeface="Courier New"/>
              </a:endParaRPr>
            </a:p>
          </p:txBody>
        </p:sp>
      </p:grpSp>
      <p:grpSp>
        <p:nvGrpSpPr>
          <p:cNvPr id="634" name="Google Shape;634;p70"/>
          <p:cNvGrpSpPr/>
          <p:nvPr/>
        </p:nvGrpSpPr>
        <p:grpSpPr>
          <a:xfrm>
            <a:off x="4714875" y="1047750"/>
            <a:ext cx="4000500" cy="1428900"/>
            <a:chOff x="4714875" y="1047750"/>
            <a:chExt cx="4000500" cy="1428900"/>
          </a:xfrm>
        </p:grpSpPr>
        <p:sp>
          <p:nvSpPr>
            <p:cNvPr id="635" name="Google Shape;635;p70"/>
            <p:cNvSpPr/>
            <p:nvPr/>
          </p:nvSpPr>
          <p:spPr>
            <a:xfrm>
              <a:off x="4714875" y="1047750"/>
              <a:ext cx="4000500" cy="1428900"/>
            </a:xfrm>
            <a:prstGeom prst="roundRect">
              <a:avLst>
                <a:gd fmla="val 8000"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6" name="Google Shape;636;p70"/>
            <p:cNvSpPr txBox="1"/>
            <p:nvPr/>
          </p:nvSpPr>
          <p:spPr>
            <a:xfrm>
              <a:off x="4905375" y="1190625"/>
              <a:ext cx="36195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2. Low-Level Node SSH</a:t>
              </a:r>
              <a:endParaRPr b="1" sz="13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900">
                  <a:solidFill>
                    <a:srgbClr val="37474F"/>
                  </a:solidFill>
                  <a:latin typeface="Courier New"/>
                  <a:ea typeface="Courier New"/>
                  <a:cs typeface="Courier New"/>
                  <a:sym typeface="Courier New"/>
                </a:rPr>
                <a:t>$ tcpdump -i any port 5000 </a:t>
              </a:r>
              <a:r>
                <a:rPr b="0" lang="en" sz="900">
                  <a:solidFill>
                    <a:srgbClr val="7B68EE"/>
                  </a:solidFill>
                  <a:latin typeface="Courier New"/>
                  <a:ea typeface="Courier New"/>
                  <a:cs typeface="Courier New"/>
                  <a:sym typeface="Courier New"/>
                </a:rPr>
                <a:t>→ No reply</a:t>
              </a:r>
              <a:endParaRPr b="0" sz="900">
                <a:solidFill>
                  <a:srgbClr val="37474F"/>
                </a:solidFill>
                <a:latin typeface="Courier New"/>
                <a:ea typeface="Courier New"/>
                <a:cs typeface="Courier New"/>
                <a:sym typeface="Courier New"/>
              </a:endParaRPr>
            </a:p>
            <a:p>
              <a:pPr indent="0" lvl="0" marL="0" rtl="0" algn="l">
                <a:spcBef>
                  <a:spcPts val="300"/>
                </a:spcBef>
                <a:spcAft>
                  <a:spcPts val="0"/>
                </a:spcAft>
                <a:buNone/>
              </a:pPr>
              <a:r>
                <a:rPr b="0" lang="en" sz="900">
                  <a:solidFill>
                    <a:srgbClr val="37474F"/>
                  </a:solidFill>
                  <a:latin typeface="Courier New"/>
                  <a:ea typeface="Courier New"/>
                  <a:cs typeface="Courier New"/>
                  <a:sym typeface="Courier New"/>
                </a:rPr>
                <a:t>$ conntrack -S </a:t>
              </a:r>
              <a:r>
                <a:rPr b="0" lang="en" sz="900">
                  <a:solidFill>
                    <a:srgbClr val="7B68EE"/>
                  </a:solidFill>
                  <a:latin typeface="Courier New"/>
                  <a:ea typeface="Courier New"/>
                  <a:cs typeface="Courier New"/>
                  <a:sym typeface="Courier New"/>
                </a:rPr>
                <a:t>→ insert_failed=847</a:t>
              </a:r>
              <a:endParaRPr b="0" sz="900">
                <a:solidFill>
                  <a:srgbClr val="37474F"/>
                </a:solidFill>
                <a:latin typeface="Courier New"/>
                <a:ea typeface="Courier New"/>
                <a:cs typeface="Courier New"/>
                <a:sym typeface="Courier New"/>
              </a:endParaRPr>
            </a:p>
            <a:p>
              <a:pPr indent="0" lvl="0" marL="0" rtl="0" algn="l">
                <a:spcBef>
                  <a:spcPts val="300"/>
                </a:spcBef>
                <a:spcAft>
                  <a:spcPts val="0"/>
                </a:spcAft>
                <a:buNone/>
              </a:pPr>
              <a:r>
                <a:rPr b="0" lang="en" sz="900">
                  <a:solidFill>
                    <a:srgbClr val="37474F"/>
                  </a:solidFill>
                  <a:latin typeface="Courier New"/>
                  <a:ea typeface="Courier New"/>
                  <a:cs typeface="Courier New"/>
                  <a:sym typeface="Courier New"/>
                </a:rPr>
                <a:t>$ ovs-ofctl dump-flows </a:t>
              </a:r>
              <a:r>
                <a:rPr b="0" lang="en" sz="900">
                  <a:solidFill>
                    <a:srgbClr val="7B68EE"/>
                  </a:solidFill>
                  <a:latin typeface="Courier New"/>
                  <a:ea typeface="Courier New"/>
                  <a:cs typeface="Courier New"/>
                  <a:sym typeface="Courier New"/>
                </a:rPr>
                <a:t>→ 500+ rules</a:t>
              </a:r>
              <a:endParaRPr b="0" sz="900">
                <a:solidFill>
                  <a:srgbClr val="37474F"/>
                </a:solidFill>
                <a:latin typeface="Courier New"/>
                <a:ea typeface="Courier New"/>
                <a:cs typeface="Courier New"/>
                <a:sym typeface="Courier New"/>
              </a:endParaRPr>
            </a:p>
          </p:txBody>
        </p:sp>
      </p:grpSp>
      <p:grpSp>
        <p:nvGrpSpPr>
          <p:cNvPr id="637" name="Google Shape;637;p70"/>
          <p:cNvGrpSpPr/>
          <p:nvPr/>
        </p:nvGrpSpPr>
        <p:grpSpPr>
          <a:xfrm>
            <a:off x="428625" y="2667000"/>
            <a:ext cx="8286900" cy="381000"/>
            <a:chOff x="428625" y="2667000"/>
            <a:chExt cx="8286900" cy="381000"/>
          </a:xfrm>
        </p:grpSpPr>
        <p:sp>
          <p:nvSpPr>
            <p:cNvPr id="638" name="Google Shape;638;p70"/>
            <p:cNvSpPr/>
            <p:nvPr/>
          </p:nvSpPr>
          <p:spPr>
            <a:xfrm>
              <a:off x="428625" y="2667000"/>
              <a:ext cx="8286900" cy="381000"/>
            </a:xfrm>
            <a:prstGeom prst="roundRect">
              <a:avLst>
                <a:gd fmla="val 15000" name="adj"/>
              </a:avLst>
            </a:prstGeom>
            <a:solidFill>
              <a:srgbClr val="EDEAFD">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9" name="Google Shape;639;p70"/>
            <p:cNvSpPr txBox="1"/>
            <p:nvPr/>
          </p:nvSpPr>
          <p:spPr>
            <a:xfrm>
              <a:off x="619125" y="2667000"/>
              <a:ext cx="7905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2D2D2D"/>
                  </a:solidFill>
                  <a:latin typeface="Montserrat SemiBold"/>
                  <a:ea typeface="Montserrat SemiBold"/>
                  <a:cs typeface="Montserrat SemiBold"/>
                  <a:sym typeface="Montserrat SemiBold"/>
                </a:rPr>
                <a:t>Script: </a:t>
              </a:r>
              <a:r>
                <a:rPr b="0" lang="en" sz="1100">
                  <a:solidFill>
                    <a:srgbClr val="2D2D2D"/>
                  </a:solidFill>
                  <a:latin typeface="Courier New"/>
                  <a:ea typeface="Courier New"/>
                  <a:cs typeface="Courier New"/>
                  <a:sym typeface="Courier New"/>
                </a:rPr>
                <a:t>bash demo-scripts/traditional-debug.sh</a:t>
              </a:r>
              <a:endParaRPr b="0" sz="1100">
                <a:solidFill>
                  <a:srgbClr val="2D2D2D"/>
                </a:solidFill>
                <a:latin typeface="Montserrat SemiBold"/>
                <a:ea typeface="Montserrat SemiBold"/>
                <a:cs typeface="Montserrat SemiBold"/>
                <a:sym typeface="Montserrat SemiBold"/>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71"/>
          <p:cNvSpPr/>
          <p:nvPr/>
        </p:nvSpPr>
        <p:spPr>
          <a:xfrm>
            <a:off x="0" y="600000"/>
            <a:ext cx="9144000" cy="2400000"/>
          </a:xfrm>
          <a:prstGeom prst="rect">
            <a:avLst/>
          </a:prstGeom>
          <a:solidFill>
            <a:srgbClr val="EDEAF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5" name="Google Shape;645;p71"/>
          <p:cNvSpPr txBox="1"/>
          <p:nvPr/>
        </p:nvSpPr>
        <p:spPr>
          <a:xfrm>
            <a:off x="600000" y="800000"/>
            <a:ext cx="7800000" cy="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2200" u="none" cap="none" strike="noStrike">
                <a:solidFill>
                  <a:srgbClr val="7B68EE"/>
                </a:solidFill>
                <a:latin typeface="Montserrat SemiBold"/>
                <a:ea typeface="Montserrat SemiBold"/>
                <a:cs typeface="Montserrat SemiBold"/>
                <a:sym typeface="Montserrat SemiBold"/>
              </a:rPr>
              <a:t>LIVE DEMO</a:t>
            </a:r>
            <a:endParaRPr/>
          </a:p>
        </p:txBody>
      </p:sp>
      <p:sp>
        <p:nvSpPr>
          <p:cNvPr id="646" name="Google Shape;646;p71"/>
          <p:cNvSpPr txBox="1"/>
          <p:nvPr/>
        </p:nvSpPr>
        <p:spPr>
          <a:xfrm>
            <a:off x="600000" y="1400000"/>
            <a:ext cx="7800000" cy="4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200" u="none" cap="none" strike="noStrike">
                <a:solidFill>
                  <a:srgbClr val="2D2D2D"/>
                </a:solidFill>
                <a:latin typeface="Montserrat"/>
                <a:ea typeface="Montserrat"/>
                <a:cs typeface="Montserrat"/>
                <a:sym typeface="Montserrat"/>
              </a:rPr>
              <a:t>Scenario 1: NetworkPolicy Drops</a:t>
            </a:r>
            <a:endParaRPr/>
          </a:p>
        </p:txBody>
      </p:sp>
      <p:sp>
        <p:nvSpPr>
          <p:cNvPr id="647" name="Google Shape;647;p71"/>
          <p:cNvSpPr txBox="1"/>
          <p:nvPr/>
        </p:nvSpPr>
        <p:spPr>
          <a:xfrm>
            <a:off x="600000" y="3200000"/>
            <a:ext cx="7500000" cy="9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900" u="none" cap="none" strike="noStrike">
                <a:solidFill>
                  <a:srgbClr val="37474F"/>
                </a:solidFill>
                <a:latin typeface="Courier New"/>
                <a:ea typeface="Courier New"/>
                <a:cs typeface="Courier New"/>
                <a:sym typeface="Courier New"/>
              </a:rPr>
              <a:t>  bash demo-scripts/scenario1-netpol-break.sh</a:t>
            </a:r>
            <a:endParaRPr/>
          </a:p>
          <a:p>
            <a:pPr indent="0" lvl="0" marL="0" marR="0" rtl="0" algn="l">
              <a:lnSpc>
                <a:spcPct val="100000"/>
              </a:lnSpc>
              <a:spcBef>
                <a:spcPts val="100"/>
              </a:spcBef>
              <a:spcAft>
                <a:spcPts val="0"/>
              </a:spcAft>
              <a:buNone/>
            </a:pPr>
            <a:r>
              <a:rPr b="0" i="0" lang="en" sz="900" u="none" cap="none" strike="noStrike">
                <a:solidFill>
                  <a:srgbClr val="37474F"/>
                </a:solidFill>
                <a:latin typeface="Courier New"/>
                <a:ea typeface="Courier New"/>
                <a:cs typeface="Courier New"/>
                <a:sym typeface="Courier New"/>
              </a:rPr>
              <a:t>  bash demo-scripts/traditional-debug.sh</a:t>
            </a:r>
            <a:endParaRPr/>
          </a:p>
          <a:p>
            <a:pPr indent="0" lvl="0" marL="0" marR="0" rtl="0" algn="l">
              <a:lnSpc>
                <a:spcPct val="100000"/>
              </a:lnSpc>
              <a:spcBef>
                <a:spcPts val="100"/>
              </a:spcBef>
              <a:spcAft>
                <a:spcPts val="0"/>
              </a:spcAft>
              <a:buNone/>
            </a:pPr>
            <a:r>
              <a:rPr b="1" i="0" lang="en" sz="1000" u="none" cap="none" strike="noStrike">
                <a:solidFill>
                  <a:srgbClr val="2E7D32"/>
                </a:solidFill>
                <a:latin typeface="Montserrat"/>
                <a:ea typeface="Montserrat"/>
                <a:cs typeface="Montserrat"/>
                <a:sym typeface="Montserrat"/>
              </a:rPr>
              <a:t>  Then: OCP Console → Network Traffic → Show drops → NetworkPolicy</a:t>
            </a:r>
            <a:endParaRPr/>
          </a:p>
          <a:p>
            <a:pPr indent="0" lvl="0" marL="0" marR="0" rtl="0" algn="l">
              <a:lnSpc>
                <a:spcPct val="100000"/>
              </a:lnSpc>
              <a:spcBef>
                <a:spcPts val="100"/>
              </a:spcBef>
              <a:spcAft>
                <a:spcPts val="0"/>
              </a:spcAft>
              <a:buNone/>
            </a:pPr>
            <a:r>
              <a:rPr b="0" i="0" lang="en" sz="900" u="none" cap="none" strike="noStrike">
                <a:solidFill>
                  <a:srgbClr val="37474F"/>
                </a:solidFill>
                <a:latin typeface="Courier New"/>
                <a:ea typeface="Courier New"/>
                <a:cs typeface="Courier New"/>
                <a:sym typeface="Courier New"/>
              </a:rPr>
              <a:t>  bash demo-scripts/scenario1-netpol-fix.sh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72"/>
          <p:cNvSpPr/>
          <p:nvPr/>
        </p:nvSpPr>
        <p:spPr>
          <a:xfrm>
            <a:off x="0" y="600000"/>
            <a:ext cx="9144000" cy="2400000"/>
          </a:xfrm>
          <a:prstGeom prst="rect">
            <a:avLst/>
          </a:prstGeom>
          <a:solidFill>
            <a:srgbClr val="EDEAF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3" name="Google Shape;653;p72"/>
          <p:cNvSpPr txBox="1"/>
          <p:nvPr/>
        </p:nvSpPr>
        <p:spPr>
          <a:xfrm>
            <a:off x="600000" y="800000"/>
            <a:ext cx="7800000" cy="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2200" u="none" cap="none" strike="noStrike">
                <a:solidFill>
                  <a:srgbClr val="7B68EE"/>
                </a:solidFill>
                <a:latin typeface="Montserrat SemiBold"/>
                <a:ea typeface="Montserrat SemiBold"/>
                <a:cs typeface="Montserrat SemiBold"/>
                <a:sym typeface="Montserrat SemiBold"/>
              </a:rPr>
              <a:t>LIVE DEMO</a:t>
            </a:r>
            <a:endParaRPr/>
          </a:p>
        </p:txBody>
      </p:sp>
      <p:sp>
        <p:nvSpPr>
          <p:cNvPr id="654" name="Google Shape;654;p72"/>
          <p:cNvSpPr txBox="1"/>
          <p:nvPr/>
        </p:nvSpPr>
        <p:spPr>
          <a:xfrm>
            <a:off x="600000" y="1400000"/>
            <a:ext cx="7800000" cy="4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200" u="none" cap="none" strike="noStrike">
                <a:solidFill>
                  <a:srgbClr val="2D2D2D"/>
                </a:solidFill>
                <a:latin typeface="Montserrat"/>
                <a:ea typeface="Montserrat"/>
                <a:cs typeface="Montserrat"/>
                <a:sym typeface="Montserrat"/>
              </a:rPr>
              <a:t>Scenario 2: The Database That Isn't Broken</a:t>
            </a:r>
            <a:endParaRPr/>
          </a:p>
        </p:txBody>
      </p:sp>
      <p:sp>
        <p:nvSpPr>
          <p:cNvPr id="655" name="Google Shape;655;p72"/>
          <p:cNvSpPr txBox="1"/>
          <p:nvPr/>
        </p:nvSpPr>
        <p:spPr>
          <a:xfrm>
            <a:off x="600000" y="3200000"/>
            <a:ext cx="7500000" cy="9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900" u="none" cap="none" strike="noStrike">
                <a:solidFill>
                  <a:srgbClr val="37474F"/>
                </a:solidFill>
                <a:latin typeface="Courier New"/>
                <a:ea typeface="Courier New"/>
                <a:cs typeface="Courier New"/>
                <a:sym typeface="Courier New"/>
              </a:rPr>
              <a:t>  bash demo-scripts/scenario2-egress-break.sh</a:t>
            </a:r>
            <a:endParaRPr/>
          </a:p>
          <a:p>
            <a:pPr indent="0" lvl="0" marL="0" marR="0" rtl="0" algn="l">
              <a:lnSpc>
                <a:spcPct val="100000"/>
              </a:lnSpc>
              <a:spcBef>
                <a:spcPts val="100"/>
              </a:spcBef>
              <a:spcAft>
                <a:spcPts val="0"/>
              </a:spcAft>
              <a:buNone/>
            </a:pPr>
            <a:r>
              <a:rPr b="1" i="0" lang="en" sz="1000" u="none" cap="none" strike="noStrike">
                <a:solidFill>
                  <a:srgbClr val="2E7D32"/>
                </a:solidFill>
                <a:latin typeface="Montserrat"/>
                <a:ea typeface="Montserrat"/>
                <a:cs typeface="Montserrat"/>
                <a:sym typeface="Montserrat"/>
              </a:rPr>
              <a:t>  Health: 200 OK. Books: FAILS. Database: 8 books, healthy.</a:t>
            </a:r>
            <a:endParaRPr/>
          </a:p>
          <a:p>
            <a:pPr indent="0" lvl="0" marL="0" marR="0" rtl="0" algn="l">
              <a:lnSpc>
                <a:spcPct val="100000"/>
              </a:lnSpc>
              <a:spcBef>
                <a:spcPts val="100"/>
              </a:spcBef>
              <a:spcAft>
                <a:spcPts val="0"/>
              </a:spcAft>
              <a:buNone/>
            </a:pPr>
            <a:r>
              <a:rPr b="1" i="0" lang="en" sz="1000" u="none" cap="none" strike="noStrike">
                <a:solidFill>
                  <a:srgbClr val="2E7D32"/>
                </a:solidFill>
                <a:latin typeface="Montserrat"/>
                <a:ea typeface="Montserrat"/>
                <a:cs typeface="Montserrat"/>
                <a:sym typeface="Montserrat"/>
              </a:rPr>
              <a:t>  OCP Console → Show drops → backend-api → database → NetworkPolicy → port 5432</a:t>
            </a:r>
            <a:endParaRPr/>
          </a:p>
          <a:p>
            <a:pPr indent="0" lvl="0" marL="0" marR="0" rtl="0" algn="l">
              <a:lnSpc>
                <a:spcPct val="100000"/>
              </a:lnSpc>
              <a:spcBef>
                <a:spcPts val="100"/>
              </a:spcBef>
              <a:spcAft>
                <a:spcPts val="0"/>
              </a:spcAft>
              <a:buNone/>
            </a:pPr>
            <a:r>
              <a:rPr b="0" i="0" lang="en" sz="900" u="none" cap="none" strike="noStrike">
                <a:solidFill>
                  <a:srgbClr val="37474F"/>
                </a:solidFill>
                <a:latin typeface="Courier New"/>
                <a:ea typeface="Courier New"/>
                <a:cs typeface="Courier New"/>
                <a:sym typeface="Courier New"/>
              </a:rPr>
              <a:t>  bash demo-scripts/scenario2-egress-fix.sh</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73"/>
          <p:cNvSpPr/>
          <p:nvPr/>
        </p:nvSpPr>
        <p:spPr>
          <a:xfrm>
            <a:off x="0" y="600000"/>
            <a:ext cx="9144000" cy="2400000"/>
          </a:xfrm>
          <a:prstGeom prst="rect">
            <a:avLst/>
          </a:prstGeom>
          <a:solidFill>
            <a:srgbClr val="EDEAF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1" name="Google Shape;661;p73"/>
          <p:cNvSpPr txBox="1"/>
          <p:nvPr/>
        </p:nvSpPr>
        <p:spPr>
          <a:xfrm>
            <a:off x="600000" y="800000"/>
            <a:ext cx="7800000" cy="5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2200" u="none" cap="none" strike="noStrike">
                <a:solidFill>
                  <a:srgbClr val="7B68EE"/>
                </a:solidFill>
                <a:latin typeface="Montserrat SemiBold"/>
                <a:ea typeface="Montserrat SemiBold"/>
                <a:cs typeface="Montserrat SemiBold"/>
                <a:sym typeface="Montserrat SemiBold"/>
              </a:rPr>
              <a:t>LIVE DEMO</a:t>
            </a:r>
            <a:endParaRPr/>
          </a:p>
        </p:txBody>
      </p:sp>
      <p:sp>
        <p:nvSpPr>
          <p:cNvPr id="662" name="Google Shape;662;p73"/>
          <p:cNvSpPr txBox="1"/>
          <p:nvPr/>
        </p:nvSpPr>
        <p:spPr>
          <a:xfrm>
            <a:off x="600000" y="1400000"/>
            <a:ext cx="7800000" cy="4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200" u="none" cap="none" strike="noStrike">
                <a:solidFill>
                  <a:srgbClr val="2D2D2D"/>
                </a:solidFill>
                <a:latin typeface="Montserrat"/>
                <a:ea typeface="Montserrat"/>
                <a:cs typeface="Montserrat"/>
                <a:sym typeface="Montserrat"/>
              </a:rPr>
              <a:t>Scenario 3: The Expired Connection</a:t>
            </a:r>
            <a:endParaRPr/>
          </a:p>
        </p:txBody>
      </p:sp>
      <p:sp>
        <p:nvSpPr>
          <p:cNvPr id="663" name="Google Shape;663;p73"/>
          <p:cNvSpPr txBox="1"/>
          <p:nvPr/>
        </p:nvSpPr>
        <p:spPr>
          <a:xfrm>
            <a:off x="600000" y="3200000"/>
            <a:ext cx="7500000" cy="9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900" u="none" cap="none" strike="noStrike">
                <a:solidFill>
                  <a:srgbClr val="37474F"/>
                </a:solidFill>
                <a:latin typeface="Courier New"/>
                <a:ea typeface="Courier New"/>
                <a:cs typeface="Courier New"/>
                <a:sym typeface="Courier New"/>
              </a:rPr>
              <a:t>  bash demo-scripts/scenario3-idle-conntrack-break.sh</a:t>
            </a:r>
            <a:endParaRPr/>
          </a:p>
          <a:p>
            <a:pPr indent="0" lvl="0" marL="0" marR="0" rtl="0" algn="l">
              <a:lnSpc>
                <a:spcPct val="100000"/>
              </a:lnSpc>
              <a:spcBef>
                <a:spcPts val="100"/>
              </a:spcBef>
              <a:spcAft>
                <a:spcPts val="0"/>
              </a:spcAft>
              <a:buNone/>
            </a:pPr>
            <a:r>
              <a:rPr b="1" i="0" lang="en" sz="1000" u="none" cap="none" strike="noStrike">
                <a:solidFill>
                  <a:srgbClr val="2E7D32"/>
                </a:solidFill>
                <a:latin typeface="Montserrat"/>
                <a:ea typeface="Montserrat"/>
                <a:cs typeface="Montserrat"/>
                <a:sym typeface="Montserrat"/>
              </a:rPr>
              <a:t>  Idle DB connections lose conntrack entry after 30s</a:t>
            </a:r>
            <a:endParaRPr/>
          </a:p>
          <a:p>
            <a:pPr indent="0" lvl="0" marL="0" marR="0" rtl="0" algn="l">
              <a:lnSpc>
                <a:spcPct val="100000"/>
              </a:lnSpc>
              <a:spcBef>
                <a:spcPts val="100"/>
              </a:spcBef>
              <a:spcAft>
                <a:spcPts val="0"/>
              </a:spcAft>
              <a:buNone/>
            </a:pPr>
            <a:r>
              <a:rPr b="1" i="0" lang="en" sz="1000" u="none" cap="none" strike="noStrike">
                <a:solidFill>
                  <a:srgbClr val="2E7D32"/>
                </a:solidFill>
                <a:latin typeface="Montserrat"/>
                <a:ea typeface="Montserrat"/>
                <a:cs typeface="Montserrat"/>
                <a:sym typeface="Montserrat"/>
              </a:rPr>
              <a:t>  App reuses connection → CT_INVALID → 'connection reset by peer'</a:t>
            </a:r>
            <a:endParaRPr/>
          </a:p>
          <a:p>
            <a:pPr indent="0" lvl="0" marL="0" marR="0" rtl="0" algn="l">
              <a:lnSpc>
                <a:spcPct val="100000"/>
              </a:lnSpc>
              <a:spcBef>
                <a:spcPts val="100"/>
              </a:spcBef>
              <a:spcAft>
                <a:spcPts val="0"/>
              </a:spcAft>
              <a:buNone/>
            </a:pPr>
            <a:r>
              <a:rPr b="1" i="0" lang="en" sz="1000" u="none" cap="none" strike="noStrike">
                <a:solidFill>
                  <a:srgbClr val="2E7D32"/>
                </a:solidFill>
                <a:latin typeface="Montserrat"/>
                <a:ea typeface="Montserrat"/>
                <a:cs typeface="Montserrat"/>
                <a:sym typeface="Montserrat"/>
              </a:rPr>
              <a:t>  New connections work fine. Only idle ones fail.</a:t>
            </a:r>
            <a:endParaRPr/>
          </a:p>
          <a:p>
            <a:pPr indent="0" lvl="0" marL="0" marR="0" rtl="0" algn="l">
              <a:lnSpc>
                <a:spcPct val="100000"/>
              </a:lnSpc>
              <a:spcBef>
                <a:spcPts val="100"/>
              </a:spcBef>
              <a:spcAft>
                <a:spcPts val="0"/>
              </a:spcAft>
              <a:buNone/>
            </a:pPr>
            <a:r>
              <a:rPr b="0" i="0" lang="en" sz="900" u="none" cap="none" strike="noStrike">
                <a:solidFill>
                  <a:srgbClr val="37474F"/>
                </a:solidFill>
                <a:latin typeface="Courier New"/>
                <a:ea typeface="Courier New"/>
                <a:cs typeface="Courier New"/>
                <a:sym typeface="Courier New"/>
              </a:rPr>
              <a:t>  bash demo-scripts/scenario3-traditional-debug.sh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7" name="Shape 667"/>
        <p:cNvGrpSpPr/>
        <p:nvPr/>
      </p:nvGrpSpPr>
      <p:grpSpPr>
        <a:xfrm>
          <a:off x="0" y="0"/>
          <a:ext cx="0" cy="0"/>
          <a:chOff x="0" y="0"/>
          <a:chExt cx="0" cy="0"/>
        </a:xfrm>
      </p:grpSpPr>
      <p:sp>
        <p:nvSpPr>
          <p:cNvPr id="668" name="Google Shape;668;p74"/>
          <p:cNvSpPr/>
          <p:nvPr/>
        </p:nvSpPr>
        <p:spPr>
          <a:xfrm>
            <a:off x="0" y="4381500"/>
            <a:ext cx="9144000" cy="7620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69" name="Google Shape;669;p74"/>
          <p:cNvPicPr preferRelativeResize="0"/>
          <p:nvPr/>
        </p:nvPicPr>
        <p:blipFill rotWithShape="1">
          <a:blip r:embed="rId4">
            <a:alphaModFix/>
          </a:blip>
          <a:srcRect b="0" l="219" r="219" t="0"/>
          <a:stretch/>
        </p:blipFill>
        <p:spPr>
          <a:xfrm>
            <a:off x="8191500" y="4514850"/>
            <a:ext cx="476400" cy="495300"/>
          </a:xfrm>
          <a:prstGeom prst="rect">
            <a:avLst/>
          </a:prstGeom>
          <a:noFill/>
          <a:ln>
            <a:noFill/>
          </a:ln>
        </p:spPr>
      </p:pic>
      <p:sp>
        <p:nvSpPr>
          <p:cNvPr id="670" name="Google Shape;670;p74"/>
          <p:cNvSpPr/>
          <p:nvPr/>
        </p:nvSpPr>
        <p:spPr>
          <a:xfrm>
            <a:off x="381000" y="381000"/>
            <a:ext cx="38100" cy="3810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1" name="Google Shape;671;p74"/>
          <p:cNvSpPr txBox="1"/>
          <p:nvPr/>
        </p:nvSpPr>
        <p:spPr>
          <a:xfrm>
            <a:off x="533400" y="381000"/>
            <a:ext cx="82296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1E293B"/>
                </a:solidFill>
                <a:latin typeface="Montserrat"/>
                <a:ea typeface="Montserrat"/>
                <a:cs typeface="Montserrat"/>
                <a:sym typeface="Montserrat"/>
              </a:rPr>
              <a:t>Understanding Sampling in NOO</a:t>
            </a:r>
            <a:endParaRPr b="1" sz="2400">
              <a:solidFill>
                <a:srgbClr val="1E293B"/>
              </a:solidFill>
              <a:latin typeface="Montserrat"/>
              <a:ea typeface="Montserrat"/>
              <a:cs typeface="Montserrat"/>
              <a:sym typeface="Montserrat"/>
            </a:endParaRPr>
          </a:p>
        </p:txBody>
      </p:sp>
      <p:grpSp>
        <p:nvGrpSpPr>
          <p:cNvPr id="672" name="Google Shape;672;p74"/>
          <p:cNvGrpSpPr/>
          <p:nvPr/>
        </p:nvGrpSpPr>
        <p:grpSpPr>
          <a:xfrm>
            <a:off x="381000" y="952500"/>
            <a:ext cx="8382000" cy="1047900"/>
            <a:chOff x="381000" y="952500"/>
            <a:chExt cx="8382000" cy="1047900"/>
          </a:xfrm>
        </p:grpSpPr>
        <p:sp>
          <p:nvSpPr>
            <p:cNvPr id="673" name="Google Shape;673;p74"/>
            <p:cNvSpPr/>
            <p:nvPr/>
          </p:nvSpPr>
          <p:spPr>
            <a:xfrm>
              <a:off x="381000" y="952500"/>
              <a:ext cx="83820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4" name="Google Shape;674;p74"/>
            <p:cNvSpPr txBox="1"/>
            <p:nvPr/>
          </p:nvSpPr>
          <p:spPr>
            <a:xfrm>
              <a:off x="619125" y="1095375"/>
              <a:ext cx="79059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13">
                  <a:solidFill>
                    <a:srgbClr val="7B68EE"/>
                  </a:solidFill>
                  <a:latin typeface="Montserrat"/>
                  <a:ea typeface="Montserrat"/>
                  <a:cs typeface="Montserrat"/>
                  <a:sym typeface="Montserrat"/>
                </a:rPr>
                <a:t>What is sampling?</a:t>
              </a:r>
              <a:endParaRPr b="1" sz="813">
                <a:solidFill>
                  <a:srgbClr val="7B68EE"/>
                </a:solidFill>
                <a:latin typeface="Montserrat"/>
                <a:ea typeface="Montserrat"/>
                <a:cs typeface="Montserrat"/>
                <a:sym typeface="Montserrat"/>
              </a:endParaRPr>
            </a:p>
            <a:p>
              <a:pPr indent="0" lvl="0" marL="0" rtl="0" algn="l">
                <a:spcBef>
                  <a:spcPts val="600"/>
                </a:spcBef>
                <a:spcAft>
                  <a:spcPts val="0"/>
                </a:spcAft>
                <a:buNone/>
              </a:pPr>
              <a:r>
                <a:rPr lang="en" sz="688">
                  <a:solidFill>
                    <a:srgbClr val="334155"/>
                  </a:solidFill>
                  <a:latin typeface="Montserrat"/>
                  <a:ea typeface="Montserrat"/>
                  <a:cs typeface="Montserrat"/>
                  <a:sym typeface="Montserrat"/>
                </a:rPr>
                <a:t>The eBPF agent sees </a:t>
              </a:r>
              <a:r>
                <a:rPr b="1" lang="en" sz="688">
                  <a:solidFill>
                    <a:srgbClr val="334155"/>
                  </a:solidFill>
                  <a:latin typeface="Montserrat"/>
                  <a:ea typeface="Montserrat"/>
                  <a:cs typeface="Montserrat"/>
                  <a:sym typeface="Montserrat"/>
                </a:rPr>
                <a:t>EVERY</a:t>
              </a:r>
              <a:r>
                <a:rPr lang="en" sz="688">
                  <a:solidFill>
                    <a:srgbClr val="334155"/>
                  </a:solidFill>
                  <a:latin typeface="Montserrat"/>
                  <a:ea typeface="Montserrat"/>
                  <a:cs typeface="Montserrat"/>
                  <a:sym typeface="Montserrat"/>
                </a:rPr>
                <a:t> packet. Sampling controls how many it </a:t>
              </a:r>
              <a:r>
                <a:rPr b="1" lang="en" sz="688">
                  <a:solidFill>
                    <a:srgbClr val="334155"/>
                  </a:solidFill>
                  <a:latin typeface="Montserrat"/>
                  <a:ea typeface="Montserrat"/>
                  <a:cs typeface="Montserrat"/>
                  <a:sym typeface="Montserrat"/>
                </a:rPr>
                <a:t>EXPORTS</a:t>
              </a:r>
              <a:r>
                <a:rPr lang="en" sz="688">
                  <a:solidFill>
                    <a:srgbClr val="334155"/>
                  </a:solidFill>
                  <a:latin typeface="Montserrat"/>
                  <a:ea typeface="Montserrat"/>
                  <a:cs typeface="Montserrat"/>
                  <a:sym typeface="Montserrat"/>
                </a:rPr>
                <a:t>.</a:t>
              </a:r>
              <a:endParaRPr sz="688">
                <a:solidFill>
                  <a:srgbClr val="334155"/>
                </a:solidFill>
                <a:latin typeface="Montserrat"/>
                <a:ea typeface="Montserrat"/>
                <a:cs typeface="Montserrat"/>
                <a:sym typeface="Montserrat"/>
              </a:endParaRPr>
            </a:p>
            <a:p>
              <a:pPr indent="0" lvl="0" marL="0" rtl="0" algn="l">
                <a:spcBef>
                  <a:spcPts val="900"/>
                </a:spcBef>
                <a:spcAft>
                  <a:spcPts val="0"/>
                </a:spcAft>
                <a:buNone/>
              </a:pPr>
              <a:r>
                <a:rPr b="1" lang="en" sz="625">
                  <a:solidFill>
                    <a:srgbClr val="7B68EE"/>
                  </a:solidFill>
                  <a:latin typeface="Courier New"/>
                  <a:ea typeface="Courier New"/>
                  <a:cs typeface="Courier New"/>
                  <a:sym typeface="Courier New"/>
                </a:rPr>
                <a:t>sampling: 1</a:t>
              </a:r>
              <a:r>
                <a:rPr lang="en" sz="625">
                  <a:solidFill>
                    <a:srgbClr val="475569"/>
                  </a:solidFill>
                  <a:latin typeface="Courier New"/>
                  <a:ea typeface="Courier New"/>
                  <a:cs typeface="Courier New"/>
                  <a:sym typeface="Courier New"/>
                </a:rPr>
                <a:t> 100% (every packet) — </a:t>
              </a:r>
              <a:r>
                <a:rPr i="1" lang="en" sz="625">
                  <a:solidFill>
                    <a:srgbClr val="475569"/>
                  </a:solidFill>
                  <a:latin typeface="Courier New"/>
                  <a:ea typeface="Courier New"/>
                  <a:cs typeface="Courier New"/>
                  <a:sym typeface="Courier New"/>
                </a:rPr>
                <a:t>Best for demos</a:t>
              </a:r>
              <a:endParaRPr sz="625">
                <a:solidFill>
                  <a:srgbClr val="475569"/>
                </a:solidFill>
                <a:latin typeface="Courier New"/>
                <a:ea typeface="Courier New"/>
                <a:cs typeface="Courier New"/>
                <a:sym typeface="Courier New"/>
              </a:endParaRPr>
            </a:p>
            <a:p>
              <a:pPr indent="0" lvl="0" marL="0" rtl="0" algn="l">
                <a:spcBef>
                  <a:spcPts val="0"/>
                </a:spcBef>
                <a:spcAft>
                  <a:spcPts val="0"/>
                </a:spcAft>
                <a:buNone/>
              </a:pPr>
              <a:r>
                <a:rPr b="1" lang="en" sz="625">
                  <a:solidFill>
                    <a:srgbClr val="7B68EE"/>
                  </a:solidFill>
                  <a:latin typeface="Courier New"/>
                  <a:ea typeface="Courier New"/>
                  <a:cs typeface="Courier New"/>
                  <a:sym typeface="Courier New"/>
                </a:rPr>
                <a:t>sampling: 50</a:t>
              </a:r>
              <a:r>
                <a:rPr lang="en" sz="625">
                  <a:solidFill>
                    <a:srgbClr val="475569"/>
                  </a:solidFill>
                  <a:latin typeface="Courier New"/>
                  <a:ea typeface="Courier New"/>
                  <a:cs typeface="Courier New"/>
                  <a:sym typeface="Courier New"/>
                </a:rPr>
                <a:t> 2% (1 in 50) — </a:t>
              </a:r>
              <a:r>
                <a:rPr i="1" lang="en" sz="625">
                  <a:solidFill>
                    <a:srgbClr val="475569"/>
                  </a:solidFill>
                  <a:latin typeface="Courier New"/>
                  <a:ea typeface="Courier New"/>
                  <a:cs typeface="Courier New"/>
                  <a:sym typeface="Courier New"/>
                </a:rPr>
                <a:t>Standard for production</a:t>
              </a:r>
              <a:endParaRPr sz="625">
                <a:solidFill>
                  <a:srgbClr val="475569"/>
                </a:solidFill>
                <a:latin typeface="Courier New"/>
                <a:ea typeface="Courier New"/>
                <a:cs typeface="Courier New"/>
                <a:sym typeface="Courier New"/>
              </a:endParaRPr>
            </a:p>
            <a:p>
              <a:pPr indent="0" lvl="0" marL="0" rtl="0" algn="l">
                <a:spcBef>
                  <a:spcPts val="0"/>
                </a:spcBef>
                <a:spcAft>
                  <a:spcPts val="0"/>
                </a:spcAft>
                <a:buNone/>
              </a:pPr>
              <a:r>
                <a:rPr b="1" lang="en" sz="625">
                  <a:solidFill>
                    <a:srgbClr val="7B68EE"/>
                  </a:solidFill>
                  <a:latin typeface="Courier New"/>
                  <a:ea typeface="Courier New"/>
                  <a:cs typeface="Courier New"/>
                  <a:sym typeface="Courier New"/>
                </a:rPr>
                <a:t>sampling: 100</a:t>
              </a:r>
              <a:r>
                <a:rPr lang="en" sz="625">
                  <a:solidFill>
                    <a:srgbClr val="475569"/>
                  </a:solidFill>
                  <a:latin typeface="Courier New"/>
                  <a:ea typeface="Courier New"/>
                  <a:cs typeface="Courier New"/>
                  <a:sym typeface="Courier New"/>
                </a:rPr>
                <a:t> 1% (1 in 100) — </a:t>
              </a:r>
              <a:r>
                <a:rPr i="1" lang="en" sz="625">
                  <a:solidFill>
                    <a:srgbClr val="475569"/>
                  </a:solidFill>
                  <a:latin typeface="Courier New"/>
                  <a:ea typeface="Courier New"/>
                  <a:cs typeface="Courier New"/>
                  <a:sym typeface="Courier New"/>
                </a:rPr>
                <a:t>Required for high-traffic</a:t>
              </a:r>
              <a:endParaRPr sz="625">
                <a:solidFill>
                  <a:srgbClr val="475569"/>
                </a:solidFill>
                <a:latin typeface="Courier New"/>
                <a:ea typeface="Courier New"/>
                <a:cs typeface="Courier New"/>
                <a:sym typeface="Courier New"/>
              </a:endParaRPr>
            </a:p>
          </p:txBody>
        </p:sp>
      </p:grpSp>
      <p:grpSp>
        <p:nvGrpSpPr>
          <p:cNvPr id="675" name="Google Shape;675;p74"/>
          <p:cNvGrpSpPr/>
          <p:nvPr/>
        </p:nvGrpSpPr>
        <p:grpSpPr>
          <a:xfrm>
            <a:off x="381000" y="2190750"/>
            <a:ext cx="4095900" cy="2000100"/>
            <a:chOff x="381000" y="2190750"/>
            <a:chExt cx="4095900" cy="2000100"/>
          </a:xfrm>
        </p:grpSpPr>
        <p:sp>
          <p:nvSpPr>
            <p:cNvPr id="676" name="Google Shape;676;p74"/>
            <p:cNvSpPr/>
            <p:nvPr/>
          </p:nvSpPr>
          <p:spPr>
            <a:xfrm>
              <a:off x="381000" y="2190750"/>
              <a:ext cx="4095900" cy="2000100"/>
            </a:xfrm>
            <a:prstGeom prst="roundRect">
              <a:avLst>
                <a:gd fmla="val 5714" name="adj"/>
              </a:avLst>
            </a:prstGeom>
            <a:solidFill>
              <a:srgbClr val="FEF2F2"/>
            </a:solidFill>
            <a:ln cap="flat" cmpd="sng" w="9525">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7" name="Google Shape;677;p74"/>
            <p:cNvSpPr txBox="1"/>
            <p:nvPr/>
          </p:nvSpPr>
          <p:spPr>
            <a:xfrm>
              <a:off x="619125" y="2333625"/>
              <a:ext cx="36195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DC2626"/>
                  </a:solidFill>
                  <a:latin typeface="Montserrat"/>
                  <a:ea typeface="Montserrat"/>
                  <a:cs typeface="Montserrat"/>
                  <a:sym typeface="Montserrat"/>
                </a:rPr>
                <a:t>Why not always use sampling: 1?</a:t>
              </a:r>
              <a:endParaRPr b="1" sz="1300">
                <a:solidFill>
                  <a:srgbClr val="DC2626"/>
                </a:solidFill>
                <a:latin typeface="Montserrat"/>
                <a:ea typeface="Montserrat"/>
                <a:cs typeface="Montserrat"/>
                <a:sym typeface="Montserrat"/>
              </a:endParaRPr>
            </a:p>
            <a:p>
              <a:pPr indent="-295275" lvl="0" marL="457200" rtl="0" algn="l">
                <a:spcBef>
                  <a:spcPts val="1125"/>
                </a:spcBef>
                <a:spcAft>
                  <a:spcPts val="0"/>
                </a:spcAft>
                <a:buClr>
                  <a:srgbClr val="7F1D1D"/>
                </a:buClr>
                <a:buSzPts val="1050"/>
                <a:buFont typeface="Montserrat"/>
                <a:buChar char="●"/>
              </a:pPr>
              <a:r>
                <a:rPr lang="en" sz="1050">
                  <a:solidFill>
                    <a:srgbClr val="7F1D1D"/>
                  </a:solidFill>
                  <a:latin typeface="Montserrat"/>
                  <a:ea typeface="Montserrat"/>
                  <a:cs typeface="Montserrat"/>
                  <a:sym typeface="Montserrat"/>
                </a:rPr>
                <a:t>At 10Gbps, nodes process </a:t>
              </a:r>
              <a:r>
                <a:rPr b="1" lang="en" sz="1050">
                  <a:solidFill>
                    <a:srgbClr val="7F1D1D"/>
                  </a:solidFill>
                  <a:latin typeface="Montserrat"/>
                  <a:ea typeface="Montserrat"/>
                  <a:cs typeface="Montserrat"/>
                  <a:sym typeface="Montserrat"/>
                </a:rPr>
                <a:t>~1M packets/sec</a:t>
              </a:r>
              <a:endParaRPr sz="1050">
                <a:solidFill>
                  <a:srgbClr val="7F1D1D"/>
                </a:solidFill>
                <a:latin typeface="Montserrat"/>
                <a:ea typeface="Montserrat"/>
                <a:cs typeface="Montserrat"/>
                <a:sym typeface="Montserrat"/>
              </a:endParaRPr>
            </a:p>
            <a:p>
              <a:pPr indent="-295275" lvl="0" marL="457200" rtl="0" algn="l">
                <a:spcBef>
                  <a:spcPts val="900"/>
                </a:spcBef>
                <a:spcAft>
                  <a:spcPts val="0"/>
                </a:spcAft>
                <a:buClr>
                  <a:srgbClr val="7F1D1D"/>
                </a:buClr>
                <a:buSzPts val="1050"/>
                <a:buFont typeface="Montserrat"/>
                <a:buChar char="●"/>
              </a:pPr>
              <a:r>
                <a:rPr lang="en" sz="1050">
                  <a:solidFill>
                    <a:srgbClr val="7F1D1D"/>
                  </a:solidFill>
                  <a:latin typeface="Montserrat"/>
                  <a:ea typeface="Montserrat"/>
                  <a:cs typeface="Montserrat"/>
                  <a:sym typeface="Montserrat"/>
                </a:rPr>
                <a:t>Exporting all = </a:t>
              </a:r>
              <a:r>
                <a:rPr b="1" lang="en" sz="1050">
                  <a:solidFill>
                    <a:srgbClr val="7F1D1D"/>
                  </a:solidFill>
                  <a:latin typeface="Montserrat"/>
                  <a:ea typeface="Montserrat"/>
                  <a:cs typeface="Montserrat"/>
                  <a:sym typeface="Montserrat"/>
                </a:rPr>
                <a:t>~100MB/s</a:t>
              </a:r>
              <a:r>
                <a:rPr lang="en" sz="1050">
                  <a:solidFill>
                    <a:srgbClr val="7F1D1D"/>
                  </a:solidFill>
                  <a:latin typeface="Montserrat"/>
                  <a:ea typeface="Montserrat"/>
                  <a:cs typeface="Montserrat"/>
                  <a:sym typeface="Montserrat"/>
                </a:rPr>
                <a:t> of flow data per node</a:t>
              </a:r>
              <a:endParaRPr sz="1050">
                <a:solidFill>
                  <a:srgbClr val="7F1D1D"/>
                </a:solidFill>
                <a:latin typeface="Montserrat"/>
                <a:ea typeface="Montserrat"/>
                <a:cs typeface="Montserrat"/>
                <a:sym typeface="Montserrat"/>
              </a:endParaRPr>
            </a:p>
            <a:p>
              <a:pPr indent="-295275" lvl="0" marL="457200" rtl="0" algn="l">
                <a:spcBef>
                  <a:spcPts val="900"/>
                </a:spcBef>
                <a:spcAft>
                  <a:spcPts val="0"/>
                </a:spcAft>
                <a:buClr>
                  <a:srgbClr val="7F1D1D"/>
                </a:buClr>
                <a:buSzPts val="1050"/>
                <a:buFont typeface="Montserrat"/>
                <a:buChar char="●"/>
              </a:pPr>
              <a:r>
                <a:rPr lang="en" sz="1050">
                  <a:solidFill>
                    <a:srgbClr val="7F1D1D"/>
                  </a:solidFill>
                  <a:latin typeface="Montserrat"/>
                  <a:ea typeface="Montserrat"/>
                  <a:cs typeface="Montserrat"/>
                  <a:sym typeface="Montserrat"/>
                </a:rPr>
                <a:t>Pipeline (FLP/Loki) can't keep up; data gets </a:t>
              </a:r>
              <a:r>
                <a:rPr b="1" lang="en" sz="1050">
                  <a:solidFill>
                    <a:srgbClr val="7F1D1D"/>
                  </a:solidFill>
                  <a:latin typeface="Montserrat"/>
                  <a:ea typeface="Montserrat"/>
                  <a:cs typeface="Montserrat"/>
                  <a:sym typeface="Montserrat"/>
                </a:rPr>
                <a:t>dropped or delayed</a:t>
              </a:r>
              <a:endParaRPr sz="1050">
                <a:solidFill>
                  <a:srgbClr val="7F1D1D"/>
                </a:solidFill>
                <a:latin typeface="Montserrat"/>
                <a:ea typeface="Montserrat"/>
                <a:cs typeface="Montserrat"/>
                <a:sym typeface="Montserrat"/>
              </a:endParaRPr>
            </a:p>
          </p:txBody>
        </p:sp>
      </p:grpSp>
      <p:grpSp>
        <p:nvGrpSpPr>
          <p:cNvPr id="678" name="Google Shape;678;p74"/>
          <p:cNvGrpSpPr/>
          <p:nvPr/>
        </p:nvGrpSpPr>
        <p:grpSpPr>
          <a:xfrm>
            <a:off x="4667250" y="2190750"/>
            <a:ext cx="4095900" cy="2000100"/>
            <a:chOff x="4667250" y="2190750"/>
            <a:chExt cx="4095900" cy="2000100"/>
          </a:xfrm>
        </p:grpSpPr>
        <p:sp>
          <p:nvSpPr>
            <p:cNvPr id="679" name="Google Shape;679;p74"/>
            <p:cNvSpPr/>
            <p:nvPr/>
          </p:nvSpPr>
          <p:spPr>
            <a:xfrm>
              <a:off x="4667250" y="2190750"/>
              <a:ext cx="4095900" cy="2000100"/>
            </a:xfrm>
            <a:prstGeom prst="roundRect">
              <a:avLst>
                <a:gd fmla="val 5714" name="adj"/>
              </a:avLst>
            </a:prstGeom>
            <a:solidFill>
              <a:srgbClr val="F0FDF4"/>
            </a:solidFill>
            <a:ln cap="flat" cmpd="sng" w="9525">
              <a:solidFill>
                <a:srgbClr val="DCFC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0" name="Google Shape;680;p74"/>
            <p:cNvSpPr txBox="1"/>
            <p:nvPr/>
          </p:nvSpPr>
          <p:spPr>
            <a:xfrm>
              <a:off x="4905375" y="2333625"/>
              <a:ext cx="36195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6A34A"/>
                  </a:solidFill>
                  <a:latin typeface="Montserrat"/>
                  <a:ea typeface="Montserrat"/>
                  <a:cs typeface="Montserrat"/>
                  <a:sym typeface="Montserrat"/>
                </a:rPr>
                <a:t>Why sampling: 50 is still useful:</a:t>
              </a:r>
              <a:endParaRPr b="1" sz="1300">
                <a:solidFill>
                  <a:srgbClr val="16A34A"/>
                </a:solidFill>
                <a:latin typeface="Montserrat"/>
                <a:ea typeface="Montserrat"/>
                <a:cs typeface="Montserrat"/>
                <a:sym typeface="Montserrat"/>
              </a:endParaRPr>
            </a:p>
            <a:p>
              <a:pPr indent="-295275" lvl="0" marL="457200" rtl="0" algn="l">
                <a:spcBef>
                  <a:spcPts val="1125"/>
                </a:spcBef>
                <a:spcAft>
                  <a:spcPts val="0"/>
                </a:spcAft>
                <a:buClr>
                  <a:srgbClr val="14532D"/>
                </a:buClr>
                <a:buSzPts val="1050"/>
                <a:buFont typeface="Montserrat"/>
                <a:buChar char="●"/>
              </a:pPr>
              <a:r>
                <a:rPr b="1" lang="en" sz="1050">
                  <a:solidFill>
                    <a:srgbClr val="14532D"/>
                  </a:solidFill>
                  <a:latin typeface="Montserrat"/>
                  <a:ea typeface="Montserrat"/>
                  <a:cs typeface="Montserrat"/>
                  <a:sym typeface="Montserrat"/>
                </a:rPr>
                <a:t>Patterns:</a:t>
              </a:r>
              <a:r>
                <a:rPr lang="en" sz="1050">
                  <a:solidFill>
                    <a:srgbClr val="14532D"/>
                  </a:solidFill>
                  <a:latin typeface="Montserrat"/>
                  <a:ea typeface="Montserrat"/>
                  <a:cs typeface="Montserrat"/>
                  <a:sym typeface="Montserrat"/>
                </a:rPr>
                <a:t> 100 drops → 2 drops visible</a:t>
              </a:r>
              <a:endParaRPr sz="1050">
                <a:solidFill>
                  <a:srgbClr val="14532D"/>
                </a:solidFill>
                <a:latin typeface="Montserrat"/>
                <a:ea typeface="Montserrat"/>
                <a:cs typeface="Montserrat"/>
                <a:sym typeface="Montserrat"/>
              </a:endParaRPr>
            </a:p>
            <a:p>
              <a:pPr indent="-295275" lvl="0" marL="457200" rtl="0" algn="l">
                <a:spcBef>
                  <a:spcPts val="750"/>
                </a:spcBef>
                <a:spcAft>
                  <a:spcPts val="0"/>
                </a:spcAft>
                <a:buClr>
                  <a:srgbClr val="14532D"/>
                </a:buClr>
                <a:buSzPts val="1050"/>
                <a:buFont typeface="Montserrat"/>
                <a:buChar char="●"/>
              </a:pPr>
              <a:r>
                <a:rPr b="1" lang="en" sz="1050">
                  <a:solidFill>
                    <a:srgbClr val="14532D"/>
                  </a:solidFill>
                  <a:latin typeface="Montserrat"/>
                  <a:ea typeface="Montserrat"/>
                  <a:cs typeface="Montserrat"/>
                  <a:sym typeface="Montserrat"/>
                </a:rPr>
                <a:t>CT_TABLE_FULL:</a:t>
              </a:r>
              <a:r>
                <a:rPr lang="en" sz="1050">
                  <a:solidFill>
                    <a:srgbClr val="14532D"/>
                  </a:solidFill>
                  <a:latin typeface="Montserrat"/>
                  <a:ea typeface="Montserrat"/>
                  <a:cs typeface="Montserrat"/>
                  <a:sym typeface="Montserrat"/>
                </a:rPr>
                <a:t> 1000 pkts → ~20 visible</a:t>
              </a:r>
              <a:endParaRPr sz="1050">
                <a:solidFill>
                  <a:srgbClr val="14532D"/>
                </a:solidFill>
                <a:latin typeface="Montserrat"/>
                <a:ea typeface="Montserrat"/>
                <a:cs typeface="Montserrat"/>
                <a:sym typeface="Montserrat"/>
              </a:endParaRPr>
            </a:p>
            <a:p>
              <a:pPr indent="-295275" lvl="0" marL="457200" rtl="0" algn="l">
                <a:spcBef>
                  <a:spcPts val="750"/>
                </a:spcBef>
                <a:spcAft>
                  <a:spcPts val="0"/>
                </a:spcAft>
                <a:buClr>
                  <a:srgbClr val="14532D"/>
                </a:buClr>
                <a:buSzPts val="1050"/>
                <a:buFont typeface="Montserrat"/>
                <a:buChar char="●"/>
              </a:pPr>
              <a:r>
                <a:rPr b="1" lang="en" sz="1050">
                  <a:solidFill>
                    <a:srgbClr val="14532D"/>
                  </a:solidFill>
                  <a:latin typeface="Montserrat"/>
                  <a:ea typeface="Montserrat"/>
                  <a:cs typeface="Montserrat"/>
                  <a:sym typeface="Montserrat"/>
                </a:rPr>
                <a:t>DNS Failures:</a:t>
              </a:r>
              <a:r>
                <a:rPr lang="en" sz="1050">
                  <a:solidFill>
                    <a:srgbClr val="14532D"/>
                  </a:solidFill>
                  <a:latin typeface="Montserrat"/>
                  <a:ea typeface="Montserrat"/>
                  <a:cs typeface="Montserrat"/>
                  <a:sym typeface="Montserrat"/>
                </a:rPr>
                <a:t> Every failed query captured (Port 53)</a:t>
              </a:r>
              <a:endParaRPr sz="1050">
                <a:solidFill>
                  <a:srgbClr val="14532D"/>
                </a:solidFill>
                <a:latin typeface="Montserrat"/>
                <a:ea typeface="Montserrat"/>
                <a:cs typeface="Montserrat"/>
                <a:sym typeface="Montserrat"/>
              </a:endParaRPr>
            </a:p>
            <a:p>
              <a:pPr indent="-295275" lvl="0" marL="457200" rtl="0" algn="l">
                <a:spcBef>
                  <a:spcPts val="750"/>
                </a:spcBef>
                <a:spcAft>
                  <a:spcPts val="0"/>
                </a:spcAft>
                <a:buClr>
                  <a:srgbClr val="14532D"/>
                </a:buClr>
                <a:buSzPts val="1050"/>
                <a:buFont typeface="Montserrat"/>
                <a:buChar char="●"/>
              </a:pPr>
              <a:r>
                <a:rPr b="1" lang="en" sz="1050">
                  <a:solidFill>
                    <a:srgbClr val="14532D"/>
                  </a:solidFill>
                  <a:latin typeface="Montserrat"/>
                  <a:ea typeface="Montserrat"/>
                  <a:cs typeface="Montserrat"/>
                  <a:sym typeface="Montserrat"/>
                </a:rPr>
                <a:t>Reason Codes:</a:t>
              </a:r>
              <a:r>
                <a:rPr lang="en" sz="1050">
                  <a:solidFill>
                    <a:srgbClr val="14532D"/>
                  </a:solidFill>
                  <a:latin typeface="Montserrat"/>
                  <a:ea typeface="Montserrat"/>
                  <a:cs typeface="Montserrat"/>
                  <a:sym typeface="Montserrat"/>
                </a:rPr>
                <a:t> Even 1 sampled drop reveals the cause</a:t>
              </a:r>
              <a:endParaRPr sz="1050">
                <a:solidFill>
                  <a:srgbClr val="14532D"/>
                </a:solidFill>
                <a:latin typeface="Montserrat"/>
                <a:ea typeface="Montserrat"/>
                <a:cs typeface="Montserrat"/>
                <a:sym typeface="Montserrat"/>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4" name="Shape 684"/>
        <p:cNvGrpSpPr/>
        <p:nvPr/>
      </p:nvGrpSpPr>
      <p:grpSpPr>
        <a:xfrm>
          <a:off x="0" y="0"/>
          <a:ext cx="0" cy="0"/>
          <a:chOff x="0" y="0"/>
          <a:chExt cx="0" cy="0"/>
        </a:xfrm>
      </p:grpSpPr>
      <p:sp>
        <p:nvSpPr>
          <p:cNvPr id="685" name="Google Shape;685;p75"/>
          <p:cNvSpPr/>
          <p:nvPr/>
        </p:nvSpPr>
        <p:spPr>
          <a:xfrm>
            <a:off x="0" y="4381500"/>
            <a:ext cx="9144000" cy="7620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86" name="Google Shape;686;p75"/>
          <p:cNvPicPr preferRelativeResize="0"/>
          <p:nvPr/>
        </p:nvPicPr>
        <p:blipFill rotWithShape="1">
          <a:blip r:embed="rId4">
            <a:alphaModFix/>
          </a:blip>
          <a:srcRect b="0" l="0" r="0" t="0"/>
          <a:stretch/>
        </p:blipFill>
        <p:spPr>
          <a:xfrm>
            <a:off x="7991465" y="4501353"/>
            <a:ext cx="552900" cy="572700"/>
          </a:xfrm>
          <a:prstGeom prst="rect">
            <a:avLst/>
          </a:prstGeom>
          <a:noFill/>
          <a:ln>
            <a:noFill/>
          </a:ln>
        </p:spPr>
      </p:pic>
      <p:sp>
        <p:nvSpPr>
          <p:cNvPr id="687" name="Google Shape;687;p75"/>
          <p:cNvSpPr/>
          <p:nvPr/>
        </p:nvSpPr>
        <p:spPr>
          <a:xfrm>
            <a:off x="381000" y="381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8" name="Google Shape;688;p75"/>
          <p:cNvSpPr txBox="1"/>
          <p:nvPr/>
        </p:nvSpPr>
        <p:spPr>
          <a:xfrm>
            <a:off x="523875" y="381000"/>
            <a:ext cx="7800000" cy="431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2800">
                <a:solidFill>
                  <a:srgbClr val="1E293B"/>
                </a:solidFill>
                <a:latin typeface="Montserrat"/>
                <a:ea typeface="Montserrat"/>
                <a:cs typeface="Montserrat"/>
                <a:sym typeface="Montserrat"/>
              </a:rPr>
              <a:t>NOO Architecture — Deep Dive</a:t>
            </a:r>
            <a:endParaRPr b="1" sz="2800">
              <a:solidFill>
                <a:srgbClr val="1E293B"/>
              </a:solidFill>
              <a:latin typeface="Montserrat"/>
              <a:ea typeface="Montserrat"/>
              <a:cs typeface="Montserrat"/>
              <a:sym typeface="Montserrat"/>
            </a:endParaRPr>
          </a:p>
        </p:txBody>
      </p:sp>
      <p:grpSp>
        <p:nvGrpSpPr>
          <p:cNvPr id="689" name="Google Shape;689;p75"/>
          <p:cNvGrpSpPr/>
          <p:nvPr/>
        </p:nvGrpSpPr>
        <p:grpSpPr>
          <a:xfrm>
            <a:off x="381000" y="1143000"/>
            <a:ext cx="8429475" cy="3048000"/>
            <a:chOff x="381000" y="1143000"/>
            <a:chExt cx="8429475" cy="3048000"/>
          </a:xfrm>
        </p:grpSpPr>
        <p:sp>
          <p:nvSpPr>
            <p:cNvPr id="690" name="Google Shape;690;p75"/>
            <p:cNvSpPr/>
            <p:nvPr/>
          </p:nvSpPr>
          <p:spPr>
            <a:xfrm>
              <a:off x="381000" y="1143000"/>
              <a:ext cx="2000100" cy="30480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1" name="Google Shape;691;p75"/>
            <p:cNvSpPr txBox="1"/>
            <p:nvPr/>
          </p:nvSpPr>
          <p:spPr>
            <a:xfrm>
              <a:off x="523875" y="1285875"/>
              <a:ext cx="1714500" cy="2762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7B68EE"/>
                  </a:solidFill>
                  <a:latin typeface="Material Icons"/>
                  <a:ea typeface="Material Icons"/>
                  <a:cs typeface="Material Icons"/>
                  <a:sym typeface="Material Icons"/>
                </a:rPr>
                <a:t>memory</a:t>
              </a:r>
              <a:r>
                <a:rPr b="1" lang="en" sz="1300">
                  <a:solidFill>
                    <a:srgbClr val="7B68EE"/>
                  </a:solidFill>
                  <a:latin typeface="Montserrat"/>
                  <a:ea typeface="Montserrat"/>
                  <a:cs typeface="Montserrat"/>
                  <a:sym typeface="Montserrat"/>
                </a:rPr>
                <a:t>1. eBPF Agent</a:t>
              </a:r>
              <a:endParaRPr b="1" sz="1300">
                <a:solidFill>
                  <a:srgbClr val="7B68EE"/>
                </a:solidFill>
                <a:latin typeface="Montserrat"/>
                <a:ea typeface="Montserrat"/>
                <a:cs typeface="Montserrat"/>
                <a:sym typeface="Montserrat"/>
              </a:endParaRPr>
            </a:p>
            <a:p>
              <a:pPr indent="0" lvl="0" marL="0" rtl="0" algn="l">
                <a:spcBef>
                  <a:spcPts val="1200"/>
                </a:spcBef>
                <a:spcAft>
                  <a:spcPts val="0"/>
                </a:spcAft>
                <a:buNone/>
              </a:pPr>
              <a:r>
                <a:rPr b="0" lang="en" sz="1000">
                  <a:solidFill>
                    <a:srgbClr val="475569"/>
                  </a:solidFill>
                  <a:latin typeface="Montserrat"/>
                  <a:ea typeface="Montserrat"/>
                  <a:cs typeface="Montserrat"/>
                  <a:sym typeface="Montserrat"/>
                </a:rPr>
                <a:t>Loads programs into kernel at boot (DaemonSet)</a:t>
              </a:r>
              <a:endParaRPr b="1" sz="1300">
                <a:solidFill>
                  <a:srgbClr val="7B68EE"/>
                </a:solidFill>
                <a:latin typeface="Montserrat"/>
                <a:ea typeface="Montserrat"/>
                <a:cs typeface="Montserrat"/>
                <a:sym typeface="Montserrat"/>
              </a:endParaRPr>
            </a:p>
            <a:p>
              <a:pPr indent="0" lvl="0" marL="0" rtl="0" algn="l">
                <a:spcBef>
                  <a:spcPts val="800"/>
                </a:spcBef>
                <a:spcAft>
                  <a:spcPts val="0"/>
                </a:spcAft>
                <a:buNone/>
              </a:pPr>
              <a:r>
                <a:rPr b="0" lang="en" sz="1000">
                  <a:solidFill>
                    <a:srgbClr val="475569"/>
                  </a:solidFill>
                  <a:latin typeface="Montserrat"/>
                  <a:ea typeface="Montserrat"/>
                  <a:cs typeface="Montserrat"/>
                  <a:sym typeface="Montserrat"/>
                </a:rPr>
                <a:t>TC hook: attached to EVERY interface</a:t>
              </a:r>
              <a:endParaRPr b="1" sz="1300">
                <a:solidFill>
                  <a:srgbClr val="7B68EE"/>
                </a:solidFill>
                <a:latin typeface="Montserrat"/>
                <a:ea typeface="Montserrat"/>
                <a:cs typeface="Montserrat"/>
                <a:sym typeface="Montserrat"/>
              </a:endParaRPr>
            </a:p>
            <a:p>
              <a:pPr indent="0" lvl="0" marL="0" rtl="0" algn="l">
                <a:spcBef>
                  <a:spcPts val="800"/>
                </a:spcBef>
                <a:spcAft>
                  <a:spcPts val="0"/>
                </a:spcAft>
                <a:buNone/>
              </a:pPr>
              <a:r>
                <a:rPr b="0" lang="en" sz="1000">
                  <a:solidFill>
                    <a:srgbClr val="475569"/>
                  </a:solidFill>
                  <a:latin typeface="Montserrat"/>
                  <a:ea typeface="Montserrat"/>
                  <a:cs typeface="Montserrat"/>
                  <a:sym typeface="Montserrat"/>
                </a:rPr>
                <a:t>kfree_skb: kernel drop tracepoint tracking</a:t>
              </a:r>
              <a:endParaRPr b="1" sz="1300">
                <a:solidFill>
                  <a:srgbClr val="7B68EE"/>
                </a:solidFill>
                <a:latin typeface="Montserrat"/>
                <a:ea typeface="Montserrat"/>
                <a:cs typeface="Montserrat"/>
                <a:sym typeface="Montserrat"/>
              </a:endParaRPr>
            </a:p>
            <a:p>
              <a:pPr indent="0" lvl="0" marL="0" rtl="0" algn="l">
                <a:spcBef>
                  <a:spcPts val="800"/>
                </a:spcBef>
                <a:spcAft>
                  <a:spcPts val="0"/>
                </a:spcAft>
                <a:buNone/>
              </a:pPr>
              <a:r>
                <a:rPr b="0" lang="en" sz="1000">
                  <a:solidFill>
                    <a:srgbClr val="475569"/>
                  </a:solidFill>
                  <a:latin typeface="Montserrat"/>
                  <a:ea typeface="Montserrat"/>
                  <a:cs typeface="Montserrat"/>
                  <a:sym typeface="Montserrat"/>
                </a:rPr>
                <a:t>Export flow records to FLP (default: 15s in NOO 1.11)</a:t>
              </a:r>
              <a:endParaRPr b="1" sz="1300">
                <a:solidFill>
                  <a:srgbClr val="7B68EE"/>
                </a:solidFill>
                <a:latin typeface="Montserrat"/>
                <a:ea typeface="Montserrat"/>
                <a:cs typeface="Montserrat"/>
                <a:sym typeface="Montserrat"/>
              </a:endParaRPr>
            </a:p>
          </p:txBody>
        </p:sp>
        <p:sp>
          <p:nvSpPr>
            <p:cNvPr id="692" name="Google Shape;692;p75"/>
            <p:cNvSpPr/>
            <p:nvPr/>
          </p:nvSpPr>
          <p:spPr>
            <a:xfrm>
              <a:off x="2524125" y="1143000"/>
              <a:ext cx="2000100" cy="30480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3" name="Google Shape;693;p75"/>
            <p:cNvSpPr txBox="1"/>
            <p:nvPr/>
          </p:nvSpPr>
          <p:spPr>
            <a:xfrm>
              <a:off x="2667000" y="1285875"/>
              <a:ext cx="1714500" cy="2762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7B68EE"/>
                  </a:solidFill>
                  <a:latin typeface="Material Icons"/>
                  <a:ea typeface="Material Icons"/>
                  <a:cs typeface="Material Icons"/>
                  <a:sym typeface="Material Icons"/>
                </a:rPr>
                <a:t>alt_route</a:t>
              </a:r>
              <a:r>
                <a:rPr b="1" lang="en" sz="1300">
                  <a:solidFill>
                    <a:srgbClr val="7B68EE"/>
                  </a:solidFill>
                  <a:latin typeface="Montserrat"/>
                  <a:ea typeface="Montserrat"/>
                  <a:cs typeface="Montserrat"/>
                  <a:sym typeface="Montserrat"/>
                </a:rPr>
                <a:t>2. Pipeline (FLP)</a:t>
              </a:r>
              <a:endParaRPr b="1" sz="1300">
                <a:solidFill>
                  <a:srgbClr val="7B68EE"/>
                </a:solidFill>
                <a:latin typeface="Montserrat"/>
                <a:ea typeface="Montserrat"/>
                <a:cs typeface="Montserrat"/>
                <a:sym typeface="Montserrat"/>
              </a:endParaRPr>
            </a:p>
            <a:p>
              <a:pPr indent="0" lvl="0" marL="0" rtl="0" algn="l">
                <a:spcBef>
                  <a:spcPts val="1200"/>
                </a:spcBef>
                <a:spcAft>
                  <a:spcPts val="0"/>
                </a:spcAft>
                <a:buNone/>
              </a:pPr>
              <a:r>
                <a:rPr b="0" lang="en" sz="1000">
                  <a:solidFill>
                    <a:srgbClr val="475569"/>
                  </a:solidFill>
                  <a:latin typeface="Montserrat"/>
                  <a:ea typeface="Montserrat"/>
                  <a:cs typeface="Montserrat"/>
                  <a:sym typeface="Montserrat"/>
                </a:rPr>
                <a:t>Receives raw flow records from eBPF agents</a:t>
              </a:r>
              <a:endParaRPr b="1" sz="1300">
                <a:solidFill>
                  <a:srgbClr val="7B68EE"/>
                </a:solidFill>
                <a:latin typeface="Montserrat"/>
                <a:ea typeface="Montserrat"/>
                <a:cs typeface="Montserrat"/>
                <a:sym typeface="Montserrat"/>
              </a:endParaRPr>
            </a:p>
            <a:p>
              <a:pPr indent="0" lvl="0" marL="0" rtl="0" algn="l">
                <a:spcBef>
                  <a:spcPts val="800"/>
                </a:spcBef>
                <a:spcAft>
                  <a:spcPts val="0"/>
                </a:spcAft>
                <a:buNone/>
              </a:pPr>
              <a:r>
                <a:rPr b="0" lang="en" sz="1000">
                  <a:solidFill>
                    <a:srgbClr val="475569"/>
                  </a:solidFill>
                  <a:latin typeface="Montserrat"/>
                  <a:ea typeface="Montserrat"/>
                  <a:cs typeface="Montserrat"/>
                  <a:sym typeface="Montserrat"/>
                </a:rPr>
                <a:t>Enrichment: queries K8s API for metadata</a:t>
              </a:r>
              <a:endParaRPr b="1" sz="1300">
                <a:solidFill>
                  <a:srgbClr val="7B68EE"/>
                </a:solidFill>
                <a:latin typeface="Montserrat"/>
                <a:ea typeface="Montserrat"/>
                <a:cs typeface="Montserrat"/>
                <a:sym typeface="Montserrat"/>
              </a:endParaRPr>
            </a:p>
            <a:p>
              <a:pPr indent="0" lvl="0" marL="0" rtl="0" algn="l">
                <a:spcBef>
                  <a:spcPts val="800"/>
                </a:spcBef>
                <a:spcAft>
                  <a:spcPts val="0"/>
                </a:spcAft>
                <a:buNone/>
              </a:pPr>
              <a:r>
                <a:rPr b="0" lang="en" sz="1000">
                  <a:solidFill>
                    <a:srgbClr val="475569"/>
                  </a:solidFill>
                  <a:latin typeface="Montserrat"/>
                  <a:ea typeface="Montserrat"/>
                  <a:cs typeface="Montserrat"/>
                  <a:sym typeface="Montserrat"/>
                </a:rPr>
                <a:t>Aggregation: merges duplicate flows</a:t>
              </a:r>
              <a:endParaRPr b="1" sz="1300">
                <a:solidFill>
                  <a:srgbClr val="7B68EE"/>
                </a:solidFill>
                <a:latin typeface="Montserrat"/>
                <a:ea typeface="Montserrat"/>
                <a:cs typeface="Montserrat"/>
                <a:sym typeface="Montserrat"/>
              </a:endParaRPr>
            </a:p>
            <a:p>
              <a:pPr indent="0" lvl="0" marL="0" rtl="0" algn="l">
                <a:spcBef>
                  <a:spcPts val="800"/>
                </a:spcBef>
                <a:spcAft>
                  <a:spcPts val="0"/>
                </a:spcAft>
                <a:buNone/>
              </a:pPr>
              <a:r>
                <a:rPr b="0" lang="en" sz="1000">
                  <a:solidFill>
                    <a:srgbClr val="475569"/>
                  </a:solidFill>
                  <a:latin typeface="Montserrat"/>
                  <a:ea typeface="Montserrat"/>
                  <a:cs typeface="Montserrat"/>
                  <a:sym typeface="Montserrat"/>
                </a:rPr>
                <a:t>Exports to Loki and Prometheus</a:t>
              </a:r>
              <a:endParaRPr b="1" sz="1300">
                <a:solidFill>
                  <a:srgbClr val="7B68EE"/>
                </a:solidFill>
                <a:latin typeface="Montserrat"/>
                <a:ea typeface="Montserrat"/>
                <a:cs typeface="Montserrat"/>
                <a:sym typeface="Montserrat"/>
              </a:endParaRPr>
            </a:p>
          </p:txBody>
        </p:sp>
        <p:sp>
          <p:nvSpPr>
            <p:cNvPr id="694" name="Google Shape;694;p75"/>
            <p:cNvSpPr/>
            <p:nvPr/>
          </p:nvSpPr>
          <p:spPr>
            <a:xfrm>
              <a:off x="4667250" y="1143000"/>
              <a:ext cx="2000100" cy="30480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5" name="Google Shape;695;p75"/>
            <p:cNvSpPr txBox="1"/>
            <p:nvPr/>
          </p:nvSpPr>
          <p:spPr>
            <a:xfrm>
              <a:off x="4810125" y="1285875"/>
              <a:ext cx="1714500" cy="2762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7B68EE"/>
                  </a:solidFill>
                  <a:latin typeface="Material Icons"/>
                  <a:ea typeface="Material Icons"/>
                  <a:cs typeface="Material Icons"/>
                  <a:sym typeface="Material Icons"/>
                </a:rPr>
                <a:t>storage</a:t>
              </a:r>
              <a:r>
                <a:rPr b="1" lang="en" sz="1300">
                  <a:solidFill>
                    <a:srgbClr val="7B68EE"/>
                  </a:solidFill>
                  <a:latin typeface="Montserrat"/>
                  <a:ea typeface="Montserrat"/>
                  <a:cs typeface="Montserrat"/>
                  <a:sym typeface="Montserrat"/>
                </a:rPr>
                <a:t>3. Storage</a:t>
              </a:r>
              <a:endParaRPr b="1" sz="1300">
                <a:solidFill>
                  <a:srgbClr val="7B68EE"/>
                </a:solidFill>
                <a:latin typeface="Montserrat"/>
                <a:ea typeface="Montserrat"/>
                <a:cs typeface="Montserrat"/>
                <a:sym typeface="Montserrat"/>
              </a:endParaRPr>
            </a:p>
            <a:p>
              <a:pPr indent="0" lvl="0" marL="0" rtl="0" algn="l">
                <a:spcBef>
                  <a:spcPts val="1200"/>
                </a:spcBef>
                <a:spcAft>
                  <a:spcPts val="0"/>
                </a:spcAft>
                <a:buNone/>
              </a:pPr>
              <a:r>
                <a:rPr b="1" lang="en" sz="1050">
                  <a:solidFill>
                    <a:srgbClr val="1E293B"/>
                  </a:solidFill>
                  <a:latin typeface="Montserrat"/>
                  <a:ea typeface="Montserrat"/>
                  <a:cs typeface="Montserrat"/>
                  <a:sym typeface="Montserrat"/>
                </a:rPr>
                <a:t>Loki</a:t>
              </a:r>
              <a:endParaRPr b="1" sz="1050">
                <a:solidFill>
                  <a:srgbClr val="1E293B"/>
                </a:solidFill>
                <a:latin typeface="Montserrat"/>
                <a:ea typeface="Montserrat"/>
                <a:cs typeface="Montserrat"/>
                <a:sym typeface="Montserrat"/>
              </a:endParaRPr>
            </a:p>
            <a:p>
              <a:pPr indent="0" lvl="0" marL="0" rtl="0" algn="l">
                <a:spcBef>
                  <a:spcPts val="0"/>
                </a:spcBef>
                <a:spcAft>
                  <a:spcPts val="0"/>
                </a:spcAft>
                <a:buNone/>
              </a:pPr>
              <a:r>
                <a:rPr b="0" lang="en" sz="950">
                  <a:solidFill>
                    <a:srgbClr val="475569"/>
                  </a:solidFill>
                  <a:latin typeface="Montserrat"/>
                  <a:ea typeface="Montserrat"/>
                  <a:cs typeface="Montserrat"/>
                  <a:sym typeface="Montserrat"/>
                </a:rPr>
                <a:t>Flow logs with labels for fast querying</a:t>
              </a:r>
              <a:endParaRPr b="0" sz="950">
                <a:solidFill>
                  <a:srgbClr val="475569"/>
                </a:solidFill>
                <a:latin typeface="Montserrat"/>
                <a:ea typeface="Montserrat"/>
                <a:cs typeface="Montserrat"/>
                <a:sym typeface="Montserrat"/>
              </a:endParaRPr>
            </a:p>
            <a:p>
              <a:pPr indent="0" lvl="0" marL="0" rtl="0" algn="l">
                <a:spcBef>
                  <a:spcPts val="1000"/>
                </a:spcBef>
                <a:spcAft>
                  <a:spcPts val="0"/>
                </a:spcAft>
                <a:buNone/>
              </a:pPr>
              <a:r>
                <a:rPr b="1" lang="en" sz="1050">
                  <a:solidFill>
                    <a:srgbClr val="1E293B"/>
                  </a:solidFill>
                  <a:latin typeface="Montserrat"/>
                  <a:ea typeface="Montserrat"/>
                  <a:cs typeface="Montserrat"/>
                  <a:sym typeface="Montserrat"/>
                </a:rPr>
                <a:t>Prometheus</a:t>
              </a:r>
              <a:endParaRPr b="1" sz="1050">
                <a:solidFill>
                  <a:srgbClr val="1E293B"/>
                </a:solidFill>
                <a:latin typeface="Montserrat"/>
                <a:ea typeface="Montserrat"/>
                <a:cs typeface="Montserrat"/>
                <a:sym typeface="Montserrat"/>
              </a:endParaRPr>
            </a:p>
            <a:p>
              <a:pPr indent="0" lvl="0" marL="0" rtl="0" algn="l">
                <a:spcBef>
                  <a:spcPts val="0"/>
                </a:spcBef>
                <a:spcAft>
                  <a:spcPts val="0"/>
                </a:spcAft>
                <a:buNone/>
              </a:pPr>
              <a:r>
                <a:rPr b="0" lang="en" sz="950">
                  <a:solidFill>
                    <a:srgbClr val="475569"/>
                  </a:solidFill>
                  <a:latin typeface="Montserrat"/>
                  <a:ea typeface="Montserrat"/>
                  <a:cs typeface="Montserrat"/>
                  <a:sym typeface="Montserrat"/>
                </a:rPr>
                <a:t>Metrics for alerting and graphing</a:t>
              </a:r>
              <a:endParaRPr b="0" sz="950">
                <a:solidFill>
                  <a:srgbClr val="475569"/>
                </a:solidFill>
                <a:latin typeface="Montserrat"/>
                <a:ea typeface="Montserrat"/>
                <a:cs typeface="Montserrat"/>
                <a:sym typeface="Montserrat"/>
              </a:endParaRPr>
            </a:p>
          </p:txBody>
        </p:sp>
        <p:sp>
          <p:nvSpPr>
            <p:cNvPr id="696" name="Google Shape;696;p75"/>
            <p:cNvSpPr/>
            <p:nvPr/>
          </p:nvSpPr>
          <p:spPr>
            <a:xfrm>
              <a:off x="6810375" y="1143000"/>
              <a:ext cx="2000100" cy="30480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7" name="Google Shape;697;p75"/>
            <p:cNvSpPr txBox="1"/>
            <p:nvPr/>
          </p:nvSpPr>
          <p:spPr>
            <a:xfrm>
              <a:off x="6953250" y="1285875"/>
              <a:ext cx="1714500" cy="2762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7B68EE"/>
                  </a:solidFill>
                  <a:latin typeface="Material Icons"/>
                  <a:ea typeface="Material Icons"/>
                  <a:cs typeface="Material Icons"/>
                  <a:sym typeface="Material Icons"/>
                </a:rPr>
                <a:t>dashboard</a:t>
              </a:r>
              <a:r>
                <a:rPr b="1" lang="en" sz="1300">
                  <a:solidFill>
                    <a:srgbClr val="7B68EE"/>
                  </a:solidFill>
                  <a:latin typeface="Montserrat"/>
                  <a:ea typeface="Montserrat"/>
                  <a:cs typeface="Montserrat"/>
                  <a:sym typeface="Montserrat"/>
                </a:rPr>
                <a:t>4. Console Plugin</a:t>
              </a:r>
              <a:endParaRPr b="1" sz="1300">
                <a:solidFill>
                  <a:srgbClr val="7B68EE"/>
                </a:solidFill>
                <a:latin typeface="Montserrat"/>
                <a:ea typeface="Montserrat"/>
                <a:cs typeface="Montserrat"/>
                <a:sym typeface="Montserrat"/>
              </a:endParaRPr>
            </a:p>
            <a:p>
              <a:pPr indent="0" lvl="0" marL="0" rtl="0" algn="l">
                <a:spcBef>
                  <a:spcPts val="1200"/>
                </a:spcBef>
                <a:spcAft>
                  <a:spcPts val="0"/>
                </a:spcAft>
                <a:buNone/>
              </a:pPr>
              <a:r>
                <a:rPr b="0" lang="en" sz="1000">
                  <a:solidFill>
                    <a:srgbClr val="475569"/>
                  </a:solidFill>
                  <a:latin typeface="Montserrat"/>
                  <a:ea typeface="Montserrat"/>
                  <a:cs typeface="Montserrat"/>
                  <a:sym typeface="Montserrat"/>
                </a:rPr>
                <a:t>Queries Loki and Prometheus to render intuitive, real-time observability dashboards for network flows.</a:t>
              </a:r>
              <a:endParaRPr b="0" sz="1000">
                <a:solidFill>
                  <a:srgbClr val="475569"/>
                </a:solidFill>
                <a:latin typeface="Montserrat"/>
                <a:ea typeface="Montserrat"/>
                <a:cs typeface="Montserrat"/>
                <a:sym typeface="Montserrat"/>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1" name="Shape 701"/>
        <p:cNvGrpSpPr/>
        <p:nvPr/>
      </p:nvGrpSpPr>
      <p:grpSpPr>
        <a:xfrm>
          <a:off x="0" y="0"/>
          <a:ext cx="0" cy="0"/>
          <a:chOff x="0" y="0"/>
          <a:chExt cx="0" cy="0"/>
        </a:xfrm>
      </p:grpSpPr>
      <p:sp>
        <p:nvSpPr>
          <p:cNvPr id="702" name="Google Shape;702;p76"/>
          <p:cNvSpPr/>
          <p:nvPr/>
        </p:nvSpPr>
        <p:spPr>
          <a:xfrm>
            <a:off x="0" y="4381500"/>
            <a:ext cx="9144000" cy="762000"/>
          </a:xfrm>
          <a:prstGeom prst="rect">
            <a:avLst/>
          </a:prstGeom>
          <a:solidFill>
            <a:srgbClr val="8E83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03" name="Google Shape;703;p76"/>
          <p:cNvGrpSpPr/>
          <p:nvPr/>
        </p:nvGrpSpPr>
        <p:grpSpPr>
          <a:xfrm>
            <a:off x="381000" y="381000"/>
            <a:ext cx="8382000" cy="381000"/>
            <a:chOff x="381000" y="381000"/>
            <a:chExt cx="8382000" cy="381000"/>
          </a:xfrm>
        </p:grpSpPr>
        <p:sp>
          <p:nvSpPr>
            <p:cNvPr id="704" name="Google Shape;704;p76"/>
            <p:cNvSpPr/>
            <p:nvPr/>
          </p:nvSpPr>
          <p:spPr>
            <a:xfrm>
              <a:off x="381000" y="381000"/>
              <a:ext cx="38100" cy="3810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5" name="Google Shape;705;p76"/>
            <p:cNvSpPr txBox="1"/>
            <p:nvPr/>
          </p:nvSpPr>
          <p:spPr>
            <a:xfrm>
              <a:off x="533400" y="381000"/>
              <a:ext cx="82296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1E293B"/>
                  </a:solidFill>
                  <a:latin typeface="Montserrat"/>
                  <a:ea typeface="Montserrat"/>
                  <a:cs typeface="Montserrat"/>
                  <a:sym typeface="Montserrat"/>
                </a:rPr>
                <a:t>eBPF Features — What Each One Does</a:t>
              </a:r>
              <a:endParaRPr b="1" sz="2400">
                <a:solidFill>
                  <a:srgbClr val="1E293B"/>
                </a:solidFill>
                <a:latin typeface="Montserrat"/>
                <a:ea typeface="Montserrat"/>
                <a:cs typeface="Montserrat"/>
                <a:sym typeface="Montserrat"/>
              </a:endParaRPr>
            </a:p>
          </p:txBody>
        </p:sp>
      </p:grpSp>
      <p:grpSp>
        <p:nvGrpSpPr>
          <p:cNvPr id="706" name="Google Shape;706;p76"/>
          <p:cNvGrpSpPr/>
          <p:nvPr/>
        </p:nvGrpSpPr>
        <p:grpSpPr>
          <a:xfrm>
            <a:off x="333375" y="1000125"/>
            <a:ext cx="8477250" cy="3095550"/>
            <a:chOff x="333375" y="1000125"/>
            <a:chExt cx="8477250" cy="3095550"/>
          </a:xfrm>
        </p:grpSpPr>
        <p:sp>
          <p:nvSpPr>
            <p:cNvPr id="707" name="Google Shape;707;p76"/>
            <p:cNvSpPr/>
            <p:nvPr/>
          </p:nvSpPr>
          <p:spPr>
            <a:xfrm>
              <a:off x="333375" y="1000125"/>
              <a:ext cx="4191000" cy="1476300"/>
            </a:xfrm>
            <a:prstGeom prst="roundRect">
              <a:avLst>
                <a:gd fmla="val 774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08" name="Google Shape;708;p76"/>
            <p:cNvGrpSpPr/>
            <p:nvPr/>
          </p:nvGrpSpPr>
          <p:grpSpPr>
            <a:xfrm>
              <a:off x="333375" y="1000125"/>
              <a:ext cx="4191000" cy="381000"/>
              <a:chOff x="333375" y="1000125"/>
              <a:chExt cx="4191000" cy="381000"/>
            </a:xfrm>
          </p:grpSpPr>
          <p:sp>
            <p:nvSpPr>
              <p:cNvPr id="709" name="Google Shape;709;p76"/>
              <p:cNvSpPr/>
              <p:nvPr/>
            </p:nvSpPr>
            <p:spPr>
              <a:xfrm>
                <a:off x="333375" y="1000125"/>
                <a:ext cx="4191000" cy="381000"/>
              </a:xfrm>
              <a:prstGeom prst="roundRect">
                <a:avLst>
                  <a:gd fmla="val 30000" name="adj"/>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0" name="Google Shape;710;p76"/>
              <p:cNvSpPr/>
              <p:nvPr/>
            </p:nvSpPr>
            <p:spPr>
              <a:xfrm>
                <a:off x="333375" y="1190625"/>
                <a:ext cx="4191000" cy="1905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1" name="Google Shape;711;p76"/>
              <p:cNvSpPr txBox="1"/>
              <p:nvPr/>
            </p:nvSpPr>
            <p:spPr>
              <a:xfrm>
                <a:off x="476250" y="1047750"/>
                <a:ext cx="3905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FFFF"/>
                    </a:solidFill>
                    <a:latin typeface="Montserrat"/>
                    <a:ea typeface="Montserrat"/>
                    <a:cs typeface="Montserrat"/>
                    <a:sym typeface="Montserrat"/>
                  </a:rPr>
                  <a:t>PacketDrop (kfree_skb tracepoint)</a:t>
                </a:r>
                <a:endParaRPr b="1" sz="1300">
                  <a:solidFill>
                    <a:srgbClr val="FFFFFF"/>
                  </a:solidFill>
                  <a:latin typeface="Montserrat"/>
                  <a:ea typeface="Montserrat"/>
                  <a:cs typeface="Montserrat"/>
                  <a:sym typeface="Montserrat"/>
                </a:endParaRPr>
              </a:p>
            </p:txBody>
          </p:sp>
        </p:grpSp>
        <p:sp>
          <p:nvSpPr>
            <p:cNvPr id="712" name="Google Shape;712;p76"/>
            <p:cNvSpPr txBox="1"/>
            <p:nvPr/>
          </p:nvSpPr>
          <p:spPr>
            <a:xfrm>
              <a:off x="476250" y="1381125"/>
              <a:ext cx="3905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475569"/>
                  </a:solidFill>
                  <a:latin typeface="Montserrat"/>
                  <a:ea typeface="Montserrat"/>
                  <a:cs typeface="Montserrat"/>
                  <a:sym typeface="Montserrat"/>
                </a:rPr>
                <a:t>Fires when kernel DROPS a packet. Reports reason code.</a:t>
              </a:r>
              <a:endParaRPr sz="1000">
                <a:solidFill>
                  <a:srgbClr val="475569"/>
                </a:solidFill>
                <a:latin typeface="Montserrat"/>
                <a:ea typeface="Montserrat"/>
                <a:cs typeface="Montserrat"/>
                <a:sym typeface="Montserrat"/>
              </a:endParaRPr>
            </a:p>
            <a:p>
              <a:pPr indent="0" lvl="0" marL="0" rtl="0" algn="l">
                <a:spcBef>
                  <a:spcPts val="600"/>
                </a:spcBef>
                <a:spcAft>
                  <a:spcPts val="0"/>
                </a:spcAft>
                <a:buNone/>
              </a:pPr>
              <a:r>
                <a:rPr b="1" lang="en" sz="900">
                  <a:solidFill>
                    <a:srgbClr val="16A34A"/>
                  </a:solidFill>
                  <a:latin typeface="Montserrat"/>
                  <a:ea typeface="Montserrat"/>
                  <a:cs typeface="Montserrat"/>
                  <a:sym typeface="Montserrat"/>
                </a:rPr>
                <a:t>NetworkPolicy, CT_INVALID, NETFILTER_DROP, PKT_TOO_BIG</a:t>
              </a:r>
              <a:endParaRPr b="1" sz="900">
                <a:solidFill>
                  <a:srgbClr val="16A34A"/>
                </a:solidFill>
                <a:latin typeface="Montserrat"/>
                <a:ea typeface="Montserrat"/>
                <a:cs typeface="Montserrat"/>
                <a:sym typeface="Montserrat"/>
              </a:endParaRPr>
            </a:p>
            <a:p>
              <a:pPr indent="0" lvl="0" marL="0" rtl="0" algn="l">
                <a:spcBef>
                  <a:spcPts val="600"/>
                </a:spcBef>
                <a:spcAft>
                  <a:spcPts val="0"/>
                </a:spcAft>
                <a:buNone/>
              </a:pPr>
              <a:r>
                <a:rPr i="1" lang="en" sz="900">
                  <a:solidFill>
                    <a:srgbClr val="64748B"/>
                  </a:solidFill>
                  <a:latin typeface="Montserrat"/>
                  <a:ea typeface="Montserrat"/>
                  <a:cs typeface="Montserrat"/>
                  <a:sym typeface="Montserrat"/>
                </a:rPr>
                <a:t>Requires: privileged: true (CAP_SYS_ADMIN)</a:t>
              </a:r>
              <a:endParaRPr i="1" sz="900">
                <a:solidFill>
                  <a:srgbClr val="64748B"/>
                </a:solidFill>
                <a:latin typeface="Montserrat"/>
                <a:ea typeface="Montserrat"/>
                <a:cs typeface="Montserrat"/>
                <a:sym typeface="Montserrat"/>
              </a:endParaRPr>
            </a:p>
          </p:txBody>
        </p:sp>
        <p:sp>
          <p:nvSpPr>
            <p:cNvPr id="713" name="Google Shape;713;p76"/>
            <p:cNvSpPr/>
            <p:nvPr/>
          </p:nvSpPr>
          <p:spPr>
            <a:xfrm>
              <a:off x="4619625" y="1000125"/>
              <a:ext cx="4191000" cy="1476300"/>
            </a:xfrm>
            <a:prstGeom prst="roundRect">
              <a:avLst>
                <a:gd fmla="val 774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14" name="Google Shape;714;p76"/>
            <p:cNvGrpSpPr/>
            <p:nvPr/>
          </p:nvGrpSpPr>
          <p:grpSpPr>
            <a:xfrm>
              <a:off x="4619625" y="1000125"/>
              <a:ext cx="4191000" cy="381000"/>
              <a:chOff x="4619625" y="1000125"/>
              <a:chExt cx="4191000" cy="381000"/>
            </a:xfrm>
          </p:grpSpPr>
          <p:sp>
            <p:nvSpPr>
              <p:cNvPr id="715" name="Google Shape;715;p76"/>
              <p:cNvSpPr/>
              <p:nvPr/>
            </p:nvSpPr>
            <p:spPr>
              <a:xfrm>
                <a:off x="4619625" y="1000125"/>
                <a:ext cx="4191000" cy="381000"/>
              </a:xfrm>
              <a:prstGeom prst="roundRect">
                <a:avLst>
                  <a:gd fmla="val 30000" name="adj"/>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6" name="Google Shape;716;p76"/>
              <p:cNvSpPr/>
              <p:nvPr/>
            </p:nvSpPr>
            <p:spPr>
              <a:xfrm>
                <a:off x="4619625" y="1190625"/>
                <a:ext cx="4191000" cy="1905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7" name="Google Shape;717;p76"/>
              <p:cNvSpPr txBox="1"/>
              <p:nvPr/>
            </p:nvSpPr>
            <p:spPr>
              <a:xfrm>
                <a:off x="4762500" y="1047750"/>
                <a:ext cx="3905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FFFF"/>
                    </a:solidFill>
                    <a:latin typeface="Montserrat"/>
                    <a:ea typeface="Montserrat"/>
                    <a:cs typeface="Montserrat"/>
                    <a:sym typeface="Montserrat"/>
                  </a:rPr>
                  <a:t>DNSTracking (TC hook, port 53)</a:t>
                </a:r>
                <a:endParaRPr b="1" sz="1300">
                  <a:solidFill>
                    <a:srgbClr val="FFFFFF"/>
                  </a:solidFill>
                  <a:latin typeface="Montserrat"/>
                  <a:ea typeface="Montserrat"/>
                  <a:cs typeface="Montserrat"/>
                  <a:sym typeface="Montserrat"/>
                </a:endParaRPr>
              </a:p>
            </p:txBody>
          </p:sp>
        </p:grpSp>
        <p:sp>
          <p:nvSpPr>
            <p:cNvPr id="718" name="Google Shape;718;p76"/>
            <p:cNvSpPr txBox="1"/>
            <p:nvPr/>
          </p:nvSpPr>
          <p:spPr>
            <a:xfrm>
              <a:off x="4762500" y="1381125"/>
              <a:ext cx="3905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475569"/>
                  </a:solidFill>
                  <a:latin typeface="Montserrat"/>
                  <a:ea typeface="Montserrat"/>
                  <a:cs typeface="Montserrat"/>
                  <a:sym typeface="Montserrat"/>
                </a:rPr>
                <a:t>Parses DNS query names from UDP/TCP port 53 packets.</a:t>
              </a:r>
              <a:endParaRPr sz="1000">
                <a:solidFill>
                  <a:srgbClr val="475569"/>
                </a:solidFill>
                <a:latin typeface="Montserrat"/>
                <a:ea typeface="Montserrat"/>
                <a:cs typeface="Montserrat"/>
                <a:sym typeface="Montserrat"/>
              </a:endParaRPr>
            </a:p>
            <a:p>
              <a:pPr indent="-285750" lvl="0" marL="457200" rtl="0" algn="l">
                <a:spcBef>
                  <a:spcPts val="600"/>
                </a:spcBef>
                <a:spcAft>
                  <a:spcPts val="0"/>
                </a:spcAft>
                <a:buClr>
                  <a:srgbClr val="475569"/>
                </a:buClr>
                <a:buSzPts val="900"/>
                <a:buFont typeface="Montserrat"/>
                <a:buChar char="●"/>
              </a:pPr>
              <a:r>
                <a:rPr lang="en" sz="900">
                  <a:solidFill>
                    <a:srgbClr val="475569"/>
                  </a:solidFill>
                  <a:latin typeface="Montserrat"/>
                  <a:ea typeface="Montserrat"/>
                  <a:cs typeface="Montserrat"/>
                  <a:sym typeface="Montserrat"/>
                </a:rPr>
                <a:t>Captures: response code &amp; latency</a:t>
              </a:r>
              <a:endParaRPr sz="900">
                <a:solidFill>
                  <a:srgbClr val="475569"/>
                </a:solidFill>
                <a:latin typeface="Montserrat"/>
                <a:ea typeface="Montserrat"/>
                <a:cs typeface="Montserrat"/>
                <a:sym typeface="Montserrat"/>
              </a:endParaRPr>
            </a:p>
            <a:p>
              <a:pPr indent="-285750" lvl="0" marL="457200" rtl="0" algn="l">
                <a:spcBef>
                  <a:spcPts val="300"/>
                </a:spcBef>
                <a:spcAft>
                  <a:spcPts val="0"/>
                </a:spcAft>
                <a:buClr>
                  <a:srgbClr val="475569"/>
                </a:buClr>
                <a:buSzPts val="900"/>
                <a:buFont typeface="Montserrat"/>
                <a:buChar char="●"/>
              </a:pPr>
              <a:r>
                <a:rPr lang="en" sz="900">
                  <a:solidFill>
                    <a:srgbClr val="475569"/>
                  </a:solidFill>
                  <a:latin typeface="Montserrat"/>
                  <a:ea typeface="Montserrat"/>
                  <a:cs typeface="Montserrat"/>
                  <a:sym typeface="Montserrat"/>
                </a:rPr>
                <a:t>Max 32 bytes of domain name per query</a:t>
              </a:r>
              <a:endParaRPr sz="900">
                <a:solidFill>
                  <a:srgbClr val="475569"/>
                </a:solidFill>
                <a:latin typeface="Montserrat"/>
                <a:ea typeface="Montserrat"/>
                <a:cs typeface="Montserrat"/>
                <a:sym typeface="Montserrat"/>
              </a:endParaRPr>
            </a:p>
          </p:txBody>
        </p:sp>
        <p:sp>
          <p:nvSpPr>
            <p:cNvPr id="719" name="Google Shape;719;p76"/>
            <p:cNvSpPr/>
            <p:nvPr/>
          </p:nvSpPr>
          <p:spPr>
            <a:xfrm>
              <a:off x="333375" y="2619375"/>
              <a:ext cx="4191000" cy="1476300"/>
            </a:xfrm>
            <a:prstGeom prst="roundRect">
              <a:avLst>
                <a:gd fmla="val 774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20" name="Google Shape;720;p76"/>
            <p:cNvGrpSpPr/>
            <p:nvPr/>
          </p:nvGrpSpPr>
          <p:grpSpPr>
            <a:xfrm>
              <a:off x="333375" y="2619375"/>
              <a:ext cx="4191000" cy="381000"/>
              <a:chOff x="333375" y="2619375"/>
              <a:chExt cx="4191000" cy="381000"/>
            </a:xfrm>
          </p:grpSpPr>
          <p:sp>
            <p:nvSpPr>
              <p:cNvPr id="721" name="Google Shape;721;p76"/>
              <p:cNvSpPr/>
              <p:nvPr/>
            </p:nvSpPr>
            <p:spPr>
              <a:xfrm>
                <a:off x="333375" y="2619375"/>
                <a:ext cx="4191000" cy="381000"/>
              </a:xfrm>
              <a:prstGeom prst="roundRect">
                <a:avLst>
                  <a:gd fmla="val 30000" name="adj"/>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2" name="Google Shape;722;p76"/>
              <p:cNvSpPr/>
              <p:nvPr/>
            </p:nvSpPr>
            <p:spPr>
              <a:xfrm>
                <a:off x="333375" y="2809875"/>
                <a:ext cx="4191000" cy="1905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3" name="Google Shape;723;p76"/>
              <p:cNvSpPr txBox="1"/>
              <p:nvPr/>
            </p:nvSpPr>
            <p:spPr>
              <a:xfrm>
                <a:off x="476250" y="2667000"/>
                <a:ext cx="3905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FFFF"/>
                    </a:solidFill>
                    <a:latin typeface="Montserrat"/>
                    <a:ea typeface="Montserrat"/>
                    <a:cs typeface="Montserrat"/>
                    <a:sym typeface="Montserrat"/>
                  </a:rPr>
                  <a:t>FlowRTT (TC hook, TCP handshake)</a:t>
                </a:r>
                <a:endParaRPr b="1" sz="1300">
                  <a:solidFill>
                    <a:srgbClr val="FFFFFF"/>
                  </a:solidFill>
                  <a:latin typeface="Montserrat"/>
                  <a:ea typeface="Montserrat"/>
                  <a:cs typeface="Montserrat"/>
                  <a:sym typeface="Montserrat"/>
                </a:endParaRPr>
              </a:p>
            </p:txBody>
          </p:sp>
        </p:grpSp>
        <p:sp>
          <p:nvSpPr>
            <p:cNvPr id="724" name="Google Shape;724;p76"/>
            <p:cNvSpPr txBox="1"/>
            <p:nvPr/>
          </p:nvSpPr>
          <p:spPr>
            <a:xfrm>
              <a:off x="476250" y="3000375"/>
              <a:ext cx="3905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475569"/>
                  </a:solidFill>
                  <a:latin typeface="Montserrat"/>
                  <a:ea typeface="Montserrat"/>
                  <a:cs typeface="Montserrat"/>
                  <a:sym typeface="Montserrat"/>
                </a:rPr>
                <a:t>Measures SYN → SYN-ACK timing to determine connection RTT.</a:t>
              </a:r>
              <a:endParaRPr sz="1000">
                <a:solidFill>
                  <a:srgbClr val="475569"/>
                </a:solidFill>
                <a:latin typeface="Montserrat"/>
                <a:ea typeface="Montserrat"/>
                <a:cs typeface="Montserrat"/>
                <a:sym typeface="Montserrat"/>
              </a:endParaRPr>
            </a:p>
            <a:p>
              <a:pPr indent="0" lvl="0" marL="0" rtl="0" algn="l">
                <a:spcBef>
                  <a:spcPts val="600"/>
                </a:spcBef>
                <a:spcAft>
                  <a:spcPts val="0"/>
                </a:spcAft>
                <a:buNone/>
              </a:pPr>
              <a:r>
                <a:rPr i="1" lang="en" sz="900">
                  <a:solidFill>
                    <a:srgbClr val="64748B"/>
                  </a:solidFill>
                  <a:latin typeface="Montserrat"/>
                  <a:ea typeface="Montserrat"/>
                  <a:cs typeface="Montserrat"/>
                  <a:sym typeface="Montserrat"/>
                </a:rPr>
                <a:t>Reports as </a:t>
              </a:r>
              <a:r>
                <a:rPr b="1" i="1" lang="en" sz="900">
                  <a:solidFill>
                    <a:srgbClr val="64748B"/>
                  </a:solidFill>
                  <a:latin typeface="Courier New"/>
                  <a:ea typeface="Courier New"/>
                  <a:cs typeface="Courier New"/>
                  <a:sym typeface="Courier New"/>
                </a:rPr>
                <a:t>TimeFlowRttNs</a:t>
              </a:r>
              <a:r>
                <a:rPr i="1" lang="en" sz="900">
                  <a:solidFill>
                    <a:srgbClr val="64748B"/>
                  </a:solidFill>
                  <a:latin typeface="Montserrat"/>
                  <a:ea typeface="Montserrat"/>
                  <a:cs typeface="Montserrat"/>
                  <a:sym typeface="Montserrat"/>
                </a:rPr>
                <a:t> in flow records.</a:t>
              </a:r>
              <a:endParaRPr i="1" sz="900">
                <a:solidFill>
                  <a:srgbClr val="64748B"/>
                </a:solidFill>
                <a:latin typeface="Montserrat"/>
                <a:ea typeface="Montserrat"/>
                <a:cs typeface="Montserrat"/>
                <a:sym typeface="Montserrat"/>
              </a:endParaRPr>
            </a:p>
          </p:txBody>
        </p:sp>
        <p:sp>
          <p:nvSpPr>
            <p:cNvPr id="725" name="Google Shape;725;p76"/>
            <p:cNvSpPr/>
            <p:nvPr/>
          </p:nvSpPr>
          <p:spPr>
            <a:xfrm>
              <a:off x="4619625" y="2619375"/>
              <a:ext cx="4191000" cy="1476300"/>
            </a:xfrm>
            <a:prstGeom prst="roundRect">
              <a:avLst>
                <a:gd fmla="val 774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26" name="Google Shape;726;p76"/>
            <p:cNvGrpSpPr/>
            <p:nvPr/>
          </p:nvGrpSpPr>
          <p:grpSpPr>
            <a:xfrm>
              <a:off x="4619625" y="2619375"/>
              <a:ext cx="4191000" cy="381000"/>
              <a:chOff x="4619625" y="2619375"/>
              <a:chExt cx="4191000" cy="381000"/>
            </a:xfrm>
          </p:grpSpPr>
          <p:sp>
            <p:nvSpPr>
              <p:cNvPr id="727" name="Google Shape;727;p76"/>
              <p:cNvSpPr/>
              <p:nvPr/>
            </p:nvSpPr>
            <p:spPr>
              <a:xfrm>
                <a:off x="4619625" y="2619375"/>
                <a:ext cx="4191000" cy="381000"/>
              </a:xfrm>
              <a:prstGeom prst="roundRect">
                <a:avLst>
                  <a:gd fmla="val 30000" name="adj"/>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8" name="Google Shape;728;p76"/>
              <p:cNvSpPr/>
              <p:nvPr/>
            </p:nvSpPr>
            <p:spPr>
              <a:xfrm>
                <a:off x="4619625" y="2809875"/>
                <a:ext cx="4191000" cy="1905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9" name="Google Shape;729;p76"/>
              <p:cNvSpPr txBox="1"/>
              <p:nvPr/>
            </p:nvSpPr>
            <p:spPr>
              <a:xfrm>
                <a:off x="4762500" y="2667000"/>
                <a:ext cx="3905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FFFF"/>
                    </a:solidFill>
                    <a:latin typeface="Montserrat"/>
                    <a:ea typeface="Montserrat"/>
                    <a:cs typeface="Montserrat"/>
                    <a:sym typeface="Montserrat"/>
                  </a:rPr>
                  <a:t>NetworkEvents (OVN integration)</a:t>
                </a:r>
                <a:endParaRPr b="1" sz="1300">
                  <a:solidFill>
                    <a:srgbClr val="FFFFFF"/>
                  </a:solidFill>
                  <a:latin typeface="Montserrat"/>
                  <a:ea typeface="Montserrat"/>
                  <a:cs typeface="Montserrat"/>
                  <a:sym typeface="Montserrat"/>
                </a:endParaRPr>
              </a:p>
            </p:txBody>
          </p:sp>
        </p:grpSp>
        <p:sp>
          <p:nvSpPr>
            <p:cNvPr id="730" name="Google Shape;730;p76"/>
            <p:cNvSpPr txBox="1"/>
            <p:nvPr/>
          </p:nvSpPr>
          <p:spPr>
            <a:xfrm>
              <a:off x="4762500" y="3000375"/>
              <a:ext cx="3905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rgbClr val="475569"/>
                  </a:solidFill>
                  <a:latin typeface="Montserrat"/>
                  <a:ea typeface="Montserrat"/>
                  <a:cs typeface="Montserrat"/>
                  <a:sym typeface="Montserrat"/>
                </a:rPr>
                <a:t>Correlates flows with OVN-K NetworkPolicy evaluations.</a:t>
              </a:r>
              <a:endParaRPr sz="1000">
                <a:solidFill>
                  <a:srgbClr val="475569"/>
                </a:solidFill>
                <a:latin typeface="Montserrat"/>
                <a:ea typeface="Montserrat"/>
                <a:cs typeface="Montserrat"/>
                <a:sym typeface="Montserrat"/>
              </a:endParaRPr>
            </a:p>
            <a:p>
              <a:pPr indent="0" lvl="0" marL="0" rtl="0" algn="l">
                <a:spcBef>
                  <a:spcPts val="600"/>
                </a:spcBef>
                <a:spcAft>
                  <a:spcPts val="0"/>
                </a:spcAft>
                <a:buNone/>
              </a:pPr>
              <a:r>
                <a:rPr b="1" lang="en" sz="900">
                  <a:solidFill>
                    <a:srgbClr val="16A34A"/>
                  </a:solidFill>
                  <a:latin typeface="Montserrat"/>
                  <a:ea typeface="Montserrat"/>
                  <a:cs typeface="Montserrat"/>
                  <a:sym typeface="Montserrat"/>
                </a:rPr>
                <a:t>Shows WHICH policy rule matched/dropped a flow.</a:t>
              </a:r>
              <a:endParaRPr b="1" sz="900">
                <a:solidFill>
                  <a:srgbClr val="16A34A"/>
                </a:solidFill>
                <a:latin typeface="Montserrat"/>
                <a:ea typeface="Montserrat"/>
                <a:cs typeface="Montserrat"/>
                <a:sym typeface="Montserrat"/>
              </a:endParaRPr>
            </a:p>
            <a:p>
              <a:pPr indent="0" lvl="0" marL="0" rtl="0" algn="l">
                <a:spcBef>
                  <a:spcPts val="600"/>
                </a:spcBef>
                <a:spcAft>
                  <a:spcPts val="0"/>
                </a:spcAft>
                <a:buNone/>
              </a:pPr>
              <a:r>
                <a:rPr i="1" lang="en" sz="900">
                  <a:solidFill>
                    <a:srgbClr val="64748B"/>
                  </a:solidFill>
                  <a:latin typeface="Montserrat"/>
                  <a:ea typeface="Montserrat"/>
                  <a:cs typeface="Montserrat"/>
                  <a:sym typeface="Montserrat"/>
                </a:rPr>
                <a:t>Requires: OVN-K Observability feature</a:t>
              </a:r>
              <a:endParaRPr i="1" sz="900">
                <a:solidFill>
                  <a:srgbClr val="64748B"/>
                </a:solidFill>
                <a:latin typeface="Montserrat"/>
                <a:ea typeface="Montserrat"/>
                <a:cs typeface="Montserrat"/>
                <a:sym typeface="Montserrat"/>
              </a:endParaRPr>
            </a:p>
          </p:txBody>
        </p:sp>
      </p:grpSp>
      <p:pic>
        <p:nvPicPr>
          <p:cNvPr id="731" name="Google Shape;731;p76"/>
          <p:cNvPicPr preferRelativeResize="0"/>
          <p:nvPr/>
        </p:nvPicPr>
        <p:blipFill rotWithShape="1">
          <a:blip r:embed="rId4">
            <a:alphaModFix/>
          </a:blip>
          <a:srcRect b="0" l="219" r="219" t="0"/>
          <a:stretch/>
        </p:blipFill>
        <p:spPr>
          <a:xfrm>
            <a:off x="8191500" y="4514850"/>
            <a:ext cx="476400" cy="495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5" name="Shape 735"/>
        <p:cNvGrpSpPr/>
        <p:nvPr/>
      </p:nvGrpSpPr>
      <p:grpSpPr>
        <a:xfrm>
          <a:off x="0" y="0"/>
          <a:ext cx="0" cy="0"/>
          <a:chOff x="0" y="0"/>
          <a:chExt cx="0" cy="0"/>
        </a:xfrm>
      </p:grpSpPr>
      <p:grpSp>
        <p:nvGrpSpPr>
          <p:cNvPr id="736" name="Google Shape;736;p77"/>
          <p:cNvGrpSpPr/>
          <p:nvPr/>
        </p:nvGrpSpPr>
        <p:grpSpPr>
          <a:xfrm>
            <a:off x="381000" y="357188"/>
            <a:ext cx="8382075" cy="381000"/>
            <a:chOff x="381000" y="357188"/>
            <a:chExt cx="8382075" cy="381000"/>
          </a:xfrm>
        </p:grpSpPr>
        <p:sp>
          <p:nvSpPr>
            <p:cNvPr id="737" name="Google Shape;737;p77"/>
            <p:cNvSpPr/>
            <p:nvPr/>
          </p:nvSpPr>
          <p:spPr>
            <a:xfrm>
              <a:off x="381000" y="381000"/>
              <a:ext cx="57300" cy="3333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8" name="Google Shape;738;p77"/>
            <p:cNvSpPr txBox="1"/>
            <p:nvPr/>
          </p:nvSpPr>
          <p:spPr>
            <a:xfrm>
              <a:off x="523875" y="357188"/>
              <a:ext cx="82392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405">
                  <a:solidFill>
                    <a:srgbClr val="1E293B"/>
                  </a:solidFill>
                  <a:latin typeface="Montserrat"/>
                  <a:ea typeface="Montserrat"/>
                  <a:cs typeface="Montserrat"/>
                  <a:sym typeface="Montserrat"/>
                </a:rPr>
                <a:t>eBPF Features — NAT Tracking, IPSec, TLS</a:t>
              </a:r>
              <a:endParaRPr b="1" sz="2405">
                <a:solidFill>
                  <a:srgbClr val="1E293B"/>
                </a:solidFill>
                <a:latin typeface="Montserrat"/>
                <a:ea typeface="Montserrat"/>
                <a:cs typeface="Montserrat"/>
                <a:sym typeface="Montserrat"/>
              </a:endParaRPr>
            </a:p>
          </p:txBody>
        </p:sp>
      </p:grpSp>
      <p:grpSp>
        <p:nvGrpSpPr>
          <p:cNvPr id="739" name="Google Shape;739;p77"/>
          <p:cNvGrpSpPr/>
          <p:nvPr/>
        </p:nvGrpSpPr>
        <p:grpSpPr>
          <a:xfrm>
            <a:off x="381000" y="1047750"/>
            <a:ext cx="2667000" cy="3333900"/>
            <a:chOff x="381000" y="1047750"/>
            <a:chExt cx="2667000" cy="3333900"/>
          </a:xfrm>
        </p:grpSpPr>
        <p:sp>
          <p:nvSpPr>
            <p:cNvPr id="740" name="Google Shape;740;p77"/>
            <p:cNvSpPr/>
            <p:nvPr/>
          </p:nvSpPr>
          <p:spPr>
            <a:xfrm>
              <a:off x="381000" y="1047750"/>
              <a:ext cx="2667000" cy="33339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1" name="Google Shape;741;p77"/>
            <p:cNvSpPr/>
            <p:nvPr/>
          </p:nvSpPr>
          <p:spPr>
            <a:xfrm>
              <a:off x="381000" y="1047750"/>
              <a:ext cx="2667000" cy="428700"/>
            </a:xfrm>
            <a:prstGeom prst="roundRect">
              <a:avLst>
                <a:gd fmla="val 26666" name="adj"/>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2" name="Google Shape;742;p77"/>
            <p:cNvSpPr/>
            <p:nvPr/>
          </p:nvSpPr>
          <p:spPr>
            <a:xfrm>
              <a:off x="381000" y="1285875"/>
              <a:ext cx="2667000" cy="1905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3" name="Google Shape;743;p77"/>
            <p:cNvSpPr txBox="1"/>
            <p:nvPr/>
          </p:nvSpPr>
          <p:spPr>
            <a:xfrm>
              <a:off x="523875" y="1095375"/>
              <a:ext cx="23814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FFFF"/>
                  </a:solidFill>
                  <a:latin typeface="Montserrat"/>
                  <a:ea typeface="Montserrat"/>
                  <a:cs typeface="Montserrat"/>
                  <a:sym typeface="Montserrat"/>
                </a:rPr>
                <a:t>PacketTranslation</a:t>
              </a:r>
              <a:endParaRPr b="1" sz="1300">
                <a:solidFill>
                  <a:srgbClr val="FFFFFF"/>
                </a:solidFill>
                <a:latin typeface="Montserrat"/>
                <a:ea typeface="Montserrat"/>
                <a:cs typeface="Montserrat"/>
                <a:sym typeface="Montserrat"/>
              </a:endParaRPr>
            </a:p>
          </p:txBody>
        </p:sp>
        <p:sp>
          <p:nvSpPr>
            <p:cNvPr id="744" name="Google Shape;744;p77"/>
            <p:cNvSpPr txBox="1"/>
            <p:nvPr/>
          </p:nvSpPr>
          <p:spPr>
            <a:xfrm>
              <a:off x="523875" y="1571625"/>
              <a:ext cx="2381400" cy="2667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475569"/>
                  </a:solidFill>
                  <a:latin typeface="Montserrat Medium"/>
                  <a:ea typeface="Montserrat Medium"/>
                  <a:cs typeface="Montserrat Medium"/>
                  <a:sym typeface="Montserrat Medium"/>
                </a:rPr>
                <a:t>Captures pre-NAT and post-NAT source/destination IPs + ports</a:t>
              </a:r>
              <a:endParaRPr b="0" sz="1050">
                <a:solidFill>
                  <a:srgbClr val="475569"/>
                </a:solidFill>
                <a:latin typeface="Montserrat Medium"/>
                <a:ea typeface="Montserrat Medium"/>
                <a:cs typeface="Montserrat Medium"/>
                <a:sym typeface="Montserrat Medium"/>
              </a:endParaRPr>
            </a:p>
            <a:p>
              <a:pPr indent="0" lvl="0" marL="0" rtl="0" algn="l">
                <a:spcBef>
                  <a:spcPts val="900"/>
                </a:spcBef>
                <a:spcAft>
                  <a:spcPts val="0"/>
                </a:spcAft>
                <a:buNone/>
              </a:pPr>
              <a:r>
                <a:rPr b="1" lang="en" sz="1050">
                  <a:solidFill>
                    <a:srgbClr val="16A34A"/>
                  </a:solidFill>
                  <a:latin typeface="Montserrat"/>
                  <a:ea typeface="Montserrat"/>
                  <a:cs typeface="Montserrat"/>
                  <a:sym typeface="Montserrat"/>
                </a:rPr>
                <a:t>Before DNAT:</a:t>
              </a:r>
              <a:br>
                <a:rPr b="0" lang="en" sz="1050">
                  <a:solidFill>
                    <a:srgbClr val="475569"/>
                  </a:solidFill>
                  <a:latin typeface="Montserrat Medium"/>
                  <a:ea typeface="Montserrat Medium"/>
                  <a:cs typeface="Montserrat Medium"/>
                  <a:sym typeface="Montserrat Medium"/>
                </a:rPr>
              </a:br>
              <a:r>
                <a:rPr b="0" lang="en" sz="1050">
                  <a:solidFill>
                    <a:srgbClr val="475569"/>
                  </a:solidFill>
                  <a:latin typeface="Montserrat Medium"/>
                  <a:ea typeface="Montserrat Medium"/>
                  <a:cs typeface="Montserrat Medium"/>
                  <a:sym typeface="Montserrat Medium"/>
                </a:rPr>
                <a:t>dst=172.30.100.50 (ClusterIP)</a:t>
              </a:r>
              <a:endParaRPr b="0" sz="1050">
                <a:solidFill>
                  <a:srgbClr val="475569"/>
                </a:solidFill>
                <a:latin typeface="Montserrat Medium"/>
                <a:ea typeface="Montserrat Medium"/>
                <a:cs typeface="Montserrat Medium"/>
                <a:sym typeface="Montserrat Medium"/>
              </a:endParaRPr>
            </a:p>
            <a:p>
              <a:pPr indent="0" lvl="0" marL="0" rtl="0" algn="l">
                <a:spcBef>
                  <a:spcPts val="300"/>
                </a:spcBef>
                <a:spcAft>
                  <a:spcPts val="0"/>
                </a:spcAft>
                <a:buNone/>
              </a:pPr>
              <a:r>
                <a:rPr b="1" lang="en" sz="1050">
                  <a:solidFill>
                    <a:srgbClr val="16A34A"/>
                  </a:solidFill>
                  <a:latin typeface="Montserrat"/>
                  <a:ea typeface="Montserrat"/>
                  <a:cs typeface="Montserrat"/>
                  <a:sym typeface="Montserrat"/>
                </a:rPr>
                <a:t>After DNAT:</a:t>
              </a:r>
              <a:br>
                <a:rPr b="0" lang="en" sz="1050">
                  <a:solidFill>
                    <a:srgbClr val="475569"/>
                  </a:solidFill>
                  <a:latin typeface="Montserrat Medium"/>
                  <a:ea typeface="Montserrat Medium"/>
                  <a:cs typeface="Montserrat Medium"/>
                  <a:sym typeface="Montserrat Medium"/>
                </a:rPr>
              </a:br>
              <a:r>
                <a:rPr b="0" lang="en" sz="1050">
                  <a:solidFill>
                    <a:srgbClr val="475569"/>
                  </a:solidFill>
                  <a:latin typeface="Montserrat Medium"/>
                  <a:ea typeface="Montserrat Medium"/>
                  <a:cs typeface="Montserrat Medium"/>
                  <a:sym typeface="Montserrat Medium"/>
                </a:rPr>
                <a:t>dst=10.128.2.22 (Pod IP)</a:t>
              </a:r>
              <a:endParaRPr b="0" sz="1050">
                <a:solidFill>
                  <a:srgbClr val="475569"/>
                </a:solidFill>
                <a:latin typeface="Montserrat Medium"/>
                <a:ea typeface="Montserrat Medium"/>
                <a:cs typeface="Montserrat Medium"/>
                <a:sym typeface="Montserrat Medium"/>
              </a:endParaRPr>
            </a:p>
            <a:p>
              <a:pPr indent="0" lvl="0" marL="0" rtl="0" algn="l">
                <a:spcBef>
                  <a:spcPts val="1125"/>
                </a:spcBef>
                <a:spcAft>
                  <a:spcPts val="0"/>
                </a:spcAft>
                <a:buNone/>
              </a:pPr>
              <a:r>
                <a:rPr b="0" i="1" lang="en" sz="950">
                  <a:solidFill>
                    <a:srgbClr val="64748B"/>
                  </a:solidFill>
                  <a:latin typeface="Montserrat"/>
                  <a:ea typeface="Montserrat"/>
                  <a:cs typeface="Montserrat"/>
                  <a:sym typeface="Montserrat"/>
                </a:rPr>
                <a:t>Useful for debugging Service load balancing decisions</a:t>
              </a:r>
              <a:endParaRPr b="0" i="1" sz="950">
                <a:solidFill>
                  <a:srgbClr val="64748B"/>
                </a:solidFill>
                <a:latin typeface="Montserrat"/>
                <a:ea typeface="Montserrat"/>
                <a:cs typeface="Montserrat"/>
                <a:sym typeface="Montserrat"/>
              </a:endParaRPr>
            </a:p>
          </p:txBody>
        </p:sp>
      </p:grpSp>
      <p:grpSp>
        <p:nvGrpSpPr>
          <p:cNvPr id="745" name="Google Shape;745;p77"/>
          <p:cNvGrpSpPr/>
          <p:nvPr/>
        </p:nvGrpSpPr>
        <p:grpSpPr>
          <a:xfrm>
            <a:off x="3238500" y="1047750"/>
            <a:ext cx="2667000" cy="3333900"/>
            <a:chOff x="3238500" y="1047750"/>
            <a:chExt cx="2667000" cy="3333900"/>
          </a:xfrm>
        </p:grpSpPr>
        <p:sp>
          <p:nvSpPr>
            <p:cNvPr id="746" name="Google Shape;746;p77"/>
            <p:cNvSpPr/>
            <p:nvPr/>
          </p:nvSpPr>
          <p:spPr>
            <a:xfrm>
              <a:off x="3238500" y="1047750"/>
              <a:ext cx="2667000" cy="33339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7" name="Google Shape;747;p77"/>
            <p:cNvSpPr/>
            <p:nvPr/>
          </p:nvSpPr>
          <p:spPr>
            <a:xfrm>
              <a:off x="3238500" y="1047750"/>
              <a:ext cx="2667000" cy="428700"/>
            </a:xfrm>
            <a:prstGeom prst="roundRect">
              <a:avLst>
                <a:gd fmla="val 26666" name="adj"/>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8" name="Google Shape;748;p77"/>
            <p:cNvSpPr/>
            <p:nvPr/>
          </p:nvSpPr>
          <p:spPr>
            <a:xfrm>
              <a:off x="3238500" y="1285875"/>
              <a:ext cx="2667000" cy="1905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9" name="Google Shape;749;p77"/>
            <p:cNvSpPr txBox="1"/>
            <p:nvPr/>
          </p:nvSpPr>
          <p:spPr>
            <a:xfrm>
              <a:off x="3381375" y="1095375"/>
              <a:ext cx="23814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FFFF"/>
                  </a:solidFill>
                  <a:latin typeface="Montserrat"/>
                  <a:ea typeface="Montserrat"/>
                  <a:cs typeface="Montserrat"/>
                  <a:sym typeface="Montserrat"/>
                </a:rPr>
                <a:t>Security &amp; Tracking</a:t>
              </a:r>
              <a:endParaRPr b="1" sz="1300">
                <a:solidFill>
                  <a:srgbClr val="FFFFFF"/>
                </a:solidFill>
                <a:latin typeface="Montserrat"/>
                <a:ea typeface="Montserrat"/>
                <a:cs typeface="Montserrat"/>
                <a:sym typeface="Montserrat"/>
              </a:endParaRPr>
            </a:p>
          </p:txBody>
        </p:sp>
        <p:sp>
          <p:nvSpPr>
            <p:cNvPr id="750" name="Google Shape;750;p77"/>
            <p:cNvSpPr txBox="1"/>
            <p:nvPr/>
          </p:nvSpPr>
          <p:spPr>
            <a:xfrm>
              <a:off x="3381375" y="1571625"/>
              <a:ext cx="2381400" cy="2667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7B68EE"/>
                  </a:solidFill>
                  <a:latin typeface="Montserrat"/>
                  <a:ea typeface="Montserrat"/>
                  <a:cs typeface="Montserrat"/>
                  <a:sym typeface="Montserrat"/>
                </a:rPr>
                <a:t>IPSec:</a:t>
              </a:r>
              <a:endParaRPr b="1" sz="1050">
                <a:solidFill>
                  <a:srgbClr val="7B68EE"/>
                </a:solidFill>
                <a:latin typeface="Montserrat"/>
                <a:ea typeface="Montserrat"/>
                <a:cs typeface="Montserrat"/>
                <a:sym typeface="Montserrat"/>
              </a:endParaRPr>
            </a:p>
            <a:p>
              <a:pPr indent="0" lvl="0" marL="0" rtl="0" algn="l">
                <a:spcBef>
                  <a:spcPts val="300"/>
                </a:spcBef>
                <a:spcAft>
                  <a:spcPts val="0"/>
                </a:spcAft>
                <a:buNone/>
              </a:pPr>
              <a:r>
                <a:rPr b="0" lang="en" sz="1050">
                  <a:solidFill>
                    <a:srgbClr val="475569"/>
                  </a:solidFill>
                  <a:latin typeface="Montserrat"/>
                  <a:ea typeface="Montserrat"/>
                  <a:cs typeface="Montserrat"/>
                  <a:sym typeface="Montserrat"/>
                </a:rPr>
                <a:t>Tracks flows between nodes encrypted with IPsec. Shows which flows are encrypted vs. plaintext.</a:t>
              </a:r>
              <a:endParaRPr b="0" sz="1050">
                <a:solidFill>
                  <a:srgbClr val="475569"/>
                </a:solidFill>
                <a:latin typeface="Montserrat"/>
                <a:ea typeface="Montserrat"/>
                <a:cs typeface="Montserrat"/>
                <a:sym typeface="Montserrat"/>
              </a:endParaRPr>
            </a:p>
            <a:p>
              <a:pPr indent="0" lvl="0" marL="0" rtl="0" algn="l">
                <a:spcBef>
                  <a:spcPts val="1500"/>
                </a:spcBef>
                <a:spcAft>
                  <a:spcPts val="0"/>
                </a:spcAft>
                <a:buNone/>
              </a:pPr>
              <a:r>
                <a:rPr b="1" lang="en" sz="1050">
                  <a:solidFill>
                    <a:srgbClr val="7B68EE"/>
                  </a:solidFill>
                  <a:latin typeface="Montserrat"/>
                  <a:ea typeface="Montserrat"/>
                  <a:cs typeface="Montserrat"/>
                  <a:sym typeface="Montserrat"/>
                </a:rPr>
                <a:t>TLSTracking:</a:t>
              </a:r>
              <a:endParaRPr b="1" sz="1050">
                <a:solidFill>
                  <a:srgbClr val="7B68EE"/>
                </a:solidFill>
                <a:latin typeface="Montserrat"/>
                <a:ea typeface="Montserrat"/>
                <a:cs typeface="Montserrat"/>
                <a:sym typeface="Montserrat"/>
              </a:endParaRPr>
            </a:p>
            <a:p>
              <a:pPr indent="0" lvl="0" marL="0" rtl="0" algn="l">
                <a:spcBef>
                  <a:spcPts val="300"/>
                </a:spcBef>
                <a:spcAft>
                  <a:spcPts val="0"/>
                </a:spcAft>
                <a:buNone/>
              </a:pPr>
              <a:r>
                <a:rPr b="0" lang="en" sz="1050">
                  <a:solidFill>
                    <a:srgbClr val="475569"/>
                  </a:solidFill>
                  <a:latin typeface="Montserrat"/>
                  <a:ea typeface="Montserrat"/>
                  <a:cs typeface="Montserrat"/>
                  <a:sym typeface="Montserrat"/>
                </a:rPr>
                <a:t>Detects TLS handshakes in flow data. Shows which flows use TLS and which don't.</a:t>
              </a:r>
              <a:endParaRPr b="0" sz="1050">
                <a:solidFill>
                  <a:srgbClr val="475569"/>
                </a:solidFill>
                <a:latin typeface="Montserrat"/>
                <a:ea typeface="Montserrat"/>
                <a:cs typeface="Montserrat"/>
                <a:sym typeface="Montserrat"/>
              </a:endParaRPr>
            </a:p>
          </p:txBody>
        </p:sp>
      </p:grpSp>
      <p:grpSp>
        <p:nvGrpSpPr>
          <p:cNvPr id="751" name="Google Shape;751;p77"/>
          <p:cNvGrpSpPr/>
          <p:nvPr/>
        </p:nvGrpSpPr>
        <p:grpSpPr>
          <a:xfrm>
            <a:off x="6096000" y="1047750"/>
            <a:ext cx="2667000" cy="3333900"/>
            <a:chOff x="6096000" y="1047750"/>
            <a:chExt cx="2667000" cy="3333900"/>
          </a:xfrm>
        </p:grpSpPr>
        <p:sp>
          <p:nvSpPr>
            <p:cNvPr id="752" name="Google Shape;752;p77"/>
            <p:cNvSpPr/>
            <p:nvPr/>
          </p:nvSpPr>
          <p:spPr>
            <a:xfrm>
              <a:off x="6096000" y="1047750"/>
              <a:ext cx="2667000" cy="3333900"/>
            </a:xfrm>
            <a:prstGeom prst="roundRect">
              <a:avLst>
                <a:gd fmla="val 4285"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3" name="Google Shape;753;p77"/>
            <p:cNvSpPr/>
            <p:nvPr/>
          </p:nvSpPr>
          <p:spPr>
            <a:xfrm>
              <a:off x="6096000" y="1047750"/>
              <a:ext cx="2667000" cy="428700"/>
            </a:xfrm>
            <a:prstGeom prst="roundRect">
              <a:avLst>
                <a:gd fmla="val 26666" name="adj"/>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4" name="Google Shape;754;p77"/>
            <p:cNvSpPr/>
            <p:nvPr/>
          </p:nvSpPr>
          <p:spPr>
            <a:xfrm>
              <a:off x="6096000" y="1285875"/>
              <a:ext cx="2667000" cy="190500"/>
            </a:xfrm>
            <a:prstGeom prst="rect">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5" name="Google Shape;755;p77"/>
            <p:cNvSpPr txBox="1"/>
            <p:nvPr/>
          </p:nvSpPr>
          <p:spPr>
            <a:xfrm>
              <a:off x="6238875" y="1095375"/>
              <a:ext cx="2381400" cy="333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FFFF"/>
                  </a:solidFill>
                  <a:latin typeface="Montserrat"/>
                  <a:ea typeface="Montserrat"/>
                  <a:cs typeface="Montserrat"/>
                  <a:sym typeface="Montserrat"/>
                </a:rPr>
                <a:t>Supported / Preview Features</a:t>
              </a:r>
              <a:endParaRPr b="1" sz="1300">
                <a:solidFill>
                  <a:srgbClr val="FFFFFF"/>
                </a:solidFill>
                <a:latin typeface="Montserrat"/>
                <a:ea typeface="Montserrat"/>
                <a:cs typeface="Montserrat"/>
                <a:sym typeface="Montserrat"/>
              </a:endParaRPr>
            </a:p>
          </p:txBody>
        </p:sp>
        <p:sp>
          <p:nvSpPr>
            <p:cNvPr id="756" name="Google Shape;756;p77"/>
            <p:cNvSpPr txBox="1"/>
            <p:nvPr/>
          </p:nvSpPr>
          <p:spPr>
            <a:xfrm>
              <a:off x="6238875" y="1571625"/>
              <a:ext cx="2381400" cy="2667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475569"/>
                  </a:solidFill>
                  <a:latin typeface="Montserrat"/>
                  <a:ea typeface="Montserrat"/>
                  <a:cs typeface="Montserrat"/>
                  <a:sym typeface="Montserrat"/>
                </a:rPr>
                <a:t>UDNMapping (GA)</a:t>
              </a:r>
              <a:endParaRPr b="1" sz="950">
                <a:solidFill>
                  <a:srgbClr val="475569"/>
                </a:solidFill>
                <a:latin typeface="Montserrat"/>
                <a:ea typeface="Montserrat"/>
                <a:cs typeface="Montserrat"/>
                <a:sym typeface="Montserrat"/>
              </a:endParaRPr>
            </a:p>
            <a:p>
              <a:pPr indent="0" lvl="0" marL="0" rtl="0" algn="l">
                <a:spcBef>
                  <a:spcPts val="150"/>
                </a:spcBef>
                <a:spcAft>
                  <a:spcPts val="0"/>
                </a:spcAft>
                <a:buNone/>
              </a:pPr>
              <a:r>
                <a:rPr b="0" lang="en" sz="950">
                  <a:solidFill>
                    <a:srgbClr val="64748B"/>
                  </a:solidFill>
                  <a:latin typeface="Montserrat"/>
                  <a:ea typeface="Montserrat"/>
                  <a:cs typeface="Montserrat"/>
                  <a:sym typeface="Montserrat"/>
                </a:rPr>
                <a:t>Maps flows to User Defined Networks (secondary interfaces).</a:t>
              </a:r>
              <a:endParaRPr b="0" sz="950">
                <a:solidFill>
                  <a:srgbClr val="64748B"/>
                </a:solidFill>
                <a:latin typeface="Montserrat"/>
                <a:ea typeface="Montserrat"/>
                <a:cs typeface="Montserrat"/>
                <a:sym typeface="Montserrat"/>
              </a:endParaRPr>
            </a:p>
            <a:p>
              <a:pPr indent="0" lvl="0" marL="0" rtl="0" algn="l">
                <a:spcBef>
                  <a:spcPts val="900"/>
                </a:spcBef>
                <a:spcAft>
                  <a:spcPts val="0"/>
                </a:spcAft>
                <a:buNone/>
              </a:pPr>
              <a:r>
                <a:rPr b="1" lang="en" sz="950">
                  <a:solidFill>
                    <a:srgbClr val="475569"/>
                  </a:solidFill>
                  <a:latin typeface="Montserrat"/>
                  <a:ea typeface="Montserrat"/>
                  <a:cs typeface="Montserrat"/>
                  <a:sym typeface="Montserrat"/>
                </a:rPr>
                <a:t>EbpfManager (Developer Preview)</a:t>
              </a:r>
              <a:endParaRPr b="1" sz="950">
                <a:solidFill>
                  <a:srgbClr val="475569"/>
                </a:solidFill>
                <a:latin typeface="Montserrat"/>
                <a:ea typeface="Montserrat"/>
                <a:cs typeface="Montserrat"/>
                <a:sym typeface="Montserrat"/>
              </a:endParaRPr>
            </a:p>
            <a:p>
              <a:pPr indent="0" lvl="0" marL="0" rtl="0" algn="l">
                <a:spcBef>
                  <a:spcPts val="150"/>
                </a:spcBef>
                <a:spcAft>
                  <a:spcPts val="0"/>
                </a:spcAft>
                <a:buNone/>
              </a:pPr>
              <a:r>
                <a:rPr b="0" lang="en" sz="950">
                  <a:solidFill>
                    <a:srgbClr val="475569"/>
                  </a:solidFill>
                  <a:latin typeface="Montserrat"/>
                  <a:ea typeface="Montserrat"/>
                  <a:cs typeface="Montserrat"/>
                  <a:sym typeface="Montserrat"/>
                </a:rPr>
                <a:t>Delegates loading of NOO's OWN eBPF programs to bpfman operator. Central manager for cluster-wide eBPF tools.</a:t>
              </a:r>
              <a:endParaRPr b="0" sz="950">
                <a:solidFill>
                  <a:srgbClr val="475569"/>
                </a:solidFill>
                <a:latin typeface="Montserrat"/>
                <a:ea typeface="Montserrat"/>
                <a:cs typeface="Montserrat"/>
                <a:sym typeface="Montserrat"/>
              </a:endParaRPr>
            </a:p>
            <a:p>
              <a:pPr indent="0" lvl="0" marL="0" rtl="0" algn="l">
                <a:spcBef>
                  <a:spcPts val="600"/>
                </a:spcBef>
                <a:spcAft>
                  <a:spcPts val="0"/>
                </a:spcAft>
                <a:buNone/>
              </a:pPr>
              <a:r>
                <a:rPr b="0" lang="en" sz="950">
                  <a:solidFill>
                    <a:srgbClr val="334155"/>
                  </a:solidFill>
                  <a:latin typeface="Montserrat SemiBold"/>
                  <a:ea typeface="Montserrat SemiBold"/>
                  <a:cs typeface="Montserrat SemiBold"/>
                  <a:sym typeface="Montserrat SemiBold"/>
                </a:rPr>
                <a:t>Custom Programs Not Supported</a:t>
              </a:r>
              <a:endParaRPr b="0" sz="950">
                <a:solidFill>
                  <a:srgbClr val="334155"/>
                </a:solidFill>
                <a:latin typeface="Montserrat SemiBold"/>
                <a:ea typeface="Montserrat SemiBold"/>
                <a:cs typeface="Montserrat SemiBold"/>
                <a:sym typeface="Montserrat SemiBold"/>
              </a:endParaRPr>
            </a:p>
            <a:p>
              <a:pPr indent="0" lvl="0" marL="0" rtl="0" algn="l">
                <a:spcBef>
                  <a:spcPts val="300"/>
                </a:spcBef>
                <a:spcAft>
                  <a:spcPts val="0"/>
                </a:spcAft>
                <a:buNone/>
              </a:pPr>
              <a:r>
                <a:rPr b="0" lang="en" sz="900">
                  <a:solidFill>
                    <a:srgbClr val="64748B"/>
                  </a:solidFill>
                  <a:latin typeface="Montserrat"/>
                  <a:ea typeface="Montserrat"/>
                  <a:cs typeface="Montserrat"/>
                  <a:sym typeface="Montserrat"/>
                </a:rPr>
                <a:t>Use bpftrace, bcc, or Cilium Hubble for custom scripts.</a:t>
              </a:r>
              <a:endParaRPr b="0" sz="900">
                <a:solidFill>
                  <a:srgbClr val="64748B"/>
                </a:solidFill>
                <a:latin typeface="Montserrat"/>
                <a:ea typeface="Montserrat"/>
                <a:cs typeface="Montserrat"/>
                <a:sym typeface="Montserrat"/>
              </a:endParaRPr>
            </a:p>
            <a:p>
              <a:pPr indent="0" lvl="0" marL="0" rtl="0" algn="l">
                <a:spcBef>
                  <a:spcPts val="600"/>
                </a:spcBef>
                <a:spcAft>
                  <a:spcPts val="0"/>
                </a:spcAft>
                <a:buNone/>
              </a:pPr>
              <a:r>
                <a:rPr b="0" lang="en" sz="900">
                  <a:solidFill>
                    <a:srgbClr val="475569"/>
                  </a:solidFill>
                  <a:latin typeface="Montserrat"/>
                  <a:ea typeface="Montserrat"/>
                  <a:cs typeface="Montserrat"/>
                  <a:sym typeface="Montserrat"/>
                </a:rPr>
                <a:t>Extension: Build custom GRPC collector for NOO flow data.</a:t>
              </a:r>
              <a:endParaRPr b="0" sz="900">
                <a:solidFill>
                  <a:srgbClr val="475569"/>
                </a:solidFill>
                <a:latin typeface="Montserrat"/>
                <a:ea typeface="Montserrat"/>
                <a:cs typeface="Montserrat"/>
                <a:sym typeface="Montserrat"/>
              </a:endParaRPr>
            </a:p>
          </p:txBody>
        </p:sp>
      </p:grpSp>
      <p:sp>
        <p:nvSpPr>
          <p:cNvPr id="757" name="Google Shape;757;p77"/>
          <p:cNvSpPr/>
          <p:nvPr/>
        </p:nvSpPr>
        <p:spPr>
          <a:xfrm>
            <a:off x="0" y="4476750"/>
            <a:ext cx="9144000" cy="6669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58" name="Google Shape;758;p77"/>
          <p:cNvPicPr preferRelativeResize="0"/>
          <p:nvPr/>
        </p:nvPicPr>
        <p:blipFill rotWithShape="1">
          <a:blip r:embed="rId4">
            <a:alphaModFix/>
          </a:blip>
          <a:srcRect b="1709" l="0" r="0" t="1719"/>
          <a:stretch/>
        </p:blipFill>
        <p:spPr>
          <a:xfrm>
            <a:off x="8286750" y="4572000"/>
            <a:ext cx="476400" cy="476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2" name="Shape 762"/>
        <p:cNvGrpSpPr/>
        <p:nvPr/>
      </p:nvGrpSpPr>
      <p:grpSpPr>
        <a:xfrm>
          <a:off x="0" y="0"/>
          <a:ext cx="0" cy="0"/>
          <a:chOff x="0" y="0"/>
          <a:chExt cx="0" cy="0"/>
        </a:xfrm>
      </p:grpSpPr>
      <p:sp>
        <p:nvSpPr>
          <p:cNvPr id="763" name="Google Shape;763;p78"/>
          <p:cNvSpPr/>
          <p:nvPr/>
        </p:nvSpPr>
        <p:spPr>
          <a:xfrm>
            <a:off x="0" y="4381500"/>
            <a:ext cx="9144000" cy="762000"/>
          </a:xfrm>
          <a:prstGeom prst="rect">
            <a:avLst/>
          </a:prstGeom>
          <a:solidFill>
            <a:srgbClr val="8E83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4" name="Google Shape;764;p78"/>
          <p:cNvSpPr/>
          <p:nvPr/>
        </p:nvSpPr>
        <p:spPr>
          <a:xfrm>
            <a:off x="381000" y="381000"/>
            <a:ext cx="38100" cy="3810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5" name="Google Shape;765;p78"/>
          <p:cNvSpPr txBox="1"/>
          <p:nvPr/>
        </p:nvSpPr>
        <p:spPr>
          <a:xfrm>
            <a:off x="533400" y="333375"/>
            <a:ext cx="8229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1E293B"/>
                </a:solidFill>
                <a:latin typeface="Montserrat"/>
                <a:ea typeface="Montserrat"/>
                <a:cs typeface="Montserrat"/>
                <a:sym typeface="Montserrat"/>
              </a:rPr>
              <a:t>Getting Started — Practical Tips</a:t>
            </a:r>
            <a:endParaRPr b="1" sz="2400">
              <a:solidFill>
                <a:srgbClr val="1E293B"/>
              </a:solidFill>
              <a:latin typeface="Montserrat"/>
              <a:ea typeface="Montserrat"/>
              <a:cs typeface="Montserrat"/>
              <a:sym typeface="Montserrat"/>
            </a:endParaRPr>
          </a:p>
        </p:txBody>
      </p:sp>
      <p:grpSp>
        <p:nvGrpSpPr>
          <p:cNvPr id="766" name="Google Shape;766;p78"/>
          <p:cNvGrpSpPr/>
          <p:nvPr/>
        </p:nvGrpSpPr>
        <p:grpSpPr>
          <a:xfrm>
            <a:off x="381000" y="1047750"/>
            <a:ext cx="4191000" cy="3048000"/>
            <a:chOff x="381000" y="1047750"/>
            <a:chExt cx="4191000" cy="3048000"/>
          </a:xfrm>
        </p:grpSpPr>
        <p:sp>
          <p:nvSpPr>
            <p:cNvPr id="767" name="Google Shape;767;p78"/>
            <p:cNvSpPr/>
            <p:nvPr/>
          </p:nvSpPr>
          <p:spPr>
            <a:xfrm>
              <a:off x="381000" y="1047750"/>
              <a:ext cx="41910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8" name="Google Shape;768;p78"/>
            <p:cNvSpPr/>
            <p:nvPr/>
          </p:nvSpPr>
          <p:spPr>
            <a:xfrm>
              <a:off x="381000" y="1047750"/>
              <a:ext cx="4191000" cy="428700"/>
            </a:xfrm>
            <a:prstGeom prst="roundRect">
              <a:avLst>
                <a:gd fmla="val 26666" name="adj"/>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9" name="Google Shape;769;p78"/>
            <p:cNvSpPr/>
            <p:nvPr/>
          </p:nvSpPr>
          <p:spPr>
            <a:xfrm>
              <a:off x="381000" y="1285875"/>
              <a:ext cx="4191000" cy="1905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0" name="Google Shape;770;p78"/>
            <p:cNvSpPr txBox="1"/>
            <p:nvPr/>
          </p:nvSpPr>
          <p:spPr>
            <a:xfrm>
              <a:off x="523875" y="1095375"/>
              <a:ext cx="39054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FFFF"/>
                  </a:solidFill>
                  <a:latin typeface="Montserrat"/>
                  <a:ea typeface="Montserrat"/>
                  <a:cs typeface="Montserrat"/>
                  <a:sym typeface="Montserrat"/>
                </a:rPr>
                <a:t>Implementation Best Practices</a:t>
              </a:r>
              <a:endParaRPr b="1" sz="1300">
                <a:solidFill>
                  <a:srgbClr val="FFFFFF"/>
                </a:solidFill>
                <a:latin typeface="Montserrat"/>
                <a:ea typeface="Montserrat"/>
                <a:cs typeface="Montserrat"/>
                <a:sym typeface="Montserrat"/>
              </a:endParaRPr>
            </a:p>
          </p:txBody>
        </p:sp>
        <p:sp>
          <p:nvSpPr>
            <p:cNvPr id="771" name="Google Shape;771;p78"/>
            <p:cNvSpPr txBox="1"/>
            <p:nvPr/>
          </p:nvSpPr>
          <p:spPr>
            <a:xfrm>
              <a:off x="571500" y="1571625"/>
              <a:ext cx="3810000" cy="2381400"/>
            </a:xfrm>
            <a:prstGeom prst="rect">
              <a:avLst/>
            </a:prstGeom>
            <a:noFill/>
            <a:ln>
              <a:noFill/>
            </a:ln>
          </p:spPr>
          <p:txBody>
            <a:bodyPr anchorCtr="0" anchor="t" bIns="0" lIns="0" spcFirstLastPara="1" rIns="0" wrap="square" tIns="0">
              <a:noAutofit/>
            </a:bodyPr>
            <a:lstStyle/>
            <a:p>
              <a:pPr indent="-295275" lvl="0" marL="457200" rtl="0" algn="l">
                <a:spcBef>
                  <a:spcPts val="0"/>
                </a:spcBef>
                <a:spcAft>
                  <a:spcPts val="0"/>
                </a:spcAft>
                <a:buClr>
                  <a:srgbClr val="475569"/>
                </a:buClr>
                <a:buSzPts val="1050"/>
                <a:buFont typeface="Montserrat"/>
                <a:buChar char="●"/>
              </a:pPr>
              <a:r>
                <a:rPr b="0" lang="en" sz="1050">
                  <a:solidFill>
                    <a:srgbClr val="475569"/>
                  </a:solidFill>
                  <a:latin typeface="Montserrat Medium"/>
                  <a:ea typeface="Montserrat Medium"/>
                  <a:cs typeface="Montserrat Medium"/>
                  <a:sym typeface="Montserrat Medium"/>
                </a:rPr>
                <a:t>Install NOO </a:t>
              </a:r>
              <a:r>
                <a:rPr b="1" lang="en" sz="1050">
                  <a:solidFill>
                    <a:srgbClr val="475569"/>
                  </a:solidFill>
                  <a:latin typeface="Montserrat"/>
                  <a:ea typeface="Montserrat"/>
                  <a:cs typeface="Montserrat"/>
                  <a:sym typeface="Montserrat"/>
                </a:rPr>
                <a:t>BEFORE</a:t>
              </a:r>
              <a:r>
                <a:rPr b="0" lang="en" sz="1050">
                  <a:solidFill>
                    <a:srgbClr val="475569"/>
                  </a:solidFill>
                  <a:latin typeface="Montserrat Medium"/>
                  <a:ea typeface="Montserrat Medium"/>
                  <a:cs typeface="Montserrat Medium"/>
                  <a:sym typeface="Montserrat Medium"/>
                </a:rPr>
                <a:t> incidents — historical data is critical.</a:t>
              </a:r>
              <a:endParaRPr b="0" sz="1050">
                <a:solidFill>
                  <a:srgbClr val="475569"/>
                </a:solidFill>
                <a:latin typeface="Montserrat Medium"/>
                <a:ea typeface="Montserrat Medium"/>
                <a:cs typeface="Montserrat Medium"/>
                <a:sym typeface="Montserrat Medium"/>
              </a:endParaRPr>
            </a:p>
            <a:p>
              <a:pPr indent="-295275" lvl="0" marL="457200" rtl="0" algn="l">
                <a:spcBef>
                  <a:spcPts val="900"/>
                </a:spcBef>
                <a:spcAft>
                  <a:spcPts val="0"/>
                </a:spcAft>
                <a:buClr>
                  <a:srgbClr val="475569"/>
                </a:buClr>
                <a:buSzPts val="1050"/>
                <a:buFont typeface="Montserrat"/>
                <a:buChar char="●"/>
              </a:pPr>
              <a:r>
                <a:rPr b="0" lang="en" sz="1050">
                  <a:solidFill>
                    <a:srgbClr val="475569"/>
                  </a:solidFill>
                  <a:latin typeface="Montserrat Medium"/>
                  <a:ea typeface="Montserrat Medium"/>
                  <a:cs typeface="Montserrat Medium"/>
                  <a:sym typeface="Montserrat Medium"/>
                </a:rPr>
                <a:t>Start with </a:t>
              </a:r>
              <a:r>
                <a:rPr b="1" lang="en" sz="1050">
                  <a:solidFill>
                    <a:srgbClr val="475569"/>
                  </a:solidFill>
                  <a:latin typeface="Montserrat"/>
                  <a:ea typeface="Montserrat"/>
                  <a:cs typeface="Montserrat"/>
                  <a:sym typeface="Montserrat"/>
                </a:rPr>
                <a:t>Drops view</a:t>
              </a:r>
              <a:r>
                <a:rPr b="0" lang="en" sz="1050">
                  <a:solidFill>
                    <a:srgbClr val="475569"/>
                  </a:solidFill>
                  <a:latin typeface="Montserrat Medium"/>
                  <a:ea typeface="Montserrat Medium"/>
                  <a:cs typeface="Montserrat Medium"/>
                  <a:sym typeface="Montserrat Medium"/>
                </a:rPr>
                <a:t> — 80% of issues are visible there.</a:t>
              </a:r>
              <a:endParaRPr b="0" sz="1050">
                <a:solidFill>
                  <a:srgbClr val="475569"/>
                </a:solidFill>
                <a:latin typeface="Montserrat Medium"/>
                <a:ea typeface="Montserrat Medium"/>
                <a:cs typeface="Montserrat Medium"/>
                <a:sym typeface="Montserrat Medium"/>
              </a:endParaRPr>
            </a:p>
            <a:p>
              <a:pPr indent="-295275" lvl="0" marL="457200" rtl="0" algn="l">
                <a:spcBef>
                  <a:spcPts val="900"/>
                </a:spcBef>
                <a:spcAft>
                  <a:spcPts val="0"/>
                </a:spcAft>
                <a:buClr>
                  <a:srgbClr val="475569"/>
                </a:buClr>
                <a:buSzPts val="1050"/>
                <a:buFont typeface="Montserrat"/>
                <a:buChar char="●"/>
              </a:pPr>
              <a:r>
                <a:rPr b="0" lang="en" sz="1050">
                  <a:solidFill>
                    <a:srgbClr val="475569"/>
                  </a:solidFill>
                  <a:latin typeface="Montserrat Medium"/>
                  <a:ea typeface="Montserrat Medium"/>
                  <a:cs typeface="Montserrat Medium"/>
                  <a:sym typeface="Montserrat Medium"/>
                </a:rPr>
                <a:t>Enable </a:t>
              </a:r>
              <a:r>
                <a:rPr b="1" lang="en" sz="1050">
                  <a:solidFill>
                    <a:srgbClr val="475569"/>
                  </a:solidFill>
                  <a:latin typeface="Montserrat"/>
                  <a:ea typeface="Montserrat"/>
                  <a:cs typeface="Montserrat"/>
                  <a:sym typeface="Montserrat"/>
                </a:rPr>
                <a:t>PacketDrop + DNSTracking + NetworkEvents</a:t>
              </a:r>
              <a:r>
                <a:rPr b="0" lang="en" sz="1050">
                  <a:solidFill>
                    <a:srgbClr val="475569"/>
                  </a:solidFill>
                  <a:latin typeface="Montserrat Medium"/>
                  <a:ea typeface="Montserrat Medium"/>
                  <a:cs typeface="Montserrat Medium"/>
                  <a:sym typeface="Montserrat Medium"/>
                </a:rPr>
                <a:t>.</a:t>
              </a:r>
              <a:endParaRPr b="0" sz="1050">
                <a:solidFill>
                  <a:srgbClr val="475569"/>
                </a:solidFill>
                <a:latin typeface="Montserrat Medium"/>
                <a:ea typeface="Montserrat Medium"/>
                <a:cs typeface="Montserrat Medium"/>
                <a:sym typeface="Montserrat Medium"/>
              </a:endParaRPr>
            </a:p>
            <a:p>
              <a:pPr indent="-295275" lvl="0" marL="457200" rtl="0" algn="l">
                <a:spcBef>
                  <a:spcPts val="900"/>
                </a:spcBef>
                <a:spcAft>
                  <a:spcPts val="0"/>
                </a:spcAft>
                <a:buClr>
                  <a:srgbClr val="475569"/>
                </a:buClr>
                <a:buSzPts val="1050"/>
                <a:buFont typeface="Montserrat"/>
                <a:buChar char="●"/>
              </a:pPr>
              <a:r>
                <a:rPr b="0" lang="en" sz="1050">
                  <a:solidFill>
                    <a:srgbClr val="475569"/>
                  </a:solidFill>
                  <a:latin typeface="Montserrat Medium"/>
                  <a:ea typeface="Montserrat Medium"/>
                  <a:cs typeface="Montserrat Medium"/>
                  <a:sym typeface="Montserrat Medium"/>
                </a:rPr>
                <a:t>Tune sampling for production: </a:t>
              </a:r>
              <a:r>
                <a:rPr b="1" lang="en" sz="1050">
                  <a:solidFill>
                    <a:srgbClr val="475569"/>
                  </a:solidFill>
                  <a:latin typeface="Montserrat"/>
                  <a:ea typeface="Montserrat"/>
                  <a:cs typeface="Montserrat"/>
                  <a:sym typeface="Montserrat"/>
                </a:rPr>
                <a:t>50-100</a:t>
              </a:r>
              <a:r>
                <a:rPr b="0" lang="en" sz="1050">
                  <a:solidFill>
                    <a:srgbClr val="475569"/>
                  </a:solidFill>
                  <a:latin typeface="Montserrat Medium"/>
                  <a:ea typeface="Montserrat Medium"/>
                  <a:cs typeface="Montserrat Medium"/>
                  <a:sym typeface="Montserrat Medium"/>
                </a:rPr>
                <a:t> (avoid 1).</a:t>
              </a:r>
              <a:endParaRPr b="0" sz="1050">
                <a:solidFill>
                  <a:srgbClr val="475569"/>
                </a:solidFill>
                <a:latin typeface="Montserrat Medium"/>
                <a:ea typeface="Montserrat Medium"/>
                <a:cs typeface="Montserrat Medium"/>
                <a:sym typeface="Montserrat Medium"/>
              </a:endParaRPr>
            </a:p>
            <a:p>
              <a:pPr indent="-295275" lvl="0" marL="457200" rtl="0" algn="l">
                <a:spcBef>
                  <a:spcPts val="900"/>
                </a:spcBef>
                <a:spcAft>
                  <a:spcPts val="0"/>
                </a:spcAft>
                <a:buClr>
                  <a:srgbClr val="475569"/>
                </a:buClr>
                <a:buSzPts val="1050"/>
                <a:buFont typeface="Montserrat"/>
                <a:buChar char="●"/>
              </a:pPr>
              <a:r>
                <a:rPr b="0" lang="en" sz="1050">
                  <a:solidFill>
                    <a:srgbClr val="475569"/>
                  </a:solidFill>
                  <a:latin typeface="Montserrat Medium"/>
                  <a:ea typeface="Montserrat Medium"/>
                  <a:cs typeface="Montserrat Medium"/>
                  <a:sym typeface="Montserrat Medium"/>
                </a:rPr>
                <a:t>Set up </a:t>
              </a:r>
              <a:r>
                <a:rPr b="1" lang="en" sz="1050">
                  <a:solidFill>
                    <a:srgbClr val="475569"/>
                  </a:solidFill>
                  <a:latin typeface="Montserrat"/>
                  <a:ea typeface="Montserrat"/>
                  <a:cs typeface="Montserrat"/>
                  <a:sym typeface="Montserrat"/>
                </a:rPr>
                <a:t>Prometheus alerts</a:t>
              </a:r>
              <a:r>
                <a:rPr b="0" lang="en" sz="1050">
                  <a:solidFill>
                    <a:srgbClr val="475569"/>
                  </a:solidFill>
                  <a:latin typeface="Montserrat Medium"/>
                  <a:ea typeface="Montserrat Medium"/>
                  <a:cs typeface="Montserrat Medium"/>
                  <a:sym typeface="Montserrat Medium"/>
                </a:rPr>
                <a:t> on drop rates.</a:t>
              </a:r>
              <a:endParaRPr b="0" sz="1050">
                <a:solidFill>
                  <a:srgbClr val="475569"/>
                </a:solidFill>
                <a:latin typeface="Montserrat Medium"/>
                <a:ea typeface="Montserrat Medium"/>
                <a:cs typeface="Montserrat Medium"/>
                <a:sym typeface="Montserrat Medium"/>
              </a:endParaRPr>
            </a:p>
            <a:p>
              <a:pPr indent="-295275" lvl="0" marL="457200" rtl="0" algn="l">
                <a:spcBef>
                  <a:spcPts val="900"/>
                </a:spcBef>
                <a:spcAft>
                  <a:spcPts val="0"/>
                </a:spcAft>
                <a:buClr>
                  <a:srgbClr val="475569"/>
                </a:buClr>
                <a:buSzPts val="1050"/>
                <a:buFont typeface="Montserrat"/>
                <a:buChar char="●"/>
              </a:pPr>
              <a:r>
                <a:rPr b="0" lang="en" sz="1050">
                  <a:solidFill>
                    <a:srgbClr val="475569"/>
                  </a:solidFill>
                  <a:latin typeface="Montserrat Medium"/>
                  <a:ea typeface="Montserrat Medium"/>
                  <a:cs typeface="Montserrat Medium"/>
                  <a:sym typeface="Montserrat Medium"/>
                </a:rPr>
                <a:t>Use </a:t>
              </a:r>
              <a:r>
                <a:rPr b="1" lang="en" sz="1050">
                  <a:solidFill>
                    <a:srgbClr val="475569"/>
                  </a:solidFill>
                  <a:latin typeface="Montserrat"/>
                  <a:ea typeface="Montserrat"/>
                  <a:cs typeface="Montserrat"/>
                  <a:sym typeface="Montserrat"/>
                </a:rPr>
                <a:t>Topology View</a:t>
              </a:r>
              <a:r>
                <a:rPr b="0" lang="en" sz="1050">
                  <a:solidFill>
                    <a:srgbClr val="475569"/>
                  </a:solidFill>
                  <a:latin typeface="Montserrat Medium"/>
                  <a:ea typeface="Montserrat Medium"/>
                  <a:cs typeface="Montserrat Medium"/>
                  <a:sym typeface="Montserrat Medium"/>
                </a:rPr>
                <a:t> for architecture-level visibility.</a:t>
              </a:r>
              <a:endParaRPr b="0" sz="1050">
                <a:solidFill>
                  <a:srgbClr val="475569"/>
                </a:solidFill>
                <a:latin typeface="Montserrat Medium"/>
                <a:ea typeface="Montserrat Medium"/>
                <a:cs typeface="Montserrat Medium"/>
                <a:sym typeface="Montserrat Medium"/>
              </a:endParaRPr>
            </a:p>
          </p:txBody>
        </p:sp>
      </p:grpSp>
      <p:grpSp>
        <p:nvGrpSpPr>
          <p:cNvPr id="772" name="Google Shape;772;p78"/>
          <p:cNvGrpSpPr/>
          <p:nvPr/>
        </p:nvGrpSpPr>
        <p:grpSpPr>
          <a:xfrm>
            <a:off x="4762500" y="1047750"/>
            <a:ext cx="4191000" cy="3048000"/>
            <a:chOff x="4762500" y="1047750"/>
            <a:chExt cx="4191000" cy="3048000"/>
          </a:xfrm>
        </p:grpSpPr>
        <p:sp>
          <p:nvSpPr>
            <p:cNvPr id="773" name="Google Shape;773;p78"/>
            <p:cNvSpPr/>
            <p:nvPr/>
          </p:nvSpPr>
          <p:spPr>
            <a:xfrm>
              <a:off x="4762500" y="1047750"/>
              <a:ext cx="4191000" cy="3048000"/>
            </a:xfrm>
            <a:prstGeom prst="roundRect">
              <a:avLst>
                <a:gd fmla="val 375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4" name="Google Shape;774;p78"/>
            <p:cNvSpPr/>
            <p:nvPr/>
          </p:nvSpPr>
          <p:spPr>
            <a:xfrm>
              <a:off x="4762500" y="1047750"/>
              <a:ext cx="4191000" cy="428700"/>
            </a:xfrm>
            <a:prstGeom prst="roundRect">
              <a:avLst>
                <a:gd fmla="val 26666" name="adj"/>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5" name="Google Shape;775;p78"/>
            <p:cNvSpPr/>
            <p:nvPr/>
          </p:nvSpPr>
          <p:spPr>
            <a:xfrm>
              <a:off x="4762500" y="1285875"/>
              <a:ext cx="4191000" cy="190500"/>
            </a:xfrm>
            <a:prstGeom prst="rect">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6" name="Google Shape;776;p78"/>
            <p:cNvSpPr txBox="1"/>
            <p:nvPr/>
          </p:nvSpPr>
          <p:spPr>
            <a:xfrm>
              <a:off x="4905375" y="1095375"/>
              <a:ext cx="39054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FFFF"/>
                  </a:solidFill>
                  <a:latin typeface="Montserrat"/>
                  <a:ea typeface="Montserrat"/>
                  <a:cs typeface="Montserrat"/>
                  <a:sym typeface="Montserrat"/>
                </a:rPr>
                <a:t>Quick Install Guide</a:t>
              </a:r>
              <a:endParaRPr b="1" sz="1300">
                <a:solidFill>
                  <a:srgbClr val="FFFFFF"/>
                </a:solidFill>
                <a:latin typeface="Montserrat"/>
                <a:ea typeface="Montserrat"/>
                <a:cs typeface="Montserrat"/>
                <a:sym typeface="Montserrat"/>
              </a:endParaRPr>
            </a:p>
          </p:txBody>
        </p:sp>
        <p:sp>
          <p:nvSpPr>
            <p:cNvPr id="777" name="Google Shape;777;p78"/>
            <p:cNvSpPr txBox="1"/>
            <p:nvPr/>
          </p:nvSpPr>
          <p:spPr>
            <a:xfrm>
              <a:off x="4953000" y="1571625"/>
              <a:ext cx="38100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7B68EE"/>
                  </a:solidFill>
                  <a:latin typeface="Montserrat"/>
                  <a:ea typeface="Montserrat"/>
                  <a:cs typeface="Montserrat"/>
                  <a:sym typeface="Montserrat"/>
                </a:rPr>
                <a:t>1. OperatorHub</a:t>
              </a:r>
              <a:endParaRPr b="1" sz="10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000">
                  <a:solidFill>
                    <a:srgbClr val="475569"/>
                  </a:solidFill>
                  <a:highlight>
                    <a:srgbClr val="F1F5F9"/>
                  </a:highlight>
                  <a:latin typeface="Courier New"/>
                  <a:ea typeface="Courier New"/>
                  <a:cs typeface="Courier New"/>
                  <a:sym typeface="Courier New"/>
                </a:rPr>
                <a:t>Network Observability → Install</a:t>
              </a:r>
              <a:endParaRPr b="0" sz="1000">
                <a:solidFill>
                  <a:srgbClr val="475569"/>
                </a:solidFill>
                <a:highlight>
                  <a:srgbClr val="F1F5F9"/>
                </a:highlight>
                <a:latin typeface="Courier New"/>
                <a:ea typeface="Courier New"/>
                <a:cs typeface="Courier New"/>
                <a:sym typeface="Courier New"/>
              </a:endParaRPr>
            </a:p>
            <a:p>
              <a:pPr indent="0" lvl="0" marL="0" rtl="0" algn="l">
                <a:spcBef>
                  <a:spcPts val="1125"/>
                </a:spcBef>
                <a:spcAft>
                  <a:spcPts val="0"/>
                </a:spcAft>
                <a:buNone/>
              </a:pPr>
              <a:r>
                <a:rPr b="1" lang="en" sz="1000">
                  <a:solidFill>
                    <a:srgbClr val="7B68EE"/>
                  </a:solidFill>
                  <a:latin typeface="Montserrat"/>
                  <a:ea typeface="Montserrat"/>
                  <a:cs typeface="Montserrat"/>
                  <a:sym typeface="Montserrat"/>
                </a:rPr>
                <a:t>2. Configuration</a:t>
              </a:r>
              <a:endParaRPr b="1" sz="10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000">
                  <a:solidFill>
                    <a:srgbClr val="475569"/>
                  </a:solidFill>
                  <a:highlight>
                    <a:srgbClr val="F1F5F9"/>
                  </a:highlight>
                  <a:latin typeface="Courier New"/>
                  <a:ea typeface="Courier New"/>
                  <a:cs typeface="Courier New"/>
                  <a:sym typeface="Courier New"/>
                </a:rPr>
                <a:t>Create FlowCollector CR with features:</a:t>
              </a:r>
              <a:endParaRPr b="0" sz="1000">
                <a:solidFill>
                  <a:srgbClr val="475569"/>
                </a:solidFill>
                <a:highlight>
                  <a:srgbClr val="F1F5F9"/>
                </a:highlight>
                <a:latin typeface="Courier New"/>
                <a:ea typeface="Courier New"/>
                <a:cs typeface="Courier New"/>
                <a:sym typeface="Courier New"/>
              </a:endParaRPr>
            </a:p>
            <a:p>
              <a:pPr indent="0" lvl="0" marL="0" rtl="0" algn="l">
                <a:spcBef>
                  <a:spcPts val="375"/>
                </a:spcBef>
                <a:spcAft>
                  <a:spcPts val="0"/>
                </a:spcAft>
                <a:buNone/>
              </a:pPr>
              <a:r>
                <a:rPr b="0" lang="en" sz="1000">
                  <a:solidFill>
                    <a:srgbClr val="16A34A"/>
                  </a:solidFill>
                  <a:highlight>
                    <a:srgbClr val="F1F5F9"/>
                  </a:highlight>
                  <a:latin typeface="Courier New"/>
                  <a:ea typeface="Courier New"/>
                  <a:cs typeface="Courier New"/>
                  <a:sym typeface="Courier New"/>
                </a:rPr>
                <a:t>[PacketDrop, DNSTracking]</a:t>
              </a:r>
              <a:endParaRPr b="0" sz="1000">
                <a:solidFill>
                  <a:srgbClr val="16A34A"/>
                </a:solidFill>
                <a:highlight>
                  <a:srgbClr val="F1F5F9"/>
                </a:highlight>
                <a:latin typeface="Courier New"/>
                <a:ea typeface="Courier New"/>
                <a:cs typeface="Courier New"/>
                <a:sym typeface="Courier New"/>
              </a:endParaRPr>
            </a:p>
            <a:p>
              <a:pPr indent="0" lvl="0" marL="0" rtl="0" algn="l">
                <a:spcBef>
                  <a:spcPts val="1125"/>
                </a:spcBef>
                <a:spcAft>
                  <a:spcPts val="0"/>
                </a:spcAft>
                <a:buNone/>
              </a:pPr>
              <a:r>
                <a:rPr b="1" lang="en" sz="1000">
                  <a:solidFill>
                    <a:srgbClr val="7B68EE"/>
                  </a:solidFill>
                  <a:latin typeface="Montserrat"/>
                  <a:ea typeface="Montserrat"/>
                  <a:cs typeface="Montserrat"/>
                  <a:sym typeface="Montserrat"/>
                </a:rPr>
                <a:t>3. Verification</a:t>
              </a:r>
              <a:endParaRPr b="1" sz="10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000">
                  <a:solidFill>
                    <a:srgbClr val="475569"/>
                  </a:solidFill>
                  <a:highlight>
                    <a:srgbClr val="F1F5F9"/>
                  </a:highlight>
                  <a:latin typeface="Courier New"/>
                  <a:ea typeface="Courier New"/>
                  <a:cs typeface="Courier New"/>
                  <a:sym typeface="Courier New"/>
                </a:rPr>
                <a:t>OCP Console → Observe → Network Traffic → done</a:t>
              </a:r>
              <a:endParaRPr b="0" sz="1000">
                <a:solidFill>
                  <a:srgbClr val="475569"/>
                </a:solidFill>
                <a:highlight>
                  <a:srgbClr val="F1F5F9"/>
                </a:highlight>
                <a:latin typeface="Courier New"/>
                <a:ea typeface="Courier New"/>
                <a:cs typeface="Courier New"/>
                <a:sym typeface="Courier New"/>
              </a:endParaRPr>
            </a:p>
          </p:txBody>
        </p:sp>
      </p:grpSp>
      <p:pic>
        <p:nvPicPr>
          <p:cNvPr id="778" name="Google Shape;778;p78"/>
          <p:cNvPicPr preferRelativeResize="0"/>
          <p:nvPr/>
        </p:nvPicPr>
        <p:blipFill rotWithShape="1">
          <a:blip r:embed="rId4">
            <a:alphaModFix/>
          </a:blip>
          <a:srcRect b="1719" l="0" r="0" t="1709"/>
          <a:stretch/>
        </p:blipFill>
        <p:spPr>
          <a:xfrm>
            <a:off x="8286750" y="4524375"/>
            <a:ext cx="476400" cy="476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79"/>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pic>
        <p:nvPicPr>
          <p:cNvPr id="784" name="Google Shape;784;p79"/>
          <p:cNvPicPr preferRelativeResize="0"/>
          <p:nvPr/>
        </p:nvPicPr>
        <p:blipFill rotWithShape="1">
          <a:blip r:embed="rId3">
            <a:alphaModFix/>
          </a:blip>
          <a:srcRect b="0" l="0" r="0" t="0"/>
          <a:stretch/>
        </p:blipFill>
        <p:spPr>
          <a:xfrm>
            <a:off x="7991468" y="4501355"/>
            <a:ext cx="553002" cy="572625"/>
          </a:xfrm>
          <a:prstGeom prst="rect">
            <a:avLst/>
          </a:prstGeom>
          <a:noFill/>
          <a:ln>
            <a:noFill/>
          </a:ln>
        </p:spPr>
      </p:pic>
      <p:sp>
        <p:nvSpPr>
          <p:cNvPr id="785" name="Google Shape;785;p79"/>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6" name="Google Shape;786;p79"/>
          <p:cNvSpPr txBox="1"/>
          <p:nvPr/>
        </p:nvSpPr>
        <p:spPr>
          <a:xfrm>
            <a:off x="400000" y="320000"/>
            <a:ext cx="780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2D2D2D"/>
                </a:solidFill>
                <a:latin typeface="Montserrat SemiBold"/>
                <a:ea typeface="Montserrat SemiBold"/>
                <a:cs typeface="Montserrat SemiBold"/>
                <a:sym typeface="Montserrat SemiBold"/>
              </a:rPr>
              <a:t>How eBPF + NOO Found It</a:t>
            </a:r>
            <a:endParaRPr/>
          </a:p>
        </p:txBody>
      </p:sp>
      <p:grpSp>
        <p:nvGrpSpPr>
          <p:cNvPr id="787" name="Google Shape;787;p79"/>
          <p:cNvGrpSpPr/>
          <p:nvPr/>
        </p:nvGrpSpPr>
        <p:grpSpPr>
          <a:xfrm>
            <a:off x="381000" y="1095375"/>
            <a:ext cx="4286400" cy="2952900"/>
            <a:chOff x="381000" y="1095375"/>
            <a:chExt cx="4286400" cy="2952900"/>
          </a:xfrm>
        </p:grpSpPr>
        <p:sp>
          <p:nvSpPr>
            <p:cNvPr id="788" name="Google Shape;788;p79"/>
            <p:cNvSpPr/>
            <p:nvPr/>
          </p:nvSpPr>
          <p:spPr>
            <a:xfrm>
              <a:off x="381000" y="1095375"/>
              <a:ext cx="4286400" cy="2952900"/>
            </a:xfrm>
            <a:prstGeom prst="roundRect">
              <a:avLst>
                <a:gd fmla="val 387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9" name="Google Shape;789;p79"/>
            <p:cNvSpPr/>
            <p:nvPr/>
          </p:nvSpPr>
          <p:spPr>
            <a:xfrm>
              <a:off x="381000" y="1095375"/>
              <a:ext cx="4286400" cy="381000"/>
            </a:xfrm>
            <a:prstGeom prst="roundRect">
              <a:avLst>
                <a:gd fmla="val 30000" name="adj"/>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0" name="Google Shape;790;p79"/>
            <p:cNvSpPr/>
            <p:nvPr/>
          </p:nvSpPr>
          <p:spPr>
            <a:xfrm>
              <a:off x="381000" y="1333500"/>
              <a:ext cx="4286400" cy="1428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1" name="Google Shape;791;p79"/>
            <p:cNvSpPr txBox="1"/>
            <p:nvPr/>
          </p:nvSpPr>
          <p:spPr>
            <a:xfrm>
              <a:off x="523875" y="1143000"/>
              <a:ext cx="4000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FFFFFF"/>
                  </a:solidFill>
                  <a:latin typeface="Montserrat"/>
                  <a:ea typeface="Montserrat"/>
                  <a:cs typeface="Montserrat"/>
                  <a:sym typeface="Montserrat"/>
                </a:rPr>
                <a:t>The Investigative Chain</a:t>
              </a:r>
              <a:endParaRPr b="1" sz="1200">
                <a:solidFill>
                  <a:srgbClr val="FFFFFF"/>
                </a:solidFill>
                <a:latin typeface="Montserrat"/>
                <a:ea typeface="Montserrat"/>
                <a:cs typeface="Montserrat"/>
                <a:sym typeface="Montserrat"/>
              </a:endParaRPr>
            </a:p>
          </p:txBody>
        </p:sp>
        <p:sp>
          <p:nvSpPr>
            <p:cNvPr id="792" name="Google Shape;792;p79"/>
            <p:cNvSpPr txBox="1"/>
            <p:nvPr/>
          </p:nvSpPr>
          <p:spPr>
            <a:xfrm>
              <a:off x="523875" y="1571625"/>
              <a:ext cx="4000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7B68EE"/>
                  </a:solidFill>
                  <a:latin typeface="Montserrat"/>
                  <a:ea typeface="Montserrat"/>
                  <a:cs typeface="Montserrat"/>
                  <a:sym typeface="Montserrat"/>
                </a:rPr>
                <a:t>1. Entry:</a:t>
              </a:r>
              <a:r>
                <a:rPr lang="en" sz="950">
                  <a:solidFill>
                    <a:srgbClr val="475569"/>
                  </a:solidFill>
                  <a:latin typeface="Montserrat"/>
                  <a:ea typeface="Montserrat"/>
                  <a:cs typeface="Montserrat"/>
                  <a:sym typeface="Montserrat"/>
                </a:rPr>
                <a:t> Packet enters kernel → TC hook captures metadata</a:t>
              </a:r>
              <a:endParaRPr sz="950">
                <a:solidFill>
                  <a:srgbClr val="475569"/>
                </a:solidFill>
                <a:latin typeface="Montserrat"/>
                <a:ea typeface="Montserrat"/>
                <a:cs typeface="Montserrat"/>
                <a:sym typeface="Montserrat"/>
              </a:endParaRPr>
            </a:p>
            <a:p>
              <a:pPr indent="0" lvl="0" marL="0" rtl="0" algn="l">
                <a:spcBef>
                  <a:spcPts val="600"/>
                </a:spcBef>
                <a:spcAft>
                  <a:spcPts val="0"/>
                </a:spcAft>
                <a:buNone/>
              </a:pPr>
              <a:r>
                <a:rPr b="1" lang="en" sz="950">
                  <a:solidFill>
                    <a:srgbClr val="7B68EE"/>
                  </a:solidFill>
                  <a:latin typeface="Montserrat"/>
                  <a:ea typeface="Montserrat"/>
                  <a:cs typeface="Montserrat"/>
                  <a:sym typeface="Montserrat"/>
                </a:rPr>
                <a:t>2. Pipeline:</a:t>
              </a:r>
              <a:r>
                <a:rPr lang="en" sz="950">
                  <a:solidFill>
                    <a:srgbClr val="475569"/>
                  </a:solidFill>
                  <a:latin typeface="Montserrat"/>
                  <a:ea typeface="Montserrat"/>
                  <a:cs typeface="Montserrat"/>
                  <a:sym typeface="Montserrat"/>
                </a:rPr>
                <a:t> Traverses OVN pipeline → forwarded (correct)</a:t>
              </a:r>
              <a:endParaRPr sz="950">
                <a:solidFill>
                  <a:srgbClr val="475569"/>
                </a:solidFill>
                <a:latin typeface="Montserrat"/>
                <a:ea typeface="Montserrat"/>
                <a:cs typeface="Montserrat"/>
                <a:sym typeface="Montserrat"/>
              </a:endParaRPr>
            </a:p>
            <a:p>
              <a:pPr indent="0" lvl="0" marL="0" rtl="0" algn="l">
                <a:spcBef>
                  <a:spcPts val="600"/>
                </a:spcBef>
                <a:spcAft>
                  <a:spcPts val="0"/>
                </a:spcAft>
                <a:buNone/>
              </a:pPr>
              <a:r>
                <a:rPr b="1" lang="en" sz="950">
                  <a:solidFill>
                    <a:srgbClr val="7B68EE"/>
                  </a:solidFill>
                  <a:latin typeface="Montserrat"/>
                  <a:ea typeface="Montserrat"/>
                  <a:cs typeface="Montserrat"/>
                  <a:sym typeface="Montserrat"/>
                </a:rPr>
                <a:t>3. The Drop:</a:t>
              </a:r>
              <a:r>
                <a:rPr lang="en" sz="950">
                  <a:solidFill>
                    <a:srgbClr val="475569"/>
                  </a:solidFill>
                  <a:latin typeface="Montserrat"/>
                  <a:ea typeface="Montserrat"/>
                  <a:cs typeface="Montserrat"/>
                  <a:sym typeface="Montserrat"/>
                </a:rPr>
                <a:t> Hits conntrack → CT_INVALID → kernel drops it</a:t>
              </a:r>
              <a:endParaRPr sz="950">
                <a:solidFill>
                  <a:srgbClr val="475569"/>
                </a:solidFill>
                <a:latin typeface="Montserrat"/>
                <a:ea typeface="Montserrat"/>
                <a:cs typeface="Montserrat"/>
                <a:sym typeface="Montserrat"/>
              </a:endParaRPr>
            </a:p>
            <a:p>
              <a:pPr indent="0" lvl="0" marL="0" rtl="0" algn="l">
                <a:spcBef>
                  <a:spcPts val="600"/>
                </a:spcBef>
                <a:spcAft>
                  <a:spcPts val="0"/>
                </a:spcAft>
                <a:buNone/>
              </a:pPr>
              <a:r>
                <a:rPr b="1" lang="en" sz="950">
                  <a:solidFill>
                    <a:srgbClr val="7B68EE"/>
                  </a:solidFill>
                  <a:latin typeface="Montserrat"/>
                  <a:ea typeface="Montserrat"/>
                  <a:cs typeface="Montserrat"/>
                  <a:sym typeface="Montserrat"/>
                </a:rPr>
                <a:t>4. Capture:</a:t>
              </a:r>
              <a:r>
                <a:rPr lang="en" sz="950">
                  <a:solidFill>
                    <a:srgbClr val="475569"/>
                  </a:solidFill>
                  <a:latin typeface="Montserrat"/>
                  <a:ea typeface="Montserrat"/>
                  <a:cs typeface="Montserrat"/>
                  <a:sym typeface="Montserrat"/>
                </a:rPr>
                <a:t> kfree_skb tracepoint FIRES → captures drop reason</a:t>
              </a:r>
              <a:endParaRPr sz="950">
                <a:solidFill>
                  <a:srgbClr val="475569"/>
                </a:solidFill>
                <a:latin typeface="Montserrat"/>
                <a:ea typeface="Montserrat"/>
                <a:cs typeface="Montserrat"/>
                <a:sym typeface="Montserrat"/>
              </a:endParaRPr>
            </a:p>
            <a:p>
              <a:pPr indent="0" lvl="0" marL="0" rtl="0" algn="l">
                <a:spcBef>
                  <a:spcPts val="600"/>
                </a:spcBef>
                <a:spcAft>
                  <a:spcPts val="0"/>
                </a:spcAft>
                <a:buNone/>
              </a:pPr>
              <a:r>
                <a:rPr b="1" lang="en" sz="950">
                  <a:solidFill>
                    <a:srgbClr val="7B68EE"/>
                  </a:solidFill>
                  <a:latin typeface="Montserrat"/>
                  <a:ea typeface="Montserrat"/>
                  <a:cs typeface="Montserrat"/>
                  <a:sym typeface="Montserrat"/>
                </a:rPr>
                <a:t>5. Export:</a:t>
              </a:r>
              <a:r>
                <a:rPr lang="en" sz="950">
                  <a:solidFill>
                    <a:srgbClr val="475569"/>
                  </a:solidFill>
                  <a:latin typeface="Montserrat"/>
                  <a:ea typeface="Montserrat"/>
                  <a:cs typeface="Montserrat"/>
                  <a:sym typeface="Montserrat"/>
                </a:rPr>
                <a:t> eBPF agent reads ring buffer → exports flow record</a:t>
              </a:r>
              <a:endParaRPr sz="950">
                <a:solidFill>
                  <a:srgbClr val="475569"/>
                </a:solidFill>
                <a:latin typeface="Montserrat"/>
                <a:ea typeface="Montserrat"/>
                <a:cs typeface="Montserrat"/>
                <a:sym typeface="Montserrat"/>
              </a:endParaRPr>
            </a:p>
            <a:p>
              <a:pPr indent="0" lvl="0" marL="0" rtl="0" algn="l">
                <a:spcBef>
                  <a:spcPts val="600"/>
                </a:spcBef>
                <a:spcAft>
                  <a:spcPts val="0"/>
                </a:spcAft>
                <a:buNone/>
              </a:pPr>
              <a:r>
                <a:rPr b="1" lang="en" sz="950">
                  <a:solidFill>
                    <a:srgbClr val="7B68EE"/>
                  </a:solidFill>
                  <a:latin typeface="Montserrat"/>
                  <a:ea typeface="Montserrat"/>
                  <a:cs typeface="Montserrat"/>
                  <a:sym typeface="Montserrat"/>
                </a:rPr>
                <a:t>6. Enrich:</a:t>
              </a:r>
              <a:r>
                <a:rPr lang="en" sz="950">
                  <a:solidFill>
                    <a:srgbClr val="475569"/>
                  </a:solidFill>
                  <a:latin typeface="Montserrat"/>
                  <a:ea typeface="Montserrat"/>
                  <a:cs typeface="Montserrat"/>
                  <a:sym typeface="Montserrat"/>
                </a:rPr>
                <a:t> FLP maps IP to 'backend-api on worker-3'</a:t>
              </a:r>
              <a:endParaRPr sz="950">
                <a:solidFill>
                  <a:srgbClr val="475569"/>
                </a:solidFill>
                <a:latin typeface="Montserrat"/>
                <a:ea typeface="Montserrat"/>
                <a:cs typeface="Montserrat"/>
                <a:sym typeface="Montserrat"/>
              </a:endParaRPr>
            </a:p>
            <a:p>
              <a:pPr indent="0" lvl="0" marL="0" rtl="0" algn="l">
                <a:spcBef>
                  <a:spcPts val="600"/>
                </a:spcBef>
                <a:spcAft>
                  <a:spcPts val="0"/>
                </a:spcAft>
                <a:buNone/>
              </a:pPr>
              <a:r>
                <a:rPr b="1" lang="en" sz="950">
                  <a:solidFill>
                    <a:srgbClr val="7B68EE"/>
                  </a:solidFill>
                  <a:latin typeface="Montserrat"/>
                  <a:ea typeface="Montserrat"/>
                  <a:cs typeface="Montserrat"/>
                  <a:sym typeface="Montserrat"/>
                </a:rPr>
                <a:t>7. Visual:</a:t>
              </a:r>
              <a:r>
                <a:rPr lang="en" sz="950">
                  <a:solidFill>
                    <a:srgbClr val="475569"/>
                  </a:solidFill>
                  <a:latin typeface="Montserrat"/>
                  <a:ea typeface="Montserrat"/>
                  <a:cs typeface="Montserrat"/>
                  <a:sym typeface="Montserrat"/>
                </a:rPr>
                <a:t> Loki stores → Console displays the insight</a:t>
              </a:r>
              <a:endParaRPr sz="950">
                <a:solidFill>
                  <a:srgbClr val="475569"/>
                </a:solidFill>
                <a:latin typeface="Montserrat"/>
                <a:ea typeface="Montserrat"/>
                <a:cs typeface="Montserrat"/>
                <a:sym typeface="Montserrat"/>
              </a:endParaRPr>
            </a:p>
          </p:txBody>
        </p:sp>
      </p:grpSp>
      <p:grpSp>
        <p:nvGrpSpPr>
          <p:cNvPr id="793" name="Google Shape;793;p79"/>
          <p:cNvGrpSpPr/>
          <p:nvPr/>
        </p:nvGrpSpPr>
        <p:grpSpPr>
          <a:xfrm>
            <a:off x="4857750" y="1095375"/>
            <a:ext cx="3905400" cy="1333500"/>
            <a:chOff x="4857750" y="1095375"/>
            <a:chExt cx="3905400" cy="1333500"/>
          </a:xfrm>
        </p:grpSpPr>
        <p:sp>
          <p:nvSpPr>
            <p:cNvPr id="794" name="Google Shape;794;p79"/>
            <p:cNvSpPr/>
            <p:nvPr/>
          </p:nvSpPr>
          <p:spPr>
            <a:xfrm>
              <a:off x="4857750" y="1095375"/>
              <a:ext cx="3905400" cy="1333500"/>
            </a:xfrm>
            <a:prstGeom prst="roundRect">
              <a:avLst>
                <a:gd fmla="val 8571"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5" name="Google Shape;795;p79"/>
            <p:cNvSpPr txBox="1"/>
            <p:nvPr/>
          </p:nvSpPr>
          <p:spPr>
            <a:xfrm>
              <a:off x="5000625" y="1238250"/>
              <a:ext cx="36195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Instant Visibility</a:t>
              </a:r>
              <a:endParaRPr b="1" sz="1300">
                <a:solidFill>
                  <a:srgbClr val="7B68EE"/>
                </a:solidFill>
                <a:latin typeface="Montserrat"/>
                <a:ea typeface="Montserrat"/>
                <a:cs typeface="Montserrat"/>
                <a:sym typeface="Montserrat"/>
              </a:endParaRPr>
            </a:p>
            <a:p>
              <a:pPr indent="0" lvl="0" marL="0" rtl="0" algn="l">
                <a:spcBef>
                  <a:spcPts val="600"/>
                </a:spcBef>
                <a:spcAft>
                  <a:spcPts val="0"/>
                </a:spcAft>
                <a:buNone/>
              </a:pPr>
              <a:r>
                <a:rPr lang="en" sz="1050">
                  <a:solidFill>
                    <a:srgbClr val="475569"/>
                  </a:solidFill>
                  <a:latin typeface="Montserrat"/>
                  <a:ea typeface="Montserrat"/>
                  <a:cs typeface="Montserrat"/>
                  <a:sym typeface="Montserrat"/>
                </a:rPr>
                <a:t>Open the dashboard, filter by drops, and the answer is on your screen in </a:t>
              </a:r>
              <a:r>
                <a:rPr b="1" lang="en" sz="1050">
                  <a:solidFill>
                    <a:srgbClr val="2D2D2D"/>
                  </a:solidFill>
                  <a:latin typeface="Montserrat"/>
                  <a:ea typeface="Montserrat"/>
                  <a:cs typeface="Montserrat"/>
                  <a:sym typeface="Montserrat"/>
                </a:rPr>
                <a:t>5 seconds.</a:t>
              </a:r>
              <a:endParaRPr sz="1050">
                <a:solidFill>
                  <a:srgbClr val="475569"/>
                </a:solidFill>
                <a:latin typeface="Montserrat"/>
                <a:ea typeface="Montserrat"/>
                <a:cs typeface="Montserrat"/>
                <a:sym typeface="Montserrat"/>
              </a:endParaRPr>
            </a:p>
          </p:txBody>
        </p:sp>
      </p:grpSp>
      <p:grpSp>
        <p:nvGrpSpPr>
          <p:cNvPr id="796" name="Google Shape;796;p79"/>
          <p:cNvGrpSpPr/>
          <p:nvPr/>
        </p:nvGrpSpPr>
        <p:grpSpPr>
          <a:xfrm>
            <a:off x="4857750" y="2571750"/>
            <a:ext cx="3905400" cy="1476300"/>
            <a:chOff x="4857750" y="2571750"/>
            <a:chExt cx="3905400" cy="1476300"/>
          </a:xfrm>
        </p:grpSpPr>
        <p:sp>
          <p:nvSpPr>
            <p:cNvPr id="797" name="Google Shape;797;p79"/>
            <p:cNvSpPr/>
            <p:nvPr/>
          </p:nvSpPr>
          <p:spPr>
            <a:xfrm>
              <a:off x="4857750" y="2571750"/>
              <a:ext cx="3905400" cy="1476300"/>
            </a:xfrm>
            <a:prstGeom prst="roundRect">
              <a:avLst>
                <a:gd fmla="val 7741" name="adj"/>
              </a:avLst>
            </a:prstGeom>
            <a:solidFill>
              <a:srgbClr val="E8F5E9"/>
            </a:solidFill>
            <a:ln cap="flat" cmpd="sng" w="9525">
              <a:solidFill>
                <a:srgbClr val="C8E6C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8" name="Google Shape;798;p79"/>
            <p:cNvSpPr txBox="1"/>
            <p:nvPr/>
          </p:nvSpPr>
          <p:spPr>
            <a:xfrm>
              <a:off x="5000625" y="2714625"/>
              <a:ext cx="3619500" cy="1190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E7D32"/>
                  </a:solidFill>
                  <a:latin typeface="Montserrat"/>
                  <a:ea typeface="Montserrat"/>
                  <a:cs typeface="Montserrat"/>
                  <a:sym typeface="Montserrat"/>
                </a:rPr>
                <a:t>Why it matters:</a:t>
              </a:r>
              <a:endParaRPr b="1" sz="1100">
                <a:solidFill>
                  <a:srgbClr val="2E7D32"/>
                </a:solidFill>
                <a:latin typeface="Montserrat"/>
                <a:ea typeface="Montserrat"/>
                <a:cs typeface="Montserrat"/>
                <a:sym typeface="Montserrat"/>
              </a:endParaRPr>
            </a:p>
            <a:p>
              <a:pPr indent="0" lvl="0" marL="0" rtl="0" algn="l">
                <a:spcBef>
                  <a:spcPts val="750"/>
                </a:spcBef>
                <a:spcAft>
                  <a:spcPts val="0"/>
                </a:spcAft>
                <a:buNone/>
              </a:pPr>
              <a:r>
                <a:rPr i="1" lang="en" sz="1000">
                  <a:solidFill>
                    <a:srgbClr val="1B5E20"/>
                  </a:solidFill>
                  <a:latin typeface="Montserrat"/>
                  <a:ea typeface="Montserrat"/>
                  <a:cs typeface="Montserrat"/>
                  <a:sym typeface="Montserrat"/>
                </a:rPr>
                <a:t>"The eBPF kfree_skb tracepoint is the ONLY place in the kernel that reports WHY a packet was dropped."</a:t>
              </a:r>
              <a:endParaRPr i="1" sz="1000">
                <a:solidFill>
                  <a:srgbClr val="1B5E20"/>
                </a:solidFill>
                <a:latin typeface="Montserrat"/>
                <a:ea typeface="Montserrat"/>
                <a:cs typeface="Montserrat"/>
                <a:sym typeface="Montserrat"/>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2" name="Shape 802"/>
        <p:cNvGrpSpPr/>
        <p:nvPr/>
      </p:nvGrpSpPr>
      <p:grpSpPr>
        <a:xfrm>
          <a:off x="0" y="0"/>
          <a:ext cx="0" cy="0"/>
          <a:chOff x="0" y="0"/>
          <a:chExt cx="0" cy="0"/>
        </a:xfrm>
      </p:grpSpPr>
      <p:sp>
        <p:nvSpPr>
          <p:cNvPr id="803" name="Google Shape;803;p80"/>
          <p:cNvSpPr/>
          <p:nvPr/>
        </p:nvSpPr>
        <p:spPr>
          <a:xfrm>
            <a:off x="-19936" y="4346550"/>
            <a:ext cx="9183900" cy="882300"/>
          </a:xfrm>
          <a:prstGeom prst="rect">
            <a:avLst/>
          </a:prstGeom>
          <a:solidFill>
            <a:srgbClr val="8E83E4"/>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8E83E4"/>
              </a:solidFill>
              <a:latin typeface="Arial"/>
              <a:ea typeface="Arial"/>
              <a:cs typeface="Arial"/>
              <a:sym typeface="Arial"/>
            </a:endParaRPr>
          </a:p>
        </p:txBody>
      </p:sp>
      <p:sp>
        <p:nvSpPr>
          <p:cNvPr id="804" name="Google Shape;804;p80"/>
          <p:cNvSpPr/>
          <p:nvPr/>
        </p:nvSpPr>
        <p:spPr>
          <a:xfrm>
            <a:off x="381000" y="1143000"/>
            <a:ext cx="4191000" cy="2857500"/>
          </a:xfrm>
          <a:prstGeom prst="roundRect">
            <a:avLst>
              <a:gd fmla="val 4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05" name="Google Shape;805;p80"/>
          <p:cNvPicPr preferRelativeResize="0"/>
          <p:nvPr/>
        </p:nvPicPr>
        <p:blipFill rotWithShape="1">
          <a:blip r:embed="rId4">
            <a:alphaModFix/>
          </a:blip>
          <a:srcRect b="0" l="0" r="0" t="0"/>
          <a:stretch/>
        </p:blipFill>
        <p:spPr>
          <a:xfrm>
            <a:off x="7991468" y="4501355"/>
            <a:ext cx="553002" cy="572625"/>
          </a:xfrm>
          <a:prstGeom prst="rect">
            <a:avLst/>
          </a:prstGeom>
          <a:noFill/>
          <a:ln>
            <a:noFill/>
          </a:ln>
        </p:spPr>
      </p:pic>
      <p:sp>
        <p:nvSpPr>
          <p:cNvPr id="806" name="Google Shape;806;p80"/>
          <p:cNvSpPr/>
          <p:nvPr/>
        </p:nvSpPr>
        <p:spPr>
          <a:xfrm>
            <a:off x="381000" y="1143000"/>
            <a:ext cx="4191000" cy="381000"/>
          </a:xfrm>
          <a:prstGeom prst="roundRect">
            <a:avLst>
              <a:gd fmla="val 30000"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7" name="Google Shape;807;p80"/>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8" name="Google Shape;808;p80"/>
          <p:cNvSpPr/>
          <p:nvPr/>
        </p:nvSpPr>
        <p:spPr>
          <a:xfrm>
            <a:off x="381000" y="1333500"/>
            <a:ext cx="4191000" cy="190500"/>
          </a:xfrm>
          <a:prstGeom prst="rect">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9" name="Google Shape;809;p80"/>
          <p:cNvSpPr txBox="1"/>
          <p:nvPr/>
        </p:nvSpPr>
        <p:spPr>
          <a:xfrm>
            <a:off x="400000" y="320000"/>
            <a:ext cx="780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2D2D2D"/>
                </a:solidFill>
                <a:latin typeface="Montserrat SemiBold"/>
                <a:ea typeface="Montserrat SemiBold"/>
                <a:cs typeface="Montserrat SemiBold"/>
                <a:sym typeface="Montserrat SemiBold"/>
              </a:rPr>
              <a:t>Impact: Real Customer Results</a:t>
            </a:r>
            <a:endParaRPr/>
          </a:p>
        </p:txBody>
      </p:sp>
      <p:sp>
        <p:nvSpPr>
          <p:cNvPr id="810" name="Google Shape;810;p80"/>
          <p:cNvSpPr txBox="1"/>
          <p:nvPr/>
        </p:nvSpPr>
        <p:spPr>
          <a:xfrm>
            <a:off x="523875" y="1190625"/>
            <a:ext cx="3905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991B1B"/>
                </a:solidFill>
                <a:latin typeface="Montserrat"/>
                <a:ea typeface="Montserrat"/>
                <a:cs typeface="Montserrat"/>
                <a:sym typeface="Montserrat"/>
              </a:rPr>
              <a:t>Traditional Approach (Before NOO)</a:t>
            </a:r>
            <a:endParaRPr b="1" sz="1200">
              <a:solidFill>
                <a:srgbClr val="991B1B"/>
              </a:solidFill>
              <a:latin typeface="Montserrat"/>
              <a:ea typeface="Montserrat"/>
              <a:cs typeface="Montserrat"/>
              <a:sym typeface="Montserrat"/>
            </a:endParaRPr>
          </a:p>
        </p:txBody>
      </p:sp>
      <p:sp>
        <p:nvSpPr>
          <p:cNvPr id="811" name="Google Shape;811;p80"/>
          <p:cNvSpPr txBox="1"/>
          <p:nvPr/>
        </p:nvSpPr>
        <p:spPr>
          <a:xfrm>
            <a:off x="571500" y="1619250"/>
            <a:ext cx="38100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B91C1C"/>
                </a:solidFill>
                <a:latin typeface="Montserrat"/>
                <a:ea typeface="Montserrat"/>
                <a:cs typeface="Montserrat"/>
                <a:sym typeface="Montserrat"/>
              </a:rPr>
              <a:t>2-20 DAYS</a:t>
            </a:r>
            <a:br>
              <a:rPr b="0" lang="en" sz="1100">
                <a:solidFill>
                  <a:srgbClr val="475569"/>
                </a:solidFill>
                <a:latin typeface="Montserrat"/>
                <a:ea typeface="Montserrat"/>
                <a:cs typeface="Montserrat"/>
                <a:sym typeface="Montserrat"/>
              </a:rPr>
            </a:br>
            <a:r>
              <a:rPr b="0" lang="en" sz="1100">
                <a:solidFill>
                  <a:srgbClr val="475569"/>
                </a:solidFill>
                <a:latin typeface="Montserrat"/>
                <a:ea typeface="Montserrat"/>
                <a:cs typeface="Montserrat"/>
                <a:sym typeface="Montserrat"/>
              </a:rPr>
              <a:t>Average time to find root cause</a:t>
            </a:r>
            <a:endParaRPr b="0" sz="1100">
              <a:solidFill>
                <a:srgbClr val="475569"/>
              </a:solidFill>
              <a:latin typeface="Montserrat"/>
              <a:ea typeface="Montserrat"/>
              <a:cs typeface="Montserrat"/>
              <a:sym typeface="Montserrat"/>
            </a:endParaRPr>
          </a:p>
          <a:p>
            <a:pPr indent="0" lvl="0" marL="0" rtl="0" algn="l">
              <a:spcBef>
                <a:spcPts val="900"/>
              </a:spcBef>
              <a:spcAft>
                <a:spcPts val="0"/>
              </a:spcAft>
              <a:buNone/>
            </a:pPr>
            <a:r>
              <a:rPr b="1" lang="en" sz="1100">
                <a:solidFill>
                  <a:srgbClr val="1E293B"/>
                </a:solidFill>
                <a:latin typeface="Montserrat"/>
                <a:ea typeface="Montserrat"/>
                <a:cs typeface="Montserrat"/>
                <a:sym typeface="Montserrat"/>
              </a:rPr>
              <a:t>Complex Tooling</a:t>
            </a:r>
            <a:br>
              <a:rPr b="0" lang="en" sz="1100">
                <a:solidFill>
                  <a:srgbClr val="475569"/>
                </a:solidFill>
                <a:latin typeface="Montserrat"/>
                <a:ea typeface="Montserrat"/>
                <a:cs typeface="Montserrat"/>
                <a:sym typeface="Montserrat"/>
              </a:rPr>
            </a:br>
            <a:r>
              <a:rPr b="0" lang="en" sz="1100">
                <a:solidFill>
                  <a:srgbClr val="475569"/>
                </a:solidFill>
                <a:latin typeface="Montserrat"/>
                <a:ea typeface="Montserrat"/>
                <a:cs typeface="Montserrat"/>
                <a:sym typeface="Montserrat"/>
              </a:rPr>
              <a:t>tcpdump, sosreports, must-gathers, manual OVN analysis</a:t>
            </a:r>
            <a:endParaRPr b="0" sz="1100">
              <a:solidFill>
                <a:srgbClr val="475569"/>
              </a:solidFill>
              <a:latin typeface="Montserrat"/>
              <a:ea typeface="Montserrat"/>
              <a:cs typeface="Montserrat"/>
              <a:sym typeface="Montserrat"/>
            </a:endParaRPr>
          </a:p>
          <a:p>
            <a:pPr indent="0" lvl="0" marL="0" rtl="0" algn="l">
              <a:spcBef>
                <a:spcPts val="900"/>
              </a:spcBef>
              <a:spcAft>
                <a:spcPts val="0"/>
              </a:spcAft>
              <a:buNone/>
            </a:pPr>
            <a:r>
              <a:rPr b="1" lang="en" sz="1100">
                <a:solidFill>
                  <a:srgbClr val="1E293B"/>
                </a:solidFill>
                <a:latin typeface="Montserrat"/>
                <a:ea typeface="Montserrat"/>
                <a:cs typeface="Montserrat"/>
                <a:sym typeface="Montserrat"/>
              </a:rPr>
              <a:t>High Resource Cost</a:t>
            </a:r>
            <a:br>
              <a:rPr b="0" lang="en" sz="1100">
                <a:solidFill>
                  <a:srgbClr val="475569"/>
                </a:solidFill>
                <a:latin typeface="Montserrat"/>
                <a:ea typeface="Montserrat"/>
                <a:cs typeface="Montserrat"/>
                <a:sym typeface="Montserrat"/>
              </a:rPr>
            </a:br>
            <a:r>
              <a:rPr b="0" lang="en" sz="1100">
                <a:solidFill>
                  <a:srgbClr val="475569"/>
                </a:solidFill>
                <a:latin typeface="Montserrat"/>
                <a:ea typeface="Montserrat"/>
                <a:cs typeface="Montserrat"/>
                <a:sym typeface="Montserrat"/>
              </a:rPr>
              <a:t>3+ engineers, multiple escalations often required</a:t>
            </a:r>
            <a:endParaRPr b="0" sz="1100">
              <a:solidFill>
                <a:srgbClr val="475569"/>
              </a:solidFill>
              <a:latin typeface="Montserrat"/>
              <a:ea typeface="Montserrat"/>
              <a:cs typeface="Montserrat"/>
              <a:sym typeface="Montserrat"/>
            </a:endParaRPr>
          </a:p>
        </p:txBody>
      </p:sp>
      <p:sp>
        <p:nvSpPr>
          <p:cNvPr id="812" name="Google Shape;812;p80"/>
          <p:cNvSpPr/>
          <p:nvPr/>
        </p:nvSpPr>
        <p:spPr>
          <a:xfrm>
            <a:off x="4667250" y="1143000"/>
            <a:ext cx="4191000" cy="2857500"/>
          </a:xfrm>
          <a:prstGeom prst="roundRect">
            <a:avLst>
              <a:gd fmla="val 4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3" name="Google Shape;813;p80"/>
          <p:cNvSpPr/>
          <p:nvPr/>
        </p:nvSpPr>
        <p:spPr>
          <a:xfrm>
            <a:off x="4667250" y="1143000"/>
            <a:ext cx="4191000" cy="381000"/>
          </a:xfrm>
          <a:prstGeom prst="roundRect">
            <a:avLst>
              <a:gd fmla="val 30000" name="adj"/>
            </a:avLst>
          </a:prstGeom>
          <a:solidFill>
            <a:srgbClr val="DCFC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4" name="Google Shape;814;p80"/>
          <p:cNvSpPr/>
          <p:nvPr/>
        </p:nvSpPr>
        <p:spPr>
          <a:xfrm>
            <a:off x="4667250" y="1333500"/>
            <a:ext cx="4191000" cy="190500"/>
          </a:xfrm>
          <a:prstGeom prst="rect">
            <a:avLst/>
          </a:prstGeom>
          <a:solidFill>
            <a:srgbClr val="DCFC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5" name="Google Shape;815;p80"/>
          <p:cNvSpPr txBox="1"/>
          <p:nvPr/>
        </p:nvSpPr>
        <p:spPr>
          <a:xfrm>
            <a:off x="4810125" y="1190625"/>
            <a:ext cx="3905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166534"/>
                </a:solidFill>
                <a:latin typeface="Montserrat"/>
                <a:ea typeface="Montserrat"/>
                <a:cs typeface="Montserrat"/>
                <a:sym typeface="Montserrat"/>
              </a:rPr>
              <a:t>eBPF Approach (After NOO)</a:t>
            </a:r>
            <a:endParaRPr b="1" sz="1200">
              <a:solidFill>
                <a:srgbClr val="166534"/>
              </a:solidFill>
              <a:latin typeface="Montserrat"/>
              <a:ea typeface="Montserrat"/>
              <a:cs typeface="Montserrat"/>
              <a:sym typeface="Montserrat"/>
            </a:endParaRPr>
          </a:p>
        </p:txBody>
      </p:sp>
      <p:sp>
        <p:nvSpPr>
          <p:cNvPr id="816" name="Google Shape;816;p80"/>
          <p:cNvSpPr txBox="1"/>
          <p:nvPr/>
        </p:nvSpPr>
        <p:spPr>
          <a:xfrm>
            <a:off x="4857750" y="1619250"/>
            <a:ext cx="38100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15803D"/>
                </a:solidFill>
                <a:latin typeface="Montserrat"/>
                <a:ea typeface="Montserrat"/>
                <a:cs typeface="Montserrat"/>
                <a:sym typeface="Montserrat"/>
              </a:rPr>
              <a:t>5-30 MINUTES</a:t>
            </a:r>
            <a:br>
              <a:rPr b="0" lang="en" sz="1100">
                <a:solidFill>
                  <a:srgbClr val="475569"/>
                </a:solidFill>
                <a:latin typeface="Montserrat"/>
                <a:ea typeface="Montserrat"/>
                <a:cs typeface="Montserrat"/>
                <a:sym typeface="Montserrat"/>
              </a:rPr>
            </a:br>
            <a:r>
              <a:rPr b="0" lang="en" sz="1100">
                <a:solidFill>
                  <a:srgbClr val="475569"/>
                </a:solidFill>
                <a:latin typeface="Montserrat"/>
                <a:ea typeface="Montserrat"/>
                <a:cs typeface="Montserrat"/>
                <a:sym typeface="Montserrat"/>
              </a:rPr>
              <a:t>Average time to find root cause</a:t>
            </a:r>
            <a:endParaRPr b="0" sz="1100">
              <a:solidFill>
                <a:srgbClr val="475569"/>
              </a:solidFill>
              <a:latin typeface="Montserrat"/>
              <a:ea typeface="Montserrat"/>
              <a:cs typeface="Montserrat"/>
              <a:sym typeface="Montserrat"/>
            </a:endParaRPr>
          </a:p>
          <a:p>
            <a:pPr indent="0" lvl="0" marL="0" rtl="0" algn="l">
              <a:spcBef>
                <a:spcPts val="900"/>
              </a:spcBef>
              <a:spcAft>
                <a:spcPts val="0"/>
              </a:spcAft>
              <a:buNone/>
            </a:pPr>
            <a:r>
              <a:rPr b="1" lang="en" sz="1100">
                <a:solidFill>
                  <a:srgbClr val="1E293B"/>
                </a:solidFill>
                <a:latin typeface="Montserrat"/>
                <a:ea typeface="Montserrat"/>
                <a:cs typeface="Montserrat"/>
                <a:sym typeface="Montserrat"/>
              </a:rPr>
              <a:t>Unified Interface</a:t>
            </a:r>
            <a:br>
              <a:rPr b="0" lang="en" sz="1100">
                <a:solidFill>
                  <a:srgbClr val="475569"/>
                </a:solidFill>
                <a:latin typeface="Montserrat"/>
                <a:ea typeface="Montserrat"/>
                <a:cs typeface="Montserrat"/>
                <a:sym typeface="Montserrat"/>
              </a:rPr>
            </a:br>
            <a:r>
              <a:rPr b="0" lang="en" sz="1100">
                <a:solidFill>
                  <a:srgbClr val="475569"/>
                </a:solidFill>
                <a:latin typeface="Montserrat"/>
                <a:ea typeface="Montserrat"/>
                <a:cs typeface="Montserrat"/>
                <a:sym typeface="Montserrat"/>
              </a:rPr>
              <a:t>One browser tab: OCP Console → Network Traffic</a:t>
            </a:r>
            <a:endParaRPr b="0" sz="1100">
              <a:solidFill>
                <a:srgbClr val="475569"/>
              </a:solidFill>
              <a:latin typeface="Montserrat"/>
              <a:ea typeface="Montserrat"/>
              <a:cs typeface="Montserrat"/>
              <a:sym typeface="Montserrat"/>
            </a:endParaRPr>
          </a:p>
          <a:p>
            <a:pPr indent="0" lvl="0" marL="0" rtl="0" algn="l">
              <a:spcBef>
                <a:spcPts val="900"/>
              </a:spcBef>
              <a:spcAft>
                <a:spcPts val="0"/>
              </a:spcAft>
              <a:buNone/>
            </a:pPr>
            <a:r>
              <a:rPr b="1" lang="en" sz="1100">
                <a:solidFill>
                  <a:srgbClr val="1E293B"/>
                </a:solidFill>
                <a:latin typeface="Montserrat"/>
                <a:ea typeface="Montserrat"/>
                <a:cs typeface="Montserrat"/>
                <a:sym typeface="Montserrat"/>
              </a:rPr>
              <a:t>Efficiency</a:t>
            </a:r>
            <a:br>
              <a:rPr b="0" lang="en" sz="1100">
                <a:solidFill>
                  <a:srgbClr val="475569"/>
                </a:solidFill>
                <a:latin typeface="Montserrat"/>
                <a:ea typeface="Montserrat"/>
                <a:cs typeface="Montserrat"/>
                <a:sym typeface="Montserrat"/>
              </a:rPr>
            </a:br>
            <a:r>
              <a:rPr b="0" lang="en" sz="1100">
                <a:solidFill>
                  <a:srgbClr val="475569"/>
                </a:solidFill>
                <a:latin typeface="Montserrat"/>
                <a:ea typeface="Montserrat"/>
                <a:cs typeface="Montserrat"/>
                <a:sym typeface="Montserrat"/>
              </a:rPr>
              <a:t>1 engineer, no escalation needed</a:t>
            </a:r>
            <a:endParaRPr b="0" sz="1100">
              <a:solidFill>
                <a:srgbClr val="475569"/>
              </a:solidFill>
              <a:latin typeface="Montserrat"/>
              <a:ea typeface="Montserrat"/>
              <a:cs typeface="Montserrat"/>
              <a:sym typeface="Montserrat"/>
            </a:endParaRPr>
          </a:p>
        </p:txBody>
      </p:sp>
      <p:sp>
        <p:nvSpPr>
          <p:cNvPr id="817" name="Google Shape;817;p80"/>
          <p:cNvSpPr/>
          <p:nvPr/>
        </p:nvSpPr>
        <p:spPr>
          <a:xfrm>
            <a:off x="381000" y="4191000"/>
            <a:ext cx="8477400" cy="476400"/>
          </a:xfrm>
          <a:prstGeom prst="roundRect">
            <a:avLst>
              <a:gd fmla="val 16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8" name="Google Shape;818;p80"/>
          <p:cNvSpPr txBox="1"/>
          <p:nvPr/>
        </p:nvSpPr>
        <p:spPr>
          <a:xfrm>
            <a:off x="523875" y="4191000"/>
            <a:ext cx="8191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475569"/>
                </a:solidFill>
                <a:latin typeface="Montserrat"/>
                <a:ea typeface="Montserrat"/>
                <a:cs typeface="Montserrat"/>
                <a:sym typeface="Montserrat"/>
              </a:rPr>
              <a:t>Common Issues Caught: </a:t>
            </a:r>
            <a:r>
              <a:rPr b="0" lang="en" sz="1000">
                <a:solidFill>
                  <a:srgbClr val="475569"/>
                </a:solidFill>
                <a:latin typeface="Montserrat"/>
                <a:ea typeface="Montserrat"/>
                <a:cs typeface="Montserrat"/>
                <a:sym typeface="Montserrat"/>
              </a:rPr>
              <a:t>NetworkPolicy drops, NetworkPolicy misconfig, DNS failures, MTU mismatches</a:t>
            </a:r>
            <a:endParaRPr b="1" sz="1000">
              <a:solidFill>
                <a:srgbClr val="475569"/>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2" name="Shape 822"/>
        <p:cNvGrpSpPr/>
        <p:nvPr/>
      </p:nvGrpSpPr>
      <p:grpSpPr>
        <a:xfrm>
          <a:off x="0" y="0"/>
          <a:ext cx="0" cy="0"/>
          <a:chOff x="0" y="0"/>
          <a:chExt cx="0" cy="0"/>
        </a:xfrm>
      </p:grpSpPr>
      <p:sp>
        <p:nvSpPr>
          <p:cNvPr id="823" name="Google Shape;823;p81"/>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4" name="Google Shape;824;p81"/>
          <p:cNvSpPr txBox="1"/>
          <p:nvPr/>
        </p:nvSpPr>
        <p:spPr>
          <a:xfrm>
            <a:off x="400000" y="320000"/>
            <a:ext cx="780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2D2D2D"/>
                </a:solidFill>
                <a:latin typeface="Montserrat SemiBold"/>
                <a:ea typeface="Montserrat SemiBold"/>
                <a:cs typeface="Montserrat SemiBold"/>
                <a:sym typeface="Montserrat SemiBold"/>
              </a:rPr>
              <a:t>Key Takeaways</a:t>
            </a:r>
            <a:endParaRPr/>
          </a:p>
        </p:txBody>
      </p:sp>
      <p:grpSp>
        <p:nvGrpSpPr>
          <p:cNvPr id="825" name="Google Shape;825;p81"/>
          <p:cNvGrpSpPr/>
          <p:nvPr/>
        </p:nvGrpSpPr>
        <p:grpSpPr>
          <a:xfrm>
            <a:off x="381000" y="1047750"/>
            <a:ext cx="8382150" cy="3048150"/>
            <a:chOff x="381000" y="1047750"/>
            <a:chExt cx="8382150" cy="3048150"/>
          </a:xfrm>
        </p:grpSpPr>
        <p:grpSp>
          <p:nvGrpSpPr>
            <p:cNvPr id="826" name="Google Shape;826;p81"/>
            <p:cNvGrpSpPr/>
            <p:nvPr/>
          </p:nvGrpSpPr>
          <p:grpSpPr>
            <a:xfrm>
              <a:off x="381000" y="1047750"/>
              <a:ext cx="4095900" cy="1428900"/>
              <a:chOff x="381000" y="1047750"/>
              <a:chExt cx="4095900" cy="1428900"/>
            </a:xfrm>
          </p:grpSpPr>
          <p:sp>
            <p:nvSpPr>
              <p:cNvPr id="827" name="Google Shape;827;p81"/>
              <p:cNvSpPr/>
              <p:nvPr/>
            </p:nvSpPr>
            <p:spPr>
              <a:xfrm>
                <a:off x="381000" y="1047750"/>
                <a:ext cx="40959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8" name="Google Shape;828;p81"/>
              <p:cNvSpPr txBox="1"/>
              <p:nvPr/>
            </p:nvSpPr>
            <p:spPr>
              <a:xfrm>
                <a:off x="523875" y="1190625"/>
                <a:ext cx="3810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1. Multi-Layer Complexity</a:t>
                </a:r>
                <a:endParaRPr b="1" sz="13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050">
                    <a:solidFill>
                      <a:srgbClr val="2D2D2D"/>
                    </a:solidFill>
                    <a:latin typeface="Montserrat"/>
                    <a:ea typeface="Montserrat"/>
                    <a:cs typeface="Montserrat"/>
                    <a:sym typeface="Montserrat"/>
                  </a:rPr>
                  <a:t>Kubernetes networking involves 10+ hops through OVN, conntrack, tunnels, and NAT.</a:t>
                </a:r>
                <a:endParaRPr b="0" sz="1050">
                  <a:solidFill>
                    <a:srgbClr val="2D2D2D"/>
                  </a:solidFill>
                  <a:latin typeface="Montserrat"/>
                  <a:ea typeface="Montserrat"/>
                  <a:cs typeface="Montserrat"/>
                  <a:sym typeface="Montserrat"/>
                </a:endParaRPr>
              </a:p>
            </p:txBody>
          </p:sp>
        </p:grpSp>
        <p:grpSp>
          <p:nvGrpSpPr>
            <p:cNvPr id="829" name="Google Shape;829;p81"/>
            <p:cNvGrpSpPr/>
            <p:nvPr/>
          </p:nvGrpSpPr>
          <p:grpSpPr>
            <a:xfrm>
              <a:off x="4667250" y="1047750"/>
              <a:ext cx="4095900" cy="1428900"/>
              <a:chOff x="4667250" y="1047750"/>
              <a:chExt cx="4095900" cy="1428900"/>
            </a:xfrm>
          </p:grpSpPr>
          <p:sp>
            <p:nvSpPr>
              <p:cNvPr id="830" name="Google Shape;830;p81"/>
              <p:cNvSpPr/>
              <p:nvPr/>
            </p:nvSpPr>
            <p:spPr>
              <a:xfrm>
                <a:off x="4667250" y="1047750"/>
                <a:ext cx="40959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1" name="Google Shape;831;p81"/>
              <p:cNvSpPr txBox="1"/>
              <p:nvPr/>
            </p:nvSpPr>
            <p:spPr>
              <a:xfrm>
                <a:off x="4810125" y="1190625"/>
                <a:ext cx="3810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2. Tooling Limitations</a:t>
                </a:r>
                <a:endParaRPr b="1" sz="13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050">
                    <a:solidFill>
                      <a:srgbClr val="2D2D2D"/>
                    </a:solidFill>
                    <a:latin typeface="Montserrat"/>
                    <a:ea typeface="Montserrat"/>
                    <a:cs typeface="Montserrat"/>
                    <a:sym typeface="Montserrat"/>
                  </a:rPr>
                  <a:t>Traditional tools like tcpdump see individual hops but miss the full picture.</a:t>
                </a:r>
                <a:endParaRPr b="0" sz="1050">
                  <a:solidFill>
                    <a:srgbClr val="2D2D2D"/>
                  </a:solidFill>
                  <a:latin typeface="Montserrat"/>
                  <a:ea typeface="Montserrat"/>
                  <a:cs typeface="Montserrat"/>
                  <a:sym typeface="Montserrat"/>
                </a:endParaRPr>
              </a:p>
            </p:txBody>
          </p:sp>
        </p:grpSp>
        <p:grpSp>
          <p:nvGrpSpPr>
            <p:cNvPr id="832" name="Google Shape;832;p81"/>
            <p:cNvGrpSpPr/>
            <p:nvPr/>
          </p:nvGrpSpPr>
          <p:grpSpPr>
            <a:xfrm>
              <a:off x="381000" y="2667000"/>
              <a:ext cx="4095900" cy="1428900"/>
              <a:chOff x="381000" y="2667000"/>
              <a:chExt cx="4095900" cy="1428900"/>
            </a:xfrm>
          </p:grpSpPr>
          <p:sp>
            <p:nvSpPr>
              <p:cNvPr id="833" name="Google Shape;833;p81"/>
              <p:cNvSpPr/>
              <p:nvPr/>
            </p:nvSpPr>
            <p:spPr>
              <a:xfrm>
                <a:off x="381000" y="2667000"/>
                <a:ext cx="40959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4" name="Google Shape;834;p81"/>
              <p:cNvSpPr txBox="1"/>
              <p:nvPr/>
            </p:nvSpPr>
            <p:spPr>
              <a:xfrm>
                <a:off x="523875" y="2809875"/>
                <a:ext cx="3810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3. eBPF Kernel Insight</a:t>
                </a:r>
                <a:endParaRPr b="1" sz="13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050">
                    <a:solidFill>
                      <a:srgbClr val="2D2D2D"/>
                    </a:solidFill>
                    <a:latin typeface="Montserrat"/>
                    <a:ea typeface="Montserrat"/>
                    <a:cs typeface="Montserrat"/>
                    <a:sym typeface="Montserrat"/>
                  </a:rPr>
                  <a:t>eBPF sees inside the kernel via kfree_skb tracepoints to find drop reason codes.</a:t>
                </a:r>
                <a:endParaRPr b="0" sz="1050">
                  <a:solidFill>
                    <a:srgbClr val="2D2D2D"/>
                  </a:solidFill>
                  <a:latin typeface="Montserrat"/>
                  <a:ea typeface="Montserrat"/>
                  <a:cs typeface="Montserrat"/>
                  <a:sym typeface="Montserrat"/>
                </a:endParaRPr>
              </a:p>
            </p:txBody>
          </p:sp>
        </p:grpSp>
        <p:grpSp>
          <p:nvGrpSpPr>
            <p:cNvPr id="835" name="Google Shape;835;p81"/>
            <p:cNvGrpSpPr/>
            <p:nvPr/>
          </p:nvGrpSpPr>
          <p:grpSpPr>
            <a:xfrm>
              <a:off x="4667250" y="2667000"/>
              <a:ext cx="4095900" cy="1428900"/>
              <a:chOff x="4667250" y="2667000"/>
              <a:chExt cx="4095900" cy="1428900"/>
            </a:xfrm>
          </p:grpSpPr>
          <p:sp>
            <p:nvSpPr>
              <p:cNvPr id="836" name="Google Shape;836;p81"/>
              <p:cNvSpPr/>
              <p:nvPr/>
            </p:nvSpPr>
            <p:spPr>
              <a:xfrm>
                <a:off x="4667250" y="2667000"/>
                <a:ext cx="4095900" cy="1428900"/>
              </a:xfrm>
              <a:prstGeom prst="roundRect">
                <a:avLst>
                  <a:gd fmla="val 8000" name="adj"/>
                </a:avLst>
              </a:prstGeom>
              <a:solidFill>
                <a:srgbClr val="EEF2FF"/>
              </a:solidFill>
              <a:ln cap="flat" cmpd="sng" w="9525">
                <a:solidFill>
                  <a:srgbClr val="C7D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7" name="Google Shape;837;p81"/>
              <p:cNvSpPr txBox="1"/>
              <p:nvPr/>
            </p:nvSpPr>
            <p:spPr>
              <a:xfrm>
                <a:off x="4810125" y="2809875"/>
                <a:ext cx="3810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4338CA"/>
                    </a:solidFill>
                    <a:latin typeface="Montserrat"/>
                    <a:ea typeface="Montserrat"/>
                    <a:cs typeface="Montserrat"/>
                    <a:sym typeface="Montserrat"/>
                  </a:rPr>
                  <a:t>4. Practical eBPF with NOO</a:t>
                </a:r>
                <a:endParaRPr b="1" sz="1300">
                  <a:solidFill>
                    <a:srgbClr val="4338CA"/>
                  </a:solidFill>
                  <a:latin typeface="Montserrat"/>
                  <a:ea typeface="Montserrat"/>
                  <a:cs typeface="Montserrat"/>
                  <a:sym typeface="Montserrat"/>
                </a:endParaRPr>
              </a:p>
              <a:p>
                <a:pPr indent="0" lvl="0" marL="0" rtl="0" algn="l">
                  <a:spcBef>
                    <a:spcPts val="600"/>
                  </a:spcBef>
                  <a:spcAft>
                    <a:spcPts val="0"/>
                  </a:spcAft>
                  <a:buNone/>
                </a:pPr>
                <a:r>
                  <a:rPr b="0" lang="en" sz="1050">
                    <a:solidFill>
                      <a:srgbClr val="1E1B4B"/>
                    </a:solidFill>
                    <a:latin typeface="Montserrat"/>
                    <a:ea typeface="Montserrat"/>
                    <a:cs typeface="Montserrat"/>
                    <a:sym typeface="Montserrat"/>
                  </a:rPr>
                  <a:t>NOO provides dashboards and storage from raw kernel data with a simple YAML config.</a:t>
                </a:r>
                <a:endParaRPr b="0" sz="1050">
                  <a:solidFill>
                    <a:srgbClr val="1E1B4B"/>
                  </a:solidFill>
                  <a:latin typeface="Montserrat"/>
                  <a:ea typeface="Montserrat"/>
                  <a:cs typeface="Montserrat"/>
                  <a:sym typeface="Montserrat"/>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1" name="Shape 841"/>
        <p:cNvGrpSpPr/>
        <p:nvPr/>
      </p:nvGrpSpPr>
      <p:grpSpPr>
        <a:xfrm>
          <a:off x="0" y="0"/>
          <a:ext cx="0" cy="0"/>
          <a:chOff x="0" y="0"/>
          <a:chExt cx="0" cy="0"/>
        </a:xfrm>
      </p:grpSpPr>
      <p:sp>
        <p:nvSpPr>
          <p:cNvPr id="842" name="Google Shape;842;p82"/>
          <p:cNvSpPr/>
          <p:nvPr/>
        </p:nvSpPr>
        <p:spPr>
          <a:xfrm>
            <a:off x="-19936" y="4572000"/>
            <a:ext cx="9183900" cy="5715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43" name="Google Shape;843;p82"/>
          <p:cNvPicPr preferRelativeResize="0"/>
          <p:nvPr/>
        </p:nvPicPr>
        <p:blipFill rotWithShape="1">
          <a:blip r:embed="rId4">
            <a:alphaModFix/>
          </a:blip>
          <a:srcRect b="1719" l="0" r="0" t="1709"/>
          <a:stretch/>
        </p:blipFill>
        <p:spPr>
          <a:xfrm>
            <a:off x="8286750" y="4619625"/>
            <a:ext cx="476400" cy="476400"/>
          </a:xfrm>
          <a:prstGeom prst="rect">
            <a:avLst/>
          </a:prstGeom>
          <a:noFill/>
          <a:ln>
            <a:noFill/>
          </a:ln>
        </p:spPr>
      </p:pic>
      <p:sp>
        <p:nvSpPr>
          <p:cNvPr id="844" name="Google Shape;844;p82"/>
          <p:cNvSpPr txBox="1"/>
          <p:nvPr/>
        </p:nvSpPr>
        <p:spPr>
          <a:xfrm>
            <a:off x="381000" y="285750"/>
            <a:ext cx="8382000" cy="431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 sz="2800">
                <a:solidFill>
                  <a:srgbClr val="1A1A1A"/>
                </a:solidFill>
                <a:latin typeface="Montserrat"/>
                <a:ea typeface="Montserrat"/>
                <a:cs typeface="Montserrat"/>
                <a:sym typeface="Montserrat"/>
              </a:rPr>
              <a:t>Practical Tips for Getting Started</a:t>
            </a:r>
            <a:endParaRPr b="1" i="0" sz="2800">
              <a:solidFill>
                <a:srgbClr val="1A1A1A"/>
              </a:solidFill>
              <a:latin typeface="Montserrat"/>
              <a:ea typeface="Montserrat"/>
              <a:cs typeface="Montserrat"/>
              <a:sym typeface="Montserrat"/>
            </a:endParaRPr>
          </a:p>
        </p:txBody>
      </p:sp>
      <p:grpSp>
        <p:nvGrpSpPr>
          <p:cNvPr id="845" name="Google Shape;845;p82"/>
          <p:cNvGrpSpPr/>
          <p:nvPr/>
        </p:nvGrpSpPr>
        <p:grpSpPr>
          <a:xfrm>
            <a:off x="381000" y="1047750"/>
            <a:ext cx="8382150" cy="2047875"/>
            <a:chOff x="381000" y="1047750"/>
            <a:chExt cx="8382150" cy="2047875"/>
          </a:xfrm>
        </p:grpSpPr>
        <p:grpSp>
          <p:nvGrpSpPr>
            <p:cNvPr id="846" name="Google Shape;846;p82"/>
            <p:cNvGrpSpPr/>
            <p:nvPr/>
          </p:nvGrpSpPr>
          <p:grpSpPr>
            <a:xfrm>
              <a:off x="381000" y="1047750"/>
              <a:ext cx="2571900" cy="952500"/>
              <a:chOff x="381000" y="1047750"/>
              <a:chExt cx="2571900" cy="952500"/>
            </a:xfrm>
          </p:grpSpPr>
          <p:sp>
            <p:nvSpPr>
              <p:cNvPr id="847" name="Google Shape;847;p82"/>
              <p:cNvSpPr/>
              <p:nvPr/>
            </p:nvSpPr>
            <p:spPr>
              <a:xfrm>
                <a:off x="381000" y="1047750"/>
                <a:ext cx="2571900" cy="952500"/>
              </a:xfrm>
              <a:prstGeom prst="roundRect">
                <a:avLst>
                  <a:gd fmla="val 8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8" name="Google Shape;848;p82"/>
              <p:cNvSpPr txBox="1"/>
              <p:nvPr/>
            </p:nvSpPr>
            <p:spPr>
              <a:xfrm>
                <a:off x="523875" y="1143000"/>
                <a:ext cx="2381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01. Install Early</a:t>
                </a:r>
                <a:endParaRPr b="1" sz="1100">
                  <a:solidFill>
                    <a:srgbClr val="7B68EE"/>
                  </a:solidFill>
                  <a:latin typeface="Montserrat"/>
                  <a:ea typeface="Montserrat"/>
                  <a:cs typeface="Montserrat"/>
                  <a:sym typeface="Montserrat"/>
                </a:endParaRPr>
              </a:p>
              <a:p>
                <a:pPr indent="0" lvl="0" marL="0" rtl="0" algn="l">
                  <a:spcBef>
                    <a:spcPts val="300"/>
                  </a:spcBef>
                  <a:spcAft>
                    <a:spcPts val="0"/>
                  </a:spcAft>
                  <a:buNone/>
                </a:pPr>
                <a:r>
                  <a:rPr b="0" lang="en" sz="1000">
                    <a:solidFill>
                      <a:srgbClr val="4A5568"/>
                    </a:solidFill>
                    <a:latin typeface="Montserrat"/>
                    <a:ea typeface="Montserrat"/>
                    <a:cs typeface="Montserrat"/>
                    <a:sym typeface="Montserrat"/>
                  </a:rPr>
                  <a:t>Install NOO BEFORE incidents — you need historical data to analyze patterns.</a:t>
                </a:r>
                <a:endParaRPr b="0" sz="1000">
                  <a:solidFill>
                    <a:srgbClr val="4A5568"/>
                  </a:solidFill>
                  <a:latin typeface="Montserrat"/>
                  <a:ea typeface="Montserrat"/>
                  <a:cs typeface="Montserrat"/>
                  <a:sym typeface="Montserrat"/>
                </a:endParaRPr>
              </a:p>
            </p:txBody>
          </p:sp>
        </p:grpSp>
        <p:grpSp>
          <p:nvGrpSpPr>
            <p:cNvPr id="849" name="Google Shape;849;p82"/>
            <p:cNvGrpSpPr/>
            <p:nvPr/>
          </p:nvGrpSpPr>
          <p:grpSpPr>
            <a:xfrm>
              <a:off x="3286125" y="1047750"/>
              <a:ext cx="2571900" cy="952500"/>
              <a:chOff x="3286125" y="1047750"/>
              <a:chExt cx="2571900" cy="952500"/>
            </a:xfrm>
          </p:grpSpPr>
          <p:sp>
            <p:nvSpPr>
              <p:cNvPr id="850" name="Google Shape;850;p82"/>
              <p:cNvSpPr/>
              <p:nvPr/>
            </p:nvSpPr>
            <p:spPr>
              <a:xfrm>
                <a:off x="3286125" y="1047750"/>
                <a:ext cx="2571900" cy="952500"/>
              </a:xfrm>
              <a:prstGeom prst="roundRect">
                <a:avLst>
                  <a:gd fmla="val 8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1" name="Google Shape;851;p82"/>
              <p:cNvSpPr txBox="1"/>
              <p:nvPr/>
            </p:nvSpPr>
            <p:spPr>
              <a:xfrm>
                <a:off x="3429000" y="1143000"/>
                <a:ext cx="2381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02. Drops First</a:t>
                </a:r>
                <a:endParaRPr b="1" sz="1100">
                  <a:solidFill>
                    <a:srgbClr val="7B68EE"/>
                  </a:solidFill>
                  <a:latin typeface="Montserrat"/>
                  <a:ea typeface="Montserrat"/>
                  <a:cs typeface="Montserrat"/>
                  <a:sym typeface="Montserrat"/>
                </a:endParaRPr>
              </a:p>
              <a:p>
                <a:pPr indent="0" lvl="0" marL="0" rtl="0" algn="l">
                  <a:spcBef>
                    <a:spcPts val="300"/>
                  </a:spcBef>
                  <a:spcAft>
                    <a:spcPts val="0"/>
                  </a:spcAft>
                  <a:buNone/>
                </a:pPr>
                <a:r>
                  <a:rPr b="0" lang="en" sz="1000">
                    <a:solidFill>
                      <a:srgbClr val="4A5568"/>
                    </a:solidFill>
                    <a:latin typeface="Montserrat"/>
                    <a:ea typeface="Montserrat"/>
                    <a:cs typeface="Montserrat"/>
                    <a:sym typeface="Montserrat"/>
                  </a:rPr>
                  <a:t>Start with the Drops view — 80% of issues show up as packet drops.</a:t>
                </a:r>
                <a:endParaRPr b="0" sz="1000">
                  <a:solidFill>
                    <a:srgbClr val="4A5568"/>
                  </a:solidFill>
                  <a:latin typeface="Montserrat"/>
                  <a:ea typeface="Montserrat"/>
                  <a:cs typeface="Montserrat"/>
                  <a:sym typeface="Montserrat"/>
                </a:endParaRPr>
              </a:p>
            </p:txBody>
          </p:sp>
        </p:grpSp>
        <p:grpSp>
          <p:nvGrpSpPr>
            <p:cNvPr id="852" name="Google Shape;852;p82"/>
            <p:cNvGrpSpPr/>
            <p:nvPr/>
          </p:nvGrpSpPr>
          <p:grpSpPr>
            <a:xfrm>
              <a:off x="6191250" y="1047750"/>
              <a:ext cx="2571900" cy="952500"/>
              <a:chOff x="6191250" y="1047750"/>
              <a:chExt cx="2571900" cy="952500"/>
            </a:xfrm>
          </p:grpSpPr>
          <p:sp>
            <p:nvSpPr>
              <p:cNvPr id="853" name="Google Shape;853;p82"/>
              <p:cNvSpPr/>
              <p:nvPr/>
            </p:nvSpPr>
            <p:spPr>
              <a:xfrm>
                <a:off x="6191250" y="1047750"/>
                <a:ext cx="2571900" cy="952500"/>
              </a:xfrm>
              <a:prstGeom prst="roundRect">
                <a:avLst>
                  <a:gd fmla="val 8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4" name="Google Shape;854;p82"/>
              <p:cNvSpPr txBox="1"/>
              <p:nvPr/>
            </p:nvSpPr>
            <p:spPr>
              <a:xfrm>
                <a:off x="6334125" y="1143000"/>
                <a:ext cx="2381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03. Core Features</a:t>
                </a:r>
                <a:endParaRPr b="1" sz="1100">
                  <a:solidFill>
                    <a:srgbClr val="7B68EE"/>
                  </a:solidFill>
                  <a:latin typeface="Montserrat"/>
                  <a:ea typeface="Montserrat"/>
                  <a:cs typeface="Montserrat"/>
                  <a:sym typeface="Montserrat"/>
                </a:endParaRPr>
              </a:p>
              <a:p>
                <a:pPr indent="0" lvl="0" marL="0" rtl="0" algn="l">
                  <a:spcBef>
                    <a:spcPts val="300"/>
                  </a:spcBef>
                  <a:spcAft>
                    <a:spcPts val="0"/>
                  </a:spcAft>
                  <a:buNone/>
                </a:pPr>
                <a:r>
                  <a:rPr b="0" lang="en" sz="1000">
                    <a:solidFill>
                      <a:srgbClr val="4A5568"/>
                    </a:solidFill>
                    <a:latin typeface="Montserrat"/>
                    <a:ea typeface="Montserrat"/>
                    <a:cs typeface="Montserrat"/>
                    <a:sym typeface="Montserrat"/>
                  </a:rPr>
                  <a:t>Enable PacketDrop + DNSTracking + NetworkEvents for full insight.</a:t>
                </a:r>
                <a:endParaRPr b="0" sz="1000">
                  <a:solidFill>
                    <a:srgbClr val="4A5568"/>
                  </a:solidFill>
                  <a:latin typeface="Montserrat"/>
                  <a:ea typeface="Montserrat"/>
                  <a:cs typeface="Montserrat"/>
                  <a:sym typeface="Montserrat"/>
                </a:endParaRPr>
              </a:p>
            </p:txBody>
          </p:sp>
        </p:grpSp>
        <p:grpSp>
          <p:nvGrpSpPr>
            <p:cNvPr id="855" name="Google Shape;855;p82"/>
            <p:cNvGrpSpPr/>
            <p:nvPr/>
          </p:nvGrpSpPr>
          <p:grpSpPr>
            <a:xfrm>
              <a:off x="381000" y="2143125"/>
              <a:ext cx="2571900" cy="952500"/>
              <a:chOff x="381000" y="2143125"/>
              <a:chExt cx="2571900" cy="952500"/>
            </a:xfrm>
          </p:grpSpPr>
          <p:sp>
            <p:nvSpPr>
              <p:cNvPr id="856" name="Google Shape;856;p82"/>
              <p:cNvSpPr/>
              <p:nvPr/>
            </p:nvSpPr>
            <p:spPr>
              <a:xfrm>
                <a:off x="381000" y="2143125"/>
                <a:ext cx="2571900" cy="952500"/>
              </a:xfrm>
              <a:prstGeom prst="roundRect">
                <a:avLst>
                  <a:gd fmla="val 8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7" name="Google Shape;857;p82"/>
              <p:cNvSpPr txBox="1"/>
              <p:nvPr/>
            </p:nvSpPr>
            <p:spPr>
              <a:xfrm>
                <a:off x="523875" y="2238375"/>
                <a:ext cx="2381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04. Tune Sampling</a:t>
                </a:r>
                <a:endParaRPr b="1" sz="1100">
                  <a:solidFill>
                    <a:srgbClr val="7B68EE"/>
                  </a:solidFill>
                  <a:latin typeface="Montserrat"/>
                  <a:ea typeface="Montserrat"/>
                  <a:cs typeface="Montserrat"/>
                  <a:sym typeface="Montserrat"/>
                </a:endParaRPr>
              </a:p>
              <a:p>
                <a:pPr indent="0" lvl="0" marL="0" rtl="0" algn="l">
                  <a:spcBef>
                    <a:spcPts val="300"/>
                  </a:spcBef>
                  <a:spcAft>
                    <a:spcPts val="0"/>
                  </a:spcAft>
                  <a:buNone/>
                </a:pPr>
                <a:r>
                  <a:rPr b="0" lang="en" sz="1000">
                    <a:solidFill>
                      <a:srgbClr val="4A5568"/>
                    </a:solidFill>
                    <a:latin typeface="Montserrat"/>
                    <a:ea typeface="Montserrat"/>
                    <a:cs typeface="Montserrat"/>
                    <a:sym typeface="Montserrat"/>
                  </a:rPr>
                  <a:t>Tune sampling for production (50-100, not 1) to balance overhead.</a:t>
                </a:r>
                <a:endParaRPr b="0" sz="1000">
                  <a:solidFill>
                    <a:srgbClr val="4A5568"/>
                  </a:solidFill>
                  <a:latin typeface="Montserrat"/>
                  <a:ea typeface="Montserrat"/>
                  <a:cs typeface="Montserrat"/>
                  <a:sym typeface="Montserrat"/>
                </a:endParaRPr>
              </a:p>
            </p:txBody>
          </p:sp>
        </p:grpSp>
        <p:grpSp>
          <p:nvGrpSpPr>
            <p:cNvPr id="858" name="Google Shape;858;p82"/>
            <p:cNvGrpSpPr/>
            <p:nvPr/>
          </p:nvGrpSpPr>
          <p:grpSpPr>
            <a:xfrm>
              <a:off x="3286125" y="2143125"/>
              <a:ext cx="2571900" cy="952500"/>
              <a:chOff x="3286125" y="2143125"/>
              <a:chExt cx="2571900" cy="952500"/>
            </a:xfrm>
          </p:grpSpPr>
          <p:sp>
            <p:nvSpPr>
              <p:cNvPr id="859" name="Google Shape;859;p82"/>
              <p:cNvSpPr/>
              <p:nvPr/>
            </p:nvSpPr>
            <p:spPr>
              <a:xfrm>
                <a:off x="3286125" y="2143125"/>
                <a:ext cx="2571900" cy="952500"/>
              </a:xfrm>
              <a:prstGeom prst="roundRect">
                <a:avLst>
                  <a:gd fmla="val 8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0" name="Google Shape;860;p82"/>
              <p:cNvSpPr txBox="1"/>
              <p:nvPr/>
            </p:nvSpPr>
            <p:spPr>
              <a:xfrm>
                <a:off x="3429000" y="2238375"/>
                <a:ext cx="2381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05. Alerts</a:t>
                </a:r>
                <a:endParaRPr b="1" sz="1100">
                  <a:solidFill>
                    <a:srgbClr val="7B68EE"/>
                  </a:solidFill>
                  <a:latin typeface="Montserrat"/>
                  <a:ea typeface="Montserrat"/>
                  <a:cs typeface="Montserrat"/>
                  <a:sym typeface="Montserrat"/>
                </a:endParaRPr>
              </a:p>
              <a:p>
                <a:pPr indent="0" lvl="0" marL="0" rtl="0" algn="l">
                  <a:spcBef>
                    <a:spcPts val="300"/>
                  </a:spcBef>
                  <a:spcAft>
                    <a:spcPts val="0"/>
                  </a:spcAft>
                  <a:buNone/>
                </a:pPr>
                <a:r>
                  <a:rPr b="0" lang="en" sz="1000">
                    <a:solidFill>
                      <a:srgbClr val="4A5568"/>
                    </a:solidFill>
                    <a:latin typeface="Montserrat"/>
                    <a:ea typeface="Montserrat"/>
                    <a:cs typeface="Montserrat"/>
                    <a:sym typeface="Montserrat"/>
                  </a:rPr>
                  <a:t>Set up Prometheus alerts on drop rates to catch regressions early.</a:t>
                </a:r>
                <a:endParaRPr b="0" sz="1000">
                  <a:solidFill>
                    <a:srgbClr val="4A5568"/>
                  </a:solidFill>
                  <a:latin typeface="Montserrat"/>
                  <a:ea typeface="Montserrat"/>
                  <a:cs typeface="Montserrat"/>
                  <a:sym typeface="Montserrat"/>
                </a:endParaRPr>
              </a:p>
            </p:txBody>
          </p:sp>
        </p:grpSp>
        <p:grpSp>
          <p:nvGrpSpPr>
            <p:cNvPr id="861" name="Google Shape;861;p82"/>
            <p:cNvGrpSpPr/>
            <p:nvPr/>
          </p:nvGrpSpPr>
          <p:grpSpPr>
            <a:xfrm>
              <a:off x="6191250" y="2143125"/>
              <a:ext cx="2571900" cy="952500"/>
              <a:chOff x="6191250" y="2143125"/>
              <a:chExt cx="2571900" cy="952500"/>
            </a:xfrm>
          </p:grpSpPr>
          <p:sp>
            <p:nvSpPr>
              <p:cNvPr id="862" name="Google Shape;862;p82"/>
              <p:cNvSpPr/>
              <p:nvPr/>
            </p:nvSpPr>
            <p:spPr>
              <a:xfrm>
                <a:off x="6191250" y="2143125"/>
                <a:ext cx="2571900" cy="952500"/>
              </a:xfrm>
              <a:prstGeom prst="roundRect">
                <a:avLst>
                  <a:gd fmla="val 8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3" name="Google Shape;863;p82"/>
              <p:cNvSpPr txBox="1"/>
              <p:nvPr/>
            </p:nvSpPr>
            <p:spPr>
              <a:xfrm>
                <a:off x="6334125" y="2238375"/>
                <a:ext cx="2381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7B68EE"/>
                    </a:solidFill>
                    <a:latin typeface="Montserrat"/>
                    <a:ea typeface="Montserrat"/>
                    <a:cs typeface="Montserrat"/>
                    <a:sym typeface="Montserrat"/>
                  </a:rPr>
                  <a:t>06. Topology</a:t>
                </a:r>
                <a:endParaRPr b="1" sz="1100">
                  <a:solidFill>
                    <a:srgbClr val="7B68EE"/>
                  </a:solidFill>
                  <a:latin typeface="Montserrat"/>
                  <a:ea typeface="Montserrat"/>
                  <a:cs typeface="Montserrat"/>
                  <a:sym typeface="Montserrat"/>
                </a:endParaRPr>
              </a:p>
              <a:p>
                <a:pPr indent="0" lvl="0" marL="0" rtl="0" algn="l">
                  <a:spcBef>
                    <a:spcPts val="300"/>
                  </a:spcBef>
                  <a:spcAft>
                    <a:spcPts val="0"/>
                  </a:spcAft>
                  <a:buNone/>
                </a:pPr>
                <a:r>
                  <a:rPr b="0" lang="en" sz="1000">
                    <a:solidFill>
                      <a:srgbClr val="4A5568"/>
                    </a:solidFill>
                    <a:latin typeface="Montserrat"/>
                    <a:ea typeface="Montserrat"/>
                    <a:cs typeface="Montserrat"/>
                    <a:sym typeface="Montserrat"/>
                  </a:rPr>
                  <a:t>Use the topology view for architecture-level visibility across namespaces.</a:t>
                </a:r>
                <a:endParaRPr b="0" sz="1000">
                  <a:solidFill>
                    <a:srgbClr val="4A5568"/>
                  </a:solidFill>
                  <a:latin typeface="Montserrat"/>
                  <a:ea typeface="Montserrat"/>
                  <a:cs typeface="Montserrat"/>
                  <a:sym typeface="Montserrat"/>
                </a:endParaRPr>
              </a:p>
            </p:txBody>
          </p:sp>
        </p:grpSp>
      </p:grpSp>
      <p:grpSp>
        <p:nvGrpSpPr>
          <p:cNvPr id="864" name="Google Shape;864;p82"/>
          <p:cNvGrpSpPr/>
          <p:nvPr/>
        </p:nvGrpSpPr>
        <p:grpSpPr>
          <a:xfrm>
            <a:off x="381000" y="3333750"/>
            <a:ext cx="8382000" cy="857400"/>
            <a:chOff x="381000" y="3333750"/>
            <a:chExt cx="8382000" cy="857400"/>
          </a:xfrm>
        </p:grpSpPr>
        <p:sp>
          <p:nvSpPr>
            <p:cNvPr id="865" name="Google Shape;865;p82"/>
            <p:cNvSpPr/>
            <p:nvPr/>
          </p:nvSpPr>
          <p:spPr>
            <a:xfrm>
              <a:off x="381000" y="3333750"/>
              <a:ext cx="8382000" cy="857400"/>
            </a:xfrm>
            <a:prstGeom prst="roundRect">
              <a:avLst>
                <a:gd fmla="val 1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6" name="Google Shape;866;p82"/>
            <p:cNvSpPr txBox="1"/>
            <p:nvPr/>
          </p:nvSpPr>
          <p:spPr>
            <a:xfrm>
              <a:off x="571500" y="3381375"/>
              <a:ext cx="80010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7B68EE"/>
                  </a:solidFill>
                  <a:latin typeface="Montserrat"/>
                  <a:ea typeface="Montserrat"/>
                  <a:cs typeface="Montserrat"/>
                  <a:sym typeface="Montserrat"/>
                </a:rPr>
                <a:t>Quick install:</a:t>
              </a:r>
              <a:endParaRPr b="1" sz="12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050">
                  <a:solidFill>
                    <a:srgbClr val="2D3748"/>
                  </a:solidFill>
                  <a:latin typeface="Courier New"/>
                  <a:ea typeface="Courier New"/>
                  <a:cs typeface="Courier New"/>
                  <a:sym typeface="Courier New"/>
                </a:rPr>
                <a:t>OperatorHub Network Observability Install | FlowCollector CR [PacketDrop, DNSTracking] | OCP Console Observe done</a:t>
              </a:r>
              <a:endParaRPr b="0" sz="1050">
                <a:solidFill>
                  <a:srgbClr val="2D3748"/>
                </a:solidFill>
                <a:latin typeface="Courier New"/>
                <a:ea typeface="Courier New"/>
                <a:cs typeface="Courier New"/>
                <a:sym typeface="Courier New"/>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0" name="Shape 870"/>
        <p:cNvGrpSpPr/>
        <p:nvPr/>
      </p:nvGrpSpPr>
      <p:grpSpPr>
        <a:xfrm>
          <a:off x="0" y="0"/>
          <a:ext cx="0" cy="0"/>
          <a:chOff x="0" y="0"/>
          <a:chExt cx="0" cy="0"/>
        </a:xfrm>
      </p:grpSpPr>
      <p:sp>
        <p:nvSpPr>
          <p:cNvPr id="871" name="Google Shape;871;p83"/>
          <p:cNvSpPr/>
          <p:nvPr/>
        </p:nvSpPr>
        <p:spPr>
          <a:xfrm>
            <a:off x="-19936" y="4346553"/>
            <a:ext cx="9183900" cy="882300"/>
          </a:xfrm>
          <a:prstGeom prst="rect">
            <a:avLst/>
          </a:prstGeom>
          <a:solidFill>
            <a:srgbClr val="8E83E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72" name="Google Shape;872;p83"/>
          <p:cNvPicPr preferRelativeResize="0"/>
          <p:nvPr/>
        </p:nvPicPr>
        <p:blipFill rotWithShape="1">
          <a:blip r:embed="rId4">
            <a:alphaModFix/>
          </a:blip>
          <a:srcRect b="0" l="0" r="0" t="0"/>
          <a:stretch/>
        </p:blipFill>
        <p:spPr>
          <a:xfrm>
            <a:off x="7991465" y="4501353"/>
            <a:ext cx="552900" cy="572700"/>
          </a:xfrm>
          <a:prstGeom prst="rect">
            <a:avLst/>
          </a:prstGeom>
          <a:noFill/>
          <a:ln>
            <a:noFill/>
          </a:ln>
        </p:spPr>
      </p:pic>
      <p:sp>
        <p:nvSpPr>
          <p:cNvPr id="873" name="Google Shape;873;p83"/>
          <p:cNvSpPr/>
          <p:nvPr/>
        </p:nvSpPr>
        <p:spPr>
          <a:xfrm>
            <a:off x="250000" y="380000"/>
            <a:ext cx="50100" cy="500100"/>
          </a:xfrm>
          <a:prstGeom prst="rect">
            <a:avLst/>
          </a:prstGeom>
          <a:solidFill>
            <a:srgbClr val="7B68EE"/>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4" name="Google Shape;874;p83"/>
          <p:cNvSpPr txBox="1"/>
          <p:nvPr/>
        </p:nvSpPr>
        <p:spPr>
          <a:xfrm>
            <a:off x="400000" y="350000"/>
            <a:ext cx="7800000" cy="431100"/>
          </a:xfrm>
          <a:prstGeom prst="rect">
            <a:avLst/>
          </a:prstGeom>
          <a:solidFill>
            <a:srgbClr val="000000">
              <a:alpha val="0"/>
            </a:srgbClr>
          </a:solidFill>
          <a:ln>
            <a:noFill/>
          </a:ln>
        </p:spPr>
        <p:txBody>
          <a:bodyPr anchorCtr="0" anchor="ctr" bIns="0" lIns="95250" spcFirstLastPara="1" rIns="0" wrap="square" tIns="0">
            <a:spAutoFit/>
          </a:bodyPr>
          <a:lstStyle/>
          <a:p>
            <a:pPr indent="0" lvl="0" marL="0" rtl="0" algn="l">
              <a:spcBef>
                <a:spcPts val="0"/>
              </a:spcBef>
              <a:spcAft>
                <a:spcPts val="0"/>
              </a:spcAft>
              <a:buNone/>
            </a:pPr>
            <a:r>
              <a:rPr b="1" lang="en" sz="2800">
                <a:solidFill>
                  <a:srgbClr val="2D2D2D"/>
                </a:solidFill>
                <a:latin typeface="Montserrat"/>
                <a:ea typeface="Montserrat"/>
                <a:cs typeface="Montserrat"/>
                <a:sym typeface="Montserrat"/>
              </a:rPr>
              <a:t>Tips for Your Own Clusters</a:t>
            </a:r>
            <a:endParaRPr b="1" sz="2800">
              <a:solidFill>
                <a:srgbClr val="2D2D2D"/>
              </a:solidFill>
              <a:latin typeface="Montserrat"/>
              <a:ea typeface="Montserrat"/>
              <a:cs typeface="Montserrat"/>
              <a:sym typeface="Montserrat"/>
            </a:endParaRPr>
          </a:p>
        </p:txBody>
      </p:sp>
      <p:grpSp>
        <p:nvGrpSpPr>
          <p:cNvPr id="875" name="Google Shape;875;p83"/>
          <p:cNvGrpSpPr/>
          <p:nvPr/>
        </p:nvGrpSpPr>
        <p:grpSpPr>
          <a:xfrm>
            <a:off x="571500" y="1143000"/>
            <a:ext cx="8001000" cy="571500"/>
            <a:chOff x="571500" y="1143000"/>
            <a:chExt cx="8001000" cy="571500"/>
          </a:xfrm>
        </p:grpSpPr>
        <p:sp>
          <p:nvSpPr>
            <p:cNvPr id="876" name="Google Shape;876;p83"/>
            <p:cNvSpPr/>
            <p:nvPr/>
          </p:nvSpPr>
          <p:spPr>
            <a:xfrm>
              <a:off x="571500" y="1143000"/>
              <a:ext cx="8001000" cy="571500"/>
            </a:xfrm>
            <a:prstGeom prst="roundRect">
              <a:avLst>
                <a:gd fmla="val 13333"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7" name="Google Shape;877;p83"/>
            <p:cNvSpPr txBox="1"/>
            <p:nvPr/>
          </p:nvSpPr>
          <p:spPr>
            <a:xfrm>
              <a:off x="714375" y="1143000"/>
              <a:ext cx="381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7B68EE"/>
                  </a:solidFill>
                  <a:latin typeface="Montserrat"/>
                  <a:ea typeface="Montserrat"/>
                  <a:cs typeface="Montserrat"/>
                  <a:sym typeface="Montserrat"/>
                </a:rPr>
                <a:t>1</a:t>
              </a:r>
              <a:endParaRPr b="1" sz="2400">
                <a:solidFill>
                  <a:srgbClr val="7B68EE"/>
                </a:solidFill>
                <a:latin typeface="Montserrat"/>
                <a:ea typeface="Montserrat"/>
                <a:cs typeface="Montserrat"/>
                <a:sym typeface="Montserrat"/>
              </a:endParaRPr>
            </a:p>
          </p:txBody>
        </p:sp>
        <p:sp>
          <p:nvSpPr>
            <p:cNvPr id="878" name="Google Shape;878;p83"/>
            <p:cNvSpPr txBox="1"/>
            <p:nvPr/>
          </p:nvSpPr>
          <p:spPr>
            <a:xfrm>
              <a:off x="1238250" y="1143000"/>
              <a:ext cx="7143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2D2D2D"/>
                  </a:solidFill>
                  <a:latin typeface="Montserrat SemiBold"/>
                  <a:ea typeface="Montserrat SemiBold"/>
                  <a:cs typeface="Montserrat SemiBold"/>
                  <a:sym typeface="Montserrat SemiBold"/>
                </a:rPr>
                <a:t>Install NOO </a:t>
              </a:r>
              <a:r>
                <a:rPr b="0" lang="en" sz="1400">
                  <a:solidFill>
                    <a:srgbClr val="7B68EE"/>
                  </a:solidFill>
                  <a:latin typeface="Montserrat SemiBold"/>
                  <a:ea typeface="Montserrat SemiBold"/>
                  <a:cs typeface="Montserrat SemiBold"/>
                  <a:sym typeface="Montserrat SemiBold"/>
                </a:rPr>
                <a:t>BEFORE</a:t>
              </a:r>
              <a:r>
                <a:rPr b="0" lang="en" sz="1400">
                  <a:solidFill>
                    <a:srgbClr val="2D2D2D"/>
                  </a:solidFill>
                  <a:latin typeface="Montserrat SemiBold"/>
                  <a:ea typeface="Montserrat SemiBold"/>
                  <a:cs typeface="Montserrat SemiBold"/>
                  <a:sym typeface="Montserrat SemiBold"/>
                </a:rPr>
                <a:t> you have a problem</a:t>
              </a:r>
              <a:endParaRPr b="0" sz="1400">
                <a:solidFill>
                  <a:srgbClr val="2D2D2D"/>
                </a:solidFill>
                <a:latin typeface="Montserrat SemiBold"/>
                <a:ea typeface="Montserrat SemiBold"/>
                <a:cs typeface="Montserrat SemiBold"/>
                <a:sym typeface="Montserrat SemiBold"/>
              </a:endParaRPr>
            </a:p>
          </p:txBody>
        </p:sp>
      </p:grpSp>
      <p:grpSp>
        <p:nvGrpSpPr>
          <p:cNvPr id="879" name="Google Shape;879;p83"/>
          <p:cNvGrpSpPr/>
          <p:nvPr/>
        </p:nvGrpSpPr>
        <p:grpSpPr>
          <a:xfrm>
            <a:off x="571500" y="1809750"/>
            <a:ext cx="8001000" cy="571500"/>
            <a:chOff x="571500" y="1809750"/>
            <a:chExt cx="8001000" cy="571500"/>
          </a:xfrm>
        </p:grpSpPr>
        <p:sp>
          <p:nvSpPr>
            <p:cNvPr id="880" name="Google Shape;880;p83"/>
            <p:cNvSpPr/>
            <p:nvPr/>
          </p:nvSpPr>
          <p:spPr>
            <a:xfrm>
              <a:off x="571500" y="1809750"/>
              <a:ext cx="8001000" cy="571500"/>
            </a:xfrm>
            <a:prstGeom prst="roundRect">
              <a:avLst>
                <a:gd fmla="val 13333"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1" name="Google Shape;881;p83"/>
            <p:cNvSpPr txBox="1"/>
            <p:nvPr/>
          </p:nvSpPr>
          <p:spPr>
            <a:xfrm>
              <a:off x="714375" y="1809750"/>
              <a:ext cx="381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7B68EE"/>
                  </a:solidFill>
                  <a:latin typeface="Montserrat"/>
                  <a:ea typeface="Montserrat"/>
                  <a:cs typeface="Montserrat"/>
                  <a:sym typeface="Montserrat"/>
                </a:rPr>
                <a:t>2</a:t>
              </a:r>
              <a:endParaRPr b="1" sz="2400">
                <a:solidFill>
                  <a:srgbClr val="7B68EE"/>
                </a:solidFill>
                <a:latin typeface="Montserrat"/>
                <a:ea typeface="Montserrat"/>
                <a:cs typeface="Montserrat"/>
                <a:sym typeface="Montserrat"/>
              </a:endParaRPr>
            </a:p>
          </p:txBody>
        </p:sp>
        <p:sp>
          <p:nvSpPr>
            <p:cNvPr id="882" name="Google Shape;882;p83"/>
            <p:cNvSpPr txBox="1"/>
            <p:nvPr/>
          </p:nvSpPr>
          <p:spPr>
            <a:xfrm>
              <a:off x="1238250" y="1809750"/>
              <a:ext cx="7143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2D2D2D"/>
                  </a:solidFill>
                  <a:latin typeface="Montserrat SemiBold"/>
                  <a:ea typeface="Montserrat SemiBold"/>
                  <a:cs typeface="Montserrat SemiBold"/>
                  <a:sym typeface="Montserrat SemiBold"/>
                </a:rPr>
                <a:t>Start with the </a:t>
              </a:r>
              <a:r>
                <a:rPr b="0" lang="en" sz="1400">
                  <a:solidFill>
                    <a:srgbClr val="2E7D32"/>
                  </a:solidFill>
                  <a:latin typeface="Montserrat SemiBold"/>
                  <a:ea typeface="Montserrat SemiBold"/>
                  <a:cs typeface="Montserrat SemiBold"/>
                  <a:sym typeface="Montserrat SemiBold"/>
                </a:rPr>
                <a:t>Drops view</a:t>
              </a:r>
              <a:r>
                <a:rPr b="0" lang="en" sz="1400">
                  <a:solidFill>
                    <a:srgbClr val="2D2D2D"/>
                  </a:solidFill>
                  <a:latin typeface="Montserrat SemiBold"/>
                  <a:ea typeface="Montserrat SemiBold"/>
                  <a:cs typeface="Montserrat SemiBold"/>
                  <a:sym typeface="Montserrat SemiBold"/>
                </a:rPr>
                <a:t> (80% of issues = drops)</a:t>
              </a:r>
              <a:endParaRPr b="0" sz="1400">
                <a:solidFill>
                  <a:srgbClr val="2D2D2D"/>
                </a:solidFill>
                <a:latin typeface="Montserrat SemiBold"/>
                <a:ea typeface="Montserrat SemiBold"/>
                <a:cs typeface="Montserrat SemiBold"/>
                <a:sym typeface="Montserrat SemiBold"/>
              </a:endParaRPr>
            </a:p>
          </p:txBody>
        </p:sp>
      </p:grpSp>
      <p:grpSp>
        <p:nvGrpSpPr>
          <p:cNvPr id="883" name="Google Shape;883;p83"/>
          <p:cNvGrpSpPr/>
          <p:nvPr/>
        </p:nvGrpSpPr>
        <p:grpSpPr>
          <a:xfrm>
            <a:off x="571500" y="2476500"/>
            <a:ext cx="8001000" cy="571500"/>
            <a:chOff x="571500" y="2476500"/>
            <a:chExt cx="8001000" cy="571500"/>
          </a:xfrm>
        </p:grpSpPr>
        <p:sp>
          <p:nvSpPr>
            <p:cNvPr id="884" name="Google Shape;884;p83"/>
            <p:cNvSpPr/>
            <p:nvPr/>
          </p:nvSpPr>
          <p:spPr>
            <a:xfrm>
              <a:off x="571500" y="2476500"/>
              <a:ext cx="8001000" cy="571500"/>
            </a:xfrm>
            <a:prstGeom prst="roundRect">
              <a:avLst>
                <a:gd fmla="val 13333"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5" name="Google Shape;885;p83"/>
            <p:cNvSpPr txBox="1"/>
            <p:nvPr/>
          </p:nvSpPr>
          <p:spPr>
            <a:xfrm>
              <a:off x="714375" y="2476500"/>
              <a:ext cx="381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7B68EE"/>
                  </a:solidFill>
                  <a:latin typeface="Montserrat"/>
                  <a:ea typeface="Montserrat"/>
                  <a:cs typeface="Montserrat"/>
                  <a:sym typeface="Montserrat"/>
                </a:rPr>
                <a:t>3</a:t>
              </a:r>
              <a:endParaRPr b="1" sz="2400">
                <a:solidFill>
                  <a:srgbClr val="7B68EE"/>
                </a:solidFill>
                <a:latin typeface="Montserrat"/>
                <a:ea typeface="Montserrat"/>
                <a:cs typeface="Montserrat"/>
                <a:sym typeface="Montserrat"/>
              </a:endParaRPr>
            </a:p>
          </p:txBody>
        </p:sp>
        <p:sp>
          <p:nvSpPr>
            <p:cNvPr id="886" name="Google Shape;886;p83"/>
            <p:cNvSpPr txBox="1"/>
            <p:nvPr/>
          </p:nvSpPr>
          <p:spPr>
            <a:xfrm>
              <a:off x="1238250" y="2476500"/>
              <a:ext cx="7143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2D2D2D"/>
                  </a:solidFill>
                  <a:latin typeface="Montserrat SemiBold"/>
                  <a:ea typeface="Montserrat SemiBold"/>
                  <a:cs typeface="Montserrat SemiBold"/>
                  <a:sym typeface="Montserrat SemiBold"/>
                </a:rPr>
                <a:t>Enable </a:t>
              </a:r>
              <a:r>
                <a:rPr b="0" lang="en" sz="1400">
                  <a:solidFill>
                    <a:srgbClr val="7B68EE"/>
                  </a:solidFill>
                  <a:latin typeface="Montserrat SemiBold"/>
                  <a:ea typeface="Montserrat SemiBold"/>
                  <a:cs typeface="Montserrat SemiBold"/>
                  <a:sym typeface="Montserrat SemiBold"/>
                </a:rPr>
                <a:t>PacketDrop</a:t>
              </a:r>
              <a:r>
                <a:rPr b="0" lang="en" sz="1400">
                  <a:solidFill>
                    <a:srgbClr val="2D2D2D"/>
                  </a:solidFill>
                  <a:latin typeface="Montserrat SemiBold"/>
                  <a:ea typeface="Montserrat SemiBold"/>
                  <a:cs typeface="Montserrat SemiBold"/>
                  <a:sym typeface="Montserrat SemiBold"/>
                </a:rPr>
                <a:t> + </a:t>
              </a:r>
              <a:r>
                <a:rPr b="0" lang="en" sz="1400">
                  <a:solidFill>
                    <a:srgbClr val="7B68EE"/>
                  </a:solidFill>
                  <a:latin typeface="Montserrat SemiBold"/>
                  <a:ea typeface="Montserrat SemiBold"/>
                  <a:cs typeface="Montserrat SemiBold"/>
                  <a:sym typeface="Montserrat SemiBold"/>
                </a:rPr>
                <a:t>DNSTracking</a:t>
              </a:r>
              <a:r>
                <a:rPr b="0" lang="en" sz="1400">
                  <a:solidFill>
                    <a:srgbClr val="2D2D2D"/>
                  </a:solidFill>
                  <a:latin typeface="Montserrat SemiBold"/>
                  <a:ea typeface="Montserrat SemiBold"/>
                  <a:cs typeface="Montserrat SemiBold"/>
                  <a:sym typeface="Montserrat SemiBold"/>
                </a:rPr>
                <a:t> + </a:t>
              </a:r>
              <a:r>
                <a:rPr b="0" lang="en" sz="1400">
                  <a:solidFill>
                    <a:srgbClr val="7B68EE"/>
                  </a:solidFill>
                  <a:latin typeface="Montserrat SemiBold"/>
                  <a:ea typeface="Montserrat SemiBold"/>
                  <a:cs typeface="Montserrat SemiBold"/>
                  <a:sym typeface="Montserrat SemiBold"/>
                </a:rPr>
                <a:t>NetworkEvents</a:t>
              </a:r>
              <a:endParaRPr b="0" sz="1400">
                <a:solidFill>
                  <a:srgbClr val="2D2D2D"/>
                </a:solidFill>
                <a:latin typeface="Montserrat SemiBold"/>
                <a:ea typeface="Montserrat SemiBold"/>
                <a:cs typeface="Montserrat SemiBold"/>
                <a:sym typeface="Montserrat SemiBold"/>
              </a:endParaRPr>
            </a:p>
          </p:txBody>
        </p:sp>
      </p:grpSp>
      <p:grpSp>
        <p:nvGrpSpPr>
          <p:cNvPr id="887" name="Google Shape;887;p83"/>
          <p:cNvGrpSpPr/>
          <p:nvPr/>
        </p:nvGrpSpPr>
        <p:grpSpPr>
          <a:xfrm>
            <a:off x="571500" y="3143250"/>
            <a:ext cx="8001000" cy="571500"/>
            <a:chOff x="571500" y="3143250"/>
            <a:chExt cx="8001000" cy="571500"/>
          </a:xfrm>
        </p:grpSpPr>
        <p:sp>
          <p:nvSpPr>
            <p:cNvPr id="888" name="Google Shape;888;p83"/>
            <p:cNvSpPr/>
            <p:nvPr/>
          </p:nvSpPr>
          <p:spPr>
            <a:xfrm>
              <a:off x="571500" y="3143250"/>
              <a:ext cx="8001000" cy="571500"/>
            </a:xfrm>
            <a:prstGeom prst="roundRect">
              <a:avLst>
                <a:gd fmla="val 13333" name="adj"/>
              </a:avLst>
            </a:prstGeom>
            <a:solidFill>
              <a:srgbClr val="F8F7FF"/>
            </a:solidFill>
            <a:ln cap="flat" cmpd="sng" w="9525">
              <a:solidFill>
                <a:srgbClr val="EDEAF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9" name="Google Shape;889;p83"/>
            <p:cNvSpPr txBox="1"/>
            <p:nvPr/>
          </p:nvSpPr>
          <p:spPr>
            <a:xfrm>
              <a:off x="714375" y="3143250"/>
              <a:ext cx="381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7B68EE"/>
                  </a:solidFill>
                  <a:latin typeface="Montserrat"/>
                  <a:ea typeface="Montserrat"/>
                  <a:cs typeface="Montserrat"/>
                  <a:sym typeface="Montserrat"/>
                </a:rPr>
                <a:t>4</a:t>
              </a:r>
              <a:endParaRPr b="1" sz="2400">
                <a:solidFill>
                  <a:srgbClr val="7B68EE"/>
                </a:solidFill>
                <a:latin typeface="Montserrat"/>
                <a:ea typeface="Montserrat"/>
                <a:cs typeface="Montserrat"/>
                <a:sym typeface="Montserrat"/>
              </a:endParaRPr>
            </a:p>
          </p:txBody>
        </p:sp>
        <p:sp>
          <p:nvSpPr>
            <p:cNvPr id="890" name="Google Shape;890;p83"/>
            <p:cNvSpPr txBox="1"/>
            <p:nvPr/>
          </p:nvSpPr>
          <p:spPr>
            <a:xfrm>
              <a:off x="1238250" y="3143250"/>
              <a:ext cx="7143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2D2D2D"/>
                  </a:solidFill>
                  <a:latin typeface="Montserrat SemiBold"/>
                  <a:ea typeface="Montserrat SemiBold"/>
                  <a:cs typeface="Montserrat SemiBold"/>
                  <a:sym typeface="Montserrat SemiBold"/>
                </a:rPr>
                <a:t>Tune sampling (1 for demo, </a:t>
              </a:r>
              <a:r>
                <a:rPr b="0" lang="en" sz="1400">
                  <a:solidFill>
                    <a:srgbClr val="7B68EE"/>
                  </a:solidFill>
                  <a:latin typeface="Montserrat SemiBold"/>
                  <a:ea typeface="Montserrat SemiBold"/>
                  <a:cs typeface="Montserrat SemiBold"/>
                  <a:sym typeface="Montserrat SemiBold"/>
                </a:rPr>
                <a:t>50-100</a:t>
              </a:r>
              <a:r>
                <a:rPr b="0" lang="en" sz="1400">
                  <a:solidFill>
                    <a:srgbClr val="2D2D2D"/>
                  </a:solidFill>
                  <a:latin typeface="Montserrat SemiBold"/>
                  <a:ea typeface="Montserrat SemiBold"/>
                  <a:cs typeface="Montserrat SemiBold"/>
                  <a:sym typeface="Montserrat SemiBold"/>
                </a:rPr>
                <a:t> for production)</a:t>
              </a:r>
              <a:endParaRPr b="0" sz="1400">
                <a:solidFill>
                  <a:srgbClr val="2D2D2D"/>
                </a:solidFill>
                <a:latin typeface="Montserrat SemiBold"/>
                <a:ea typeface="Montserrat SemiBold"/>
                <a:cs typeface="Montserrat SemiBold"/>
                <a:sym typeface="Montserrat SemiBold"/>
              </a:endParaRPr>
            </a:p>
          </p:txBody>
        </p:sp>
      </p:grpSp>
      <p:grpSp>
        <p:nvGrpSpPr>
          <p:cNvPr id="891" name="Google Shape;891;p83"/>
          <p:cNvGrpSpPr/>
          <p:nvPr/>
        </p:nvGrpSpPr>
        <p:grpSpPr>
          <a:xfrm>
            <a:off x="571500" y="3810000"/>
            <a:ext cx="8001000" cy="407289"/>
            <a:chOff x="571500" y="3810000"/>
            <a:chExt cx="8001000" cy="407289"/>
          </a:xfrm>
        </p:grpSpPr>
        <p:sp>
          <p:nvSpPr>
            <p:cNvPr id="892" name="Google Shape;892;p83"/>
            <p:cNvSpPr/>
            <p:nvPr/>
          </p:nvSpPr>
          <p:spPr>
            <a:xfrm>
              <a:off x="571500" y="3810000"/>
              <a:ext cx="8001000" cy="381000"/>
            </a:xfrm>
            <a:prstGeom prst="roundRect">
              <a:avLst>
                <a:gd fmla="val 20000" name="adj"/>
              </a:avLst>
            </a:prstGeom>
            <a:solidFill>
              <a:srgbClr val="E8F5E9"/>
            </a:solidFill>
            <a:ln cap="flat" cmpd="sng" w="9525">
              <a:solidFill>
                <a:srgbClr val="C8E6C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3" name="Google Shape;893;p83"/>
            <p:cNvSpPr txBox="1"/>
            <p:nvPr/>
          </p:nvSpPr>
          <p:spPr>
            <a:xfrm>
              <a:off x="714375" y="3836289"/>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800">
                  <a:solidFill>
                    <a:srgbClr val="2E7D32"/>
                  </a:solidFill>
                  <a:latin typeface="Material Icons"/>
                  <a:ea typeface="Material Icons"/>
                  <a:cs typeface="Material Icons"/>
                  <a:sym typeface="Material Icons"/>
                </a:rPr>
                <a:t>notifications_active</a:t>
              </a:r>
              <a:endParaRPr b="0" sz="1800">
                <a:solidFill>
                  <a:srgbClr val="2E7D32"/>
                </a:solidFill>
                <a:latin typeface="Material Icons"/>
                <a:ea typeface="Material Icons"/>
                <a:cs typeface="Material Icons"/>
                <a:sym typeface="Material Icons"/>
              </a:endParaRPr>
            </a:p>
          </p:txBody>
        </p:sp>
        <p:sp>
          <p:nvSpPr>
            <p:cNvPr id="894" name="Google Shape;894;p83"/>
            <p:cNvSpPr txBox="1"/>
            <p:nvPr/>
          </p:nvSpPr>
          <p:spPr>
            <a:xfrm>
              <a:off x="1238250" y="3810000"/>
              <a:ext cx="71439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2E7D32"/>
                  </a:solidFill>
                  <a:latin typeface="Montserrat"/>
                  <a:ea typeface="Montserrat"/>
                  <a:cs typeface="Montserrat"/>
                  <a:sym typeface="Montserrat"/>
                </a:rPr>
                <a:t>5. Set up Prometheus alerts on drop rates</a:t>
              </a:r>
              <a:endParaRPr b="1" sz="1100">
                <a:solidFill>
                  <a:srgbClr val="2E7D32"/>
                </a:solidFill>
                <a:latin typeface="Montserrat"/>
                <a:ea typeface="Montserrat"/>
                <a:cs typeface="Montserrat"/>
                <a:sym typeface="Montserrat"/>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8" name="Shape 898"/>
        <p:cNvGrpSpPr/>
        <p:nvPr/>
      </p:nvGrpSpPr>
      <p:grpSpPr>
        <a:xfrm>
          <a:off x="0" y="0"/>
          <a:ext cx="0" cy="0"/>
          <a:chOff x="0" y="0"/>
          <a:chExt cx="0" cy="0"/>
        </a:xfrm>
      </p:grpSpPr>
      <p:sp>
        <p:nvSpPr>
          <p:cNvPr id="899" name="Google Shape;899;p84"/>
          <p:cNvSpPr/>
          <p:nvPr/>
        </p:nvSpPr>
        <p:spPr>
          <a:xfrm>
            <a:off x="-19936" y="4346553"/>
            <a:ext cx="9183900" cy="882300"/>
          </a:xfrm>
          <a:prstGeom prst="rect">
            <a:avLst/>
          </a:prstGeom>
          <a:solidFill>
            <a:srgbClr val="7B68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00" name="Google Shape;900;p84"/>
          <p:cNvPicPr preferRelativeResize="0"/>
          <p:nvPr/>
        </p:nvPicPr>
        <p:blipFill rotWithShape="1">
          <a:blip r:embed="rId4">
            <a:alphaModFix/>
          </a:blip>
          <a:srcRect b="0" l="0" r="0" t="0"/>
          <a:stretch/>
        </p:blipFill>
        <p:spPr>
          <a:xfrm>
            <a:off x="7991465" y="4501353"/>
            <a:ext cx="552900" cy="572700"/>
          </a:xfrm>
          <a:prstGeom prst="rect">
            <a:avLst/>
          </a:prstGeom>
          <a:noFill/>
          <a:ln>
            <a:noFill/>
          </a:ln>
        </p:spPr>
      </p:pic>
      <p:sp>
        <p:nvSpPr>
          <p:cNvPr id="901" name="Google Shape;901;p84"/>
          <p:cNvSpPr/>
          <p:nvPr/>
        </p:nvSpPr>
        <p:spPr>
          <a:xfrm>
            <a:off x="250000" y="350000"/>
            <a:ext cx="45000" cy="45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2" name="Google Shape;902;p84"/>
          <p:cNvSpPr txBox="1"/>
          <p:nvPr/>
        </p:nvSpPr>
        <p:spPr>
          <a:xfrm>
            <a:off x="400000" y="320000"/>
            <a:ext cx="7800000" cy="431100"/>
          </a:xfrm>
          <a:prstGeom prst="rect">
            <a:avLst/>
          </a:prstGeom>
          <a:solidFill>
            <a:srgbClr val="000000">
              <a:alpha val="0"/>
            </a:srgbClr>
          </a:solidFill>
          <a:ln>
            <a:noFill/>
          </a:ln>
        </p:spPr>
        <p:txBody>
          <a:bodyPr anchorCtr="0" anchor="ctr" bIns="0" lIns="90475" spcFirstLastPara="1" rIns="0" wrap="square" tIns="0">
            <a:spAutoFit/>
          </a:bodyPr>
          <a:lstStyle/>
          <a:p>
            <a:pPr indent="0" lvl="0" marL="0" rtl="0" algn="l">
              <a:spcBef>
                <a:spcPts val="0"/>
              </a:spcBef>
              <a:spcAft>
                <a:spcPts val="0"/>
              </a:spcAft>
              <a:buNone/>
            </a:pPr>
            <a:r>
              <a:rPr b="1" i="0" lang="en" sz="2800">
                <a:solidFill>
                  <a:srgbClr val="1A1A1A"/>
                </a:solidFill>
                <a:latin typeface="Montserrat"/>
                <a:ea typeface="Montserrat"/>
                <a:cs typeface="Montserrat"/>
                <a:sym typeface="Montserrat"/>
              </a:rPr>
              <a:t>Resources &amp; References</a:t>
            </a:r>
            <a:endParaRPr b="1" i="0" sz="2800">
              <a:solidFill>
                <a:srgbClr val="1A1A1A"/>
              </a:solidFill>
              <a:latin typeface="Montserrat"/>
              <a:ea typeface="Montserrat"/>
              <a:cs typeface="Montserrat"/>
              <a:sym typeface="Montserrat"/>
            </a:endParaRPr>
          </a:p>
        </p:txBody>
      </p:sp>
      <p:grpSp>
        <p:nvGrpSpPr>
          <p:cNvPr id="903" name="Google Shape;903;p84"/>
          <p:cNvGrpSpPr/>
          <p:nvPr/>
        </p:nvGrpSpPr>
        <p:grpSpPr>
          <a:xfrm>
            <a:off x="381000" y="1047750"/>
            <a:ext cx="4095900" cy="952500"/>
            <a:chOff x="381000" y="1047750"/>
            <a:chExt cx="4095900" cy="952500"/>
          </a:xfrm>
        </p:grpSpPr>
        <p:sp>
          <p:nvSpPr>
            <p:cNvPr id="904" name="Google Shape;904;p84"/>
            <p:cNvSpPr/>
            <p:nvPr/>
          </p:nvSpPr>
          <p:spPr>
            <a:xfrm>
              <a:off x="381000" y="1047750"/>
              <a:ext cx="4095900" cy="952500"/>
            </a:xfrm>
            <a:prstGeom prst="roundRect">
              <a:avLst>
                <a:gd fmla="val 12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5" name="Google Shape;905;p84"/>
            <p:cNvSpPr txBox="1"/>
            <p:nvPr/>
          </p:nvSpPr>
          <p:spPr>
            <a:xfrm>
              <a:off x="523875" y="1143000"/>
              <a:ext cx="381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Official Documentation</a:t>
              </a:r>
              <a:endParaRPr b="1" sz="13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050">
                  <a:solidFill>
                    <a:srgbClr val="2D2D2D"/>
                  </a:solidFill>
                  <a:latin typeface="Montserrat"/>
                  <a:ea typeface="Montserrat"/>
                  <a:cs typeface="Montserrat"/>
                  <a:sym typeface="Montserrat"/>
                </a:rPr>
                <a:t>docs.redhat.com — OCP 4.21 Network Observability</a:t>
              </a:r>
              <a:endParaRPr b="0" sz="1050">
                <a:solidFill>
                  <a:srgbClr val="2D2D2D"/>
                </a:solidFill>
                <a:latin typeface="Montserrat"/>
                <a:ea typeface="Montserrat"/>
                <a:cs typeface="Montserrat"/>
                <a:sym typeface="Montserrat"/>
              </a:endParaRPr>
            </a:p>
          </p:txBody>
        </p:sp>
      </p:grpSp>
      <p:grpSp>
        <p:nvGrpSpPr>
          <p:cNvPr id="906" name="Google Shape;906;p84"/>
          <p:cNvGrpSpPr/>
          <p:nvPr/>
        </p:nvGrpSpPr>
        <p:grpSpPr>
          <a:xfrm>
            <a:off x="4667250" y="1047750"/>
            <a:ext cx="4095900" cy="952500"/>
            <a:chOff x="4667250" y="1047750"/>
            <a:chExt cx="4095900" cy="952500"/>
          </a:xfrm>
        </p:grpSpPr>
        <p:sp>
          <p:nvSpPr>
            <p:cNvPr id="907" name="Google Shape;907;p84"/>
            <p:cNvSpPr/>
            <p:nvPr/>
          </p:nvSpPr>
          <p:spPr>
            <a:xfrm>
              <a:off x="4667250" y="1047750"/>
              <a:ext cx="4095900" cy="952500"/>
            </a:xfrm>
            <a:prstGeom prst="roundRect">
              <a:avLst>
                <a:gd fmla="val 12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8" name="Google Shape;908;p84"/>
            <p:cNvSpPr txBox="1"/>
            <p:nvPr/>
          </p:nvSpPr>
          <p:spPr>
            <a:xfrm>
              <a:off x="4810125" y="1143000"/>
              <a:ext cx="381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Upstream Project</a:t>
              </a:r>
              <a:endParaRPr b="1" sz="13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050">
                  <a:solidFill>
                    <a:srgbClr val="2D2D2D"/>
                  </a:solidFill>
                  <a:latin typeface="Montserrat"/>
                  <a:ea typeface="Montserrat"/>
                  <a:cs typeface="Montserrat"/>
                  <a:sym typeface="Montserrat"/>
                </a:rPr>
                <a:t>github.com/netobserv (operator, agent, pipeline)</a:t>
              </a:r>
              <a:endParaRPr b="0" sz="1050">
                <a:solidFill>
                  <a:srgbClr val="2D2D2D"/>
                </a:solidFill>
                <a:latin typeface="Montserrat"/>
                <a:ea typeface="Montserrat"/>
                <a:cs typeface="Montserrat"/>
                <a:sym typeface="Montserrat"/>
              </a:endParaRPr>
            </a:p>
            <a:p>
              <a:pPr indent="0" lvl="0" marL="0" rtl="0" algn="l">
                <a:spcBef>
                  <a:spcPts val="300"/>
                </a:spcBef>
                <a:spcAft>
                  <a:spcPts val="0"/>
                </a:spcAft>
                <a:buNone/>
              </a:pPr>
              <a:r>
                <a:rPr b="0" lang="en" sz="1000">
                  <a:solidFill>
                    <a:srgbClr val="4A5568"/>
                  </a:solidFill>
                  <a:latin typeface="Montserrat"/>
                  <a:ea typeface="Montserrat"/>
                  <a:cs typeface="Montserrat"/>
                  <a:sym typeface="Montserrat"/>
                </a:rPr>
                <a:t>FlowCollector API: .../FlowCollector.md</a:t>
              </a:r>
              <a:endParaRPr b="0" sz="1000">
                <a:solidFill>
                  <a:srgbClr val="4A5568"/>
                </a:solidFill>
                <a:latin typeface="Montserrat"/>
                <a:ea typeface="Montserrat"/>
                <a:cs typeface="Montserrat"/>
                <a:sym typeface="Montserrat"/>
              </a:endParaRPr>
            </a:p>
          </p:txBody>
        </p:sp>
      </p:grpSp>
      <p:grpSp>
        <p:nvGrpSpPr>
          <p:cNvPr id="909" name="Google Shape;909;p84"/>
          <p:cNvGrpSpPr/>
          <p:nvPr/>
        </p:nvGrpSpPr>
        <p:grpSpPr>
          <a:xfrm>
            <a:off x="381000" y="2143125"/>
            <a:ext cx="4095900" cy="952500"/>
            <a:chOff x="381000" y="2143125"/>
            <a:chExt cx="4095900" cy="952500"/>
          </a:xfrm>
        </p:grpSpPr>
        <p:sp>
          <p:nvSpPr>
            <p:cNvPr id="910" name="Google Shape;910;p84"/>
            <p:cNvSpPr/>
            <p:nvPr/>
          </p:nvSpPr>
          <p:spPr>
            <a:xfrm>
              <a:off x="381000" y="2143125"/>
              <a:ext cx="4095900" cy="952500"/>
            </a:xfrm>
            <a:prstGeom prst="roundRect">
              <a:avLst>
                <a:gd fmla="val 12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1" name="Google Shape;911;p84"/>
            <p:cNvSpPr txBox="1"/>
            <p:nvPr/>
          </p:nvSpPr>
          <p:spPr>
            <a:xfrm>
              <a:off x="523875" y="2238375"/>
              <a:ext cx="381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7B68EE"/>
                  </a:solidFill>
                  <a:latin typeface="Montserrat"/>
                  <a:ea typeface="Montserrat"/>
                  <a:cs typeface="Montserrat"/>
                  <a:sym typeface="Montserrat"/>
                </a:rPr>
                <a:t>Learn &amp; Try eBPF</a:t>
              </a:r>
              <a:endParaRPr b="1" sz="1300">
                <a:solidFill>
                  <a:srgbClr val="7B68EE"/>
                </a:solidFill>
                <a:latin typeface="Montserrat"/>
                <a:ea typeface="Montserrat"/>
                <a:cs typeface="Montserrat"/>
                <a:sym typeface="Montserrat"/>
              </a:endParaRPr>
            </a:p>
            <a:p>
              <a:pPr indent="0" lvl="0" marL="0" rtl="0" algn="l">
                <a:spcBef>
                  <a:spcPts val="600"/>
                </a:spcBef>
                <a:spcAft>
                  <a:spcPts val="0"/>
                </a:spcAft>
                <a:buNone/>
              </a:pPr>
              <a:r>
                <a:rPr b="0" lang="en" sz="1050">
                  <a:solidFill>
                    <a:srgbClr val="2D2D2D"/>
                  </a:solidFill>
                  <a:latin typeface="Montserrat"/>
                  <a:ea typeface="Montserrat"/>
                  <a:cs typeface="Montserrat"/>
                  <a:sym typeface="Montserrat"/>
                </a:rPr>
                <a:t>ebpf.io — Community Resource</a:t>
              </a:r>
              <a:endParaRPr b="0" sz="1050">
                <a:solidFill>
                  <a:srgbClr val="2D2D2D"/>
                </a:solidFill>
                <a:latin typeface="Montserrat"/>
                <a:ea typeface="Montserrat"/>
                <a:cs typeface="Montserrat"/>
                <a:sym typeface="Montserrat"/>
              </a:endParaRPr>
            </a:p>
            <a:p>
              <a:pPr indent="0" lvl="0" marL="0" rtl="0" algn="l">
                <a:spcBef>
                  <a:spcPts val="300"/>
                </a:spcBef>
                <a:spcAft>
                  <a:spcPts val="0"/>
                </a:spcAft>
                <a:buNone/>
              </a:pPr>
              <a:r>
                <a:rPr b="0" lang="en" sz="1050">
                  <a:solidFill>
                    <a:srgbClr val="2D2D2D"/>
                  </a:solidFill>
                  <a:latin typeface="Montserrat"/>
                  <a:ea typeface="Montserrat"/>
                  <a:cs typeface="Montserrat"/>
                  <a:sym typeface="Montserrat"/>
                </a:rPr>
                <a:t>demo.redhat.com — Live Sandbox</a:t>
              </a:r>
              <a:endParaRPr b="0" sz="1050">
                <a:solidFill>
                  <a:srgbClr val="2D2D2D"/>
                </a:solidFill>
                <a:latin typeface="Montserrat"/>
                <a:ea typeface="Montserrat"/>
                <a:cs typeface="Montserrat"/>
                <a:sym typeface="Montserrat"/>
              </a:endParaRPr>
            </a:p>
          </p:txBody>
        </p:sp>
      </p:grpSp>
      <p:grpSp>
        <p:nvGrpSpPr>
          <p:cNvPr id="912" name="Google Shape;912;p84"/>
          <p:cNvGrpSpPr/>
          <p:nvPr/>
        </p:nvGrpSpPr>
        <p:grpSpPr>
          <a:xfrm>
            <a:off x="4667250" y="2143125"/>
            <a:ext cx="4095900" cy="952500"/>
            <a:chOff x="4667250" y="2143125"/>
            <a:chExt cx="4095900" cy="952500"/>
          </a:xfrm>
        </p:grpSpPr>
        <p:sp>
          <p:nvSpPr>
            <p:cNvPr id="913" name="Google Shape;913;p84"/>
            <p:cNvSpPr/>
            <p:nvPr/>
          </p:nvSpPr>
          <p:spPr>
            <a:xfrm>
              <a:off x="4667250" y="2143125"/>
              <a:ext cx="4095900" cy="952500"/>
            </a:xfrm>
            <a:prstGeom prst="roundRect">
              <a:avLst>
                <a:gd fmla="val 12000" name="adj"/>
              </a:avLst>
            </a:prstGeom>
            <a:solidFill>
              <a:srgbClr val="EEF2FF"/>
            </a:solidFill>
            <a:ln cap="flat" cmpd="sng" w="9525">
              <a:solidFill>
                <a:srgbClr val="C7D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4" name="Google Shape;914;p84"/>
            <p:cNvSpPr txBox="1"/>
            <p:nvPr/>
          </p:nvSpPr>
          <p:spPr>
            <a:xfrm>
              <a:off x="4810125" y="2238375"/>
              <a:ext cx="3810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4338CA"/>
                  </a:solidFill>
                  <a:latin typeface="Montserrat"/>
                  <a:ea typeface="Montserrat"/>
                  <a:cs typeface="Montserrat"/>
                  <a:sym typeface="Montserrat"/>
                </a:rPr>
                <a:t>This Talk (Repo)</a:t>
              </a:r>
              <a:endParaRPr b="1" sz="1300">
                <a:solidFill>
                  <a:srgbClr val="4338CA"/>
                </a:solidFill>
                <a:latin typeface="Montserrat"/>
                <a:ea typeface="Montserrat"/>
                <a:cs typeface="Montserrat"/>
                <a:sym typeface="Montserrat"/>
              </a:endParaRPr>
            </a:p>
            <a:p>
              <a:pPr indent="0" lvl="0" marL="0" rtl="0" algn="l">
                <a:spcBef>
                  <a:spcPts val="600"/>
                </a:spcBef>
                <a:spcAft>
                  <a:spcPts val="0"/>
                </a:spcAft>
                <a:buNone/>
              </a:pPr>
              <a:r>
                <a:rPr b="0" lang="en" sz="1050">
                  <a:solidFill>
                    <a:srgbClr val="1E1B4B"/>
                  </a:solidFill>
                  <a:latin typeface="Montserrat"/>
                  <a:ea typeface="Montserrat"/>
                  <a:cs typeface="Montserrat"/>
                  <a:sym typeface="Montserrat"/>
                </a:rPr>
                <a:t>github.com/[your-handle]/devconf-2026-noo</a:t>
              </a:r>
              <a:endParaRPr b="0" sz="1050">
                <a:solidFill>
                  <a:srgbClr val="1E1B4B"/>
                </a:solidFill>
                <a:latin typeface="Montserrat"/>
                <a:ea typeface="Montserrat"/>
                <a:cs typeface="Montserrat"/>
                <a:sym typeface="Montserrat"/>
              </a:endParaRPr>
            </a:p>
            <a:p>
              <a:pPr indent="0" lvl="0" marL="0" rtl="0" algn="l">
                <a:spcBef>
                  <a:spcPts val="300"/>
                </a:spcBef>
                <a:spcAft>
                  <a:spcPts val="0"/>
                </a:spcAft>
                <a:buNone/>
              </a:pPr>
              <a:r>
                <a:rPr b="0" lang="en" sz="900">
                  <a:solidFill>
                    <a:srgbClr val="4338CA"/>
                  </a:solidFill>
                  <a:latin typeface="Montserrat Medium"/>
                  <a:ea typeface="Montserrat Medium"/>
                  <a:cs typeface="Montserrat Medium"/>
                  <a:sym typeface="Montserrat Medium"/>
                </a:rPr>
                <a:t>Includes scripts, README, and sample outputs</a:t>
              </a:r>
              <a:endParaRPr b="0" sz="900">
                <a:solidFill>
                  <a:srgbClr val="4338CA"/>
                </a:solidFill>
                <a:latin typeface="Montserrat Medium"/>
                <a:ea typeface="Montserrat Medium"/>
                <a:cs typeface="Montserrat Medium"/>
                <a:sym typeface="Montserrat Medium"/>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85"/>
          <p:cNvSpPr/>
          <p:nvPr/>
        </p:nvSpPr>
        <p:spPr>
          <a:xfrm>
            <a:off x="0" y="0"/>
            <a:ext cx="9144000" cy="70000"/>
          </a:xfrm>
          <a:prstGeom prst="rect">
            <a:avLst/>
          </a:prstGeom>
          <a:solidFill>
            <a:srgbClr val="7B68E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0" name="Google Shape;920;p85"/>
          <p:cNvSpPr/>
          <p:nvPr/>
        </p:nvSpPr>
        <p:spPr>
          <a:xfrm>
            <a:off x="8200000" y="300000"/>
            <a:ext cx="450000" cy="450000"/>
          </a:xfrm>
          <a:prstGeom prst="ellipse">
            <a:avLst/>
          </a:prstGeom>
          <a:solidFill>
            <a:srgbClr val="EDEAF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1" name="Google Shape;921;p85"/>
          <p:cNvSpPr txBox="1"/>
          <p:nvPr/>
        </p:nvSpPr>
        <p:spPr>
          <a:xfrm>
            <a:off x="800000" y="1000000"/>
            <a:ext cx="7400000" cy="9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2400" u="none" cap="none" strike="noStrike">
                <a:solidFill>
                  <a:srgbClr val="2D2D2D"/>
                </a:solidFill>
                <a:latin typeface="Montserrat SemiBold"/>
                <a:ea typeface="Montserrat SemiBold"/>
                <a:cs typeface="Montserrat SemiBold"/>
                <a:sym typeface="Montserrat SemiBold"/>
              </a:rPr>
              <a:t>Questions?</a:t>
            </a:r>
            <a:endParaRPr/>
          </a:p>
        </p:txBody>
      </p:sp>
      <p:sp>
        <p:nvSpPr>
          <p:cNvPr id="922" name="Google Shape;922;p85"/>
          <p:cNvSpPr txBox="1"/>
          <p:nvPr/>
        </p:nvSpPr>
        <p:spPr>
          <a:xfrm>
            <a:off x="800000" y="2100000"/>
            <a:ext cx="7400000" cy="23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1400" u="none" cap="none" strike="noStrike">
                <a:solidFill>
                  <a:srgbClr val="2D2D2D"/>
                </a:solidFill>
                <a:latin typeface="Montserrat"/>
                <a:ea typeface="Montserrat"/>
                <a:cs typeface="Montserrat"/>
                <a:sym typeface="Montserrat"/>
              </a:rPr>
              <a:t>Neeraj Bhatt</a:t>
            </a:r>
            <a:endParaRPr/>
          </a:p>
        </p:txBody>
      </p:sp>
      <p:sp>
        <p:nvSpPr>
          <p:cNvPr id="923" name="Google Shape;923;p85"/>
          <p:cNvSpPr txBox="1"/>
          <p:nvPr/>
        </p:nvSpPr>
        <p:spPr>
          <a:xfrm>
            <a:off x="800000" y="2320000"/>
            <a:ext cx="7400000" cy="23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100" u="none" cap="none" strike="noStrike">
                <a:solidFill>
                  <a:srgbClr val="2D2D2D"/>
                </a:solidFill>
                <a:latin typeface="Montserrat"/>
                <a:ea typeface="Montserrat"/>
                <a:cs typeface="Montserrat"/>
                <a:sym typeface="Montserrat"/>
              </a:rPr>
              <a:t>Senior Software Engineer, OVN Core Development, Red Hat India</a:t>
            </a:r>
            <a:endParaRPr/>
          </a:p>
        </p:txBody>
      </p:sp>
      <p:sp>
        <p:nvSpPr>
          <p:cNvPr id="924" name="Google Shape;924;p85"/>
          <p:cNvSpPr txBox="1"/>
          <p:nvPr/>
        </p:nvSpPr>
        <p:spPr>
          <a:xfrm>
            <a:off x="800000" y="2760000"/>
            <a:ext cx="7400000" cy="200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000" u="none" cap="none" strike="noStrike">
                <a:solidFill>
                  <a:srgbClr val="2D2D2D"/>
                </a:solidFill>
                <a:latin typeface="Montserrat"/>
                <a:ea typeface="Montserrat"/>
                <a:cs typeface="Montserrat"/>
                <a:sym typeface="Montserrat"/>
              </a:rPr>
              <a:t>Let's solve your network mysteries together.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Conf.CZ Presentation Template">
  <a:themeElements>
    <a:clrScheme name="Simple Light">
      <a:dk1>
        <a:srgbClr val="000000"/>
      </a:dk1>
      <a:lt1>
        <a:srgbClr val="FFFFFF"/>
      </a:lt1>
      <a:dk2>
        <a:srgbClr val="595959"/>
      </a:dk2>
      <a:lt2>
        <a:srgbClr val="EEEEEE"/>
      </a:lt2>
      <a:accent1>
        <a:srgbClr val="51A2DA"/>
      </a:accent1>
      <a:accent2>
        <a:srgbClr val="294172"/>
      </a:accent2>
      <a:accent3>
        <a:srgbClr val="E59728"/>
      </a:accent3>
      <a:accent4>
        <a:srgbClr val="79DB32"/>
      </a:accent4>
      <a:accent5>
        <a:srgbClr val="A07CBC"/>
      </a:accent5>
      <a:accent6>
        <a:srgbClr val="FFFFFF"/>
      </a:accent6>
      <a:hlink>
        <a:srgbClr val="51A2D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vConf.CZ Presentation Template">
  <a:themeElements>
    <a:clrScheme name="Simple Light">
      <a:dk1>
        <a:srgbClr val="000000"/>
      </a:dk1>
      <a:lt1>
        <a:srgbClr val="FFFFFF"/>
      </a:lt1>
      <a:dk2>
        <a:srgbClr val="595959"/>
      </a:dk2>
      <a:lt2>
        <a:srgbClr val="EEEEEE"/>
      </a:lt2>
      <a:accent1>
        <a:srgbClr val="51A2DA"/>
      </a:accent1>
      <a:accent2>
        <a:srgbClr val="294172"/>
      </a:accent2>
      <a:accent3>
        <a:srgbClr val="E59728"/>
      </a:accent3>
      <a:accent4>
        <a:srgbClr val="79DB32"/>
      </a:accent4>
      <a:accent5>
        <a:srgbClr val="A07CBC"/>
      </a:accent5>
      <a:accent6>
        <a:srgbClr val="FFFFFF"/>
      </a:accent6>
      <a:hlink>
        <a:srgbClr val="51A2D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